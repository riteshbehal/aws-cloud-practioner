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6" r:id="rId2"/>
    <p:sldId id="267" r:id="rId3"/>
    <p:sldId id="268" r:id="rId4"/>
    <p:sldId id="269" r:id="rId5"/>
    <p:sldId id="262" r:id="rId6"/>
    <p:sldId id="265" r:id="rId7"/>
    <p:sldId id="270" r:id="rId8"/>
    <p:sldId id="271" r:id="rId9"/>
    <p:sldId id="27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4CA88C-0D1D-4587-A35B-7566D03C7B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B80DA7A-CFA6-4DDC-8444-5928A029113B}">
      <dgm:prSet/>
      <dgm:spPr/>
      <dgm:t>
        <a:bodyPr/>
        <a:lstStyle/>
        <a:p>
          <a:pPr>
            <a:lnSpc>
              <a:spcPct val="100000"/>
            </a:lnSpc>
          </a:pPr>
          <a:r>
            <a:rPr lang="en-US" dirty="0"/>
            <a:t>An Availability Zone (AZ) is one or more discrete data centers with redundant power, networking, and connectivity in an AWS Region. </a:t>
          </a:r>
        </a:p>
      </dgm:t>
    </dgm:pt>
    <dgm:pt modelId="{1D8FA253-6D61-4BEE-87B4-53E157866267}" type="parTrans" cxnId="{8DA4781A-8A03-4F0A-B569-FD98C813BF00}">
      <dgm:prSet/>
      <dgm:spPr/>
      <dgm:t>
        <a:bodyPr/>
        <a:lstStyle/>
        <a:p>
          <a:endParaRPr lang="en-US"/>
        </a:p>
      </dgm:t>
    </dgm:pt>
    <dgm:pt modelId="{635D1D3F-DC7B-47B3-8E67-1765E1A2D870}" type="sibTrans" cxnId="{8DA4781A-8A03-4F0A-B569-FD98C813BF00}">
      <dgm:prSet/>
      <dgm:spPr/>
      <dgm:t>
        <a:bodyPr/>
        <a:lstStyle/>
        <a:p>
          <a:endParaRPr lang="en-US"/>
        </a:p>
      </dgm:t>
    </dgm:pt>
    <dgm:pt modelId="{38752C2C-8044-4B5B-A516-0C9111B9B32A}">
      <dgm:prSet/>
      <dgm:spPr/>
      <dgm:t>
        <a:bodyPr/>
        <a:lstStyle/>
        <a:p>
          <a:pPr>
            <a:lnSpc>
              <a:spcPct val="100000"/>
            </a:lnSpc>
          </a:pPr>
          <a:r>
            <a:rPr lang="en-US"/>
            <a:t>AZs are physically separated by a meaningful distance, many kilometers, from any other AZ, although all are within 100 km (60 miles) of each other.</a:t>
          </a:r>
        </a:p>
      </dgm:t>
    </dgm:pt>
    <dgm:pt modelId="{49669C72-BB17-4A7F-A492-5A3CA1159433}" type="parTrans" cxnId="{096ADE2D-C4E5-4A4E-9EBD-7A624301DB1C}">
      <dgm:prSet/>
      <dgm:spPr/>
      <dgm:t>
        <a:bodyPr/>
        <a:lstStyle/>
        <a:p>
          <a:endParaRPr lang="en-US"/>
        </a:p>
      </dgm:t>
    </dgm:pt>
    <dgm:pt modelId="{5D265B8D-DC54-4DA2-B1D7-E091E04AF493}" type="sibTrans" cxnId="{096ADE2D-C4E5-4A4E-9EBD-7A624301DB1C}">
      <dgm:prSet/>
      <dgm:spPr/>
      <dgm:t>
        <a:bodyPr/>
        <a:lstStyle/>
        <a:p>
          <a:endParaRPr lang="en-US"/>
        </a:p>
      </dgm:t>
    </dgm:pt>
    <dgm:pt modelId="{D9C2C62E-3678-4B5F-9DDF-BD322D24B116}" type="pres">
      <dgm:prSet presAssocID="{5A4CA88C-0D1D-4587-A35B-7566D03C7B56}" presName="root" presStyleCnt="0">
        <dgm:presLayoutVars>
          <dgm:dir/>
          <dgm:resizeHandles val="exact"/>
        </dgm:presLayoutVars>
      </dgm:prSet>
      <dgm:spPr/>
    </dgm:pt>
    <dgm:pt modelId="{802A1518-8ACF-4361-9453-9DFF1ACB6414}" type="pres">
      <dgm:prSet presAssocID="{DB80DA7A-CFA6-4DDC-8444-5928A029113B}" presName="compNode" presStyleCnt="0"/>
      <dgm:spPr/>
    </dgm:pt>
    <dgm:pt modelId="{B7C590DB-48DA-4EE4-BAAC-C67468AB4155}" type="pres">
      <dgm:prSet presAssocID="{DB80DA7A-CFA6-4DDC-8444-5928A029113B}" presName="bgRect" presStyleLbl="bgShp" presStyleIdx="0" presStyleCnt="2"/>
      <dgm:spPr/>
    </dgm:pt>
    <dgm:pt modelId="{88D1CC24-57C7-4F6A-9617-9D6975232E0C}" type="pres">
      <dgm:prSet presAssocID="{DB80DA7A-CFA6-4DDC-8444-5928A029113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19A16B7-0BC7-4302-BC7A-A8FCD1FBD4AA}" type="pres">
      <dgm:prSet presAssocID="{DB80DA7A-CFA6-4DDC-8444-5928A029113B}" presName="spaceRect" presStyleCnt="0"/>
      <dgm:spPr/>
    </dgm:pt>
    <dgm:pt modelId="{97EBD267-3151-40E7-8DA2-37A771BE88A4}" type="pres">
      <dgm:prSet presAssocID="{DB80DA7A-CFA6-4DDC-8444-5928A029113B}" presName="parTx" presStyleLbl="revTx" presStyleIdx="0" presStyleCnt="2">
        <dgm:presLayoutVars>
          <dgm:chMax val="0"/>
          <dgm:chPref val="0"/>
        </dgm:presLayoutVars>
      </dgm:prSet>
      <dgm:spPr/>
    </dgm:pt>
    <dgm:pt modelId="{C4DDB460-71D4-445E-A82B-45AE27C8FE66}" type="pres">
      <dgm:prSet presAssocID="{635D1D3F-DC7B-47B3-8E67-1765E1A2D870}" presName="sibTrans" presStyleCnt="0"/>
      <dgm:spPr/>
    </dgm:pt>
    <dgm:pt modelId="{F9E6B958-B112-41FD-BFDB-DC4FB310B85F}" type="pres">
      <dgm:prSet presAssocID="{38752C2C-8044-4B5B-A516-0C9111B9B32A}" presName="compNode" presStyleCnt="0"/>
      <dgm:spPr/>
    </dgm:pt>
    <dgm:pt modelId="{62AA379C-F28E-4BBC-BD4D-BB0D028821AF}" type="pres">
      <dgm:prSet presAssocID="{38752C2C-8044-4B5B-A516-0C9111B9B32A}" presName="bgRect" presStyleLbl="bgShp" presStyleIdx="1" presStyleCnt="2"/>
      <dgm:spPr/>
    </dgm:pt>
    <dgm:pt modelId="{3779CD35-C281-4E12-9C82-CC01FB58B704}" type="pres">
      <dgm:prSet presAssocID="{38752C2C-8044-4B5B-A516-0C9111B9B32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2ECCEAF2-DE85-4103-AB4C-C44B02090A37}" type="pres">
      <dgm:prSet presAssocID="{38752C2C-8044-4B5B-A516-0C9111B9B32A}" presName="spaceRect" presStyleCnt="0"/>
      <dgm:spPr/>
    </dgm:pt>
    <dgm:pt modelId="{FA67FA92-3680-406D-9F18-C284CBF95857}" type="pres">
      <dgm:prSet presAssocID="{38752C2C-8044-4B5B-A516-0C9111B9B32A}" presName="parTx" presStyleLbl="revTx" presStyleIdx="1" presStyleCnt="2">
        <dgm:presLayoutVars>
          <dgm:chMax val="0"/>
          <dgm:chPref val="0"/>
        </dgm:presLayoutVars>
      </dgm:prSet>
      <dgm:spPr/>
    </dgm:pt>
  </dgm:ptLst>
  <dgm:cxnLst>
    <dgm:cxn modelId="{6147DE0D-6931-46C5-8BDD-A29D09E2C111}" type="presOf" srcId="{38752C2C-8044-4B5B-A516-0C9111B9B32A}" destId="{FA67FA92-3680-406D-9F18-C284CBF95857}" srcOrd="0" destOrd="0" presId="urn:microsoft.com/office/officeart/2018/2/layout/IconVerticalSolidList"/>
    <dgm:cxn modelId="{8DA4781A-8A03-4F0A-B569-FD98C813BF00}" srcId="{5A4CA88C-0D1D-4587-A35B-7566D03C7B56}" destId="{DB80DA7A-CFA6-4DDC-8444-5928A029113B}" srcOrd="0" destOrd="0" parTransId="{1D8FA253-6D61-4BEE-87B4-53E157866267}" sibTransId="{635D1D3F-DC7B-47B3-8E67-1765E1A2D870}"/>
    <dgm:cxn modelId="{096ADE2D-C4E5-4A4E-9EBD-7A624301DB1C}" srcId="{5A4CA88C-0D1D-4587-A35B-7566D03C7B56}" destId="{38752C2C-8044-4B5B-A516-0C9111B9B32A}" srcOrd="1" destOrd="0" parTransId="{49669C72-BB17-4A7F-A492-5A3CA1159433}" sibTransId="{5D265B8D-DC54-4DA2-B1D7-E091E04AF493}"/>
    <dgm:cxn modelId="{AC6ECF52-81DE-4D34-86C5-884DA9CEC93E}" type="presOf" srcId="{DB80DA7A-CFA6-4DDC-8444-5928A029113B}" destId="{97EBD267-3151-40E7-8DA2-37A771BE88A4}" srcOrd="0" destOrd="0" presId="urn:microsoft.com/office/officeart/2018/2/layout/IconVerticalSolidList"/>
    <dgm:cxn modelId="{BDEE7474-E1FC-454A-9A7D-A5D008312ACB}" type="presOf" srcId="{5A4CA88C-0D1D-4587-A35B-7566D03C7B56}" destId="{D9C2C62E-3678-4B5F-9DDF-BD322D24B116}" srcOrd="0" destOrd="0" presId="urn:microsoft.com/office/officeart/2018/2/layout/IconVerticalSolidList"/>
    <dgm:cxn modelId="{417FFD6B-0DC7-49D3-B79B-1433488746D2}" type="presParOf" srcId="{D9C2C62E-3678-4B5F-9DDF-BD322D24B116}" destId="{802A1518-8ACF-4361-9453-9DFF1ACB6414}" srcOrd="0" destOrd="0" presId="urn:microsoft.com/office/officeart/2018/2/layout/IconVerticalSolidList"/>
    <dgm:cxn modelId="{EC868C10-06BF-458A-82AB-D655C51F25A5}" type="presParOf" srcId="{802A1518-8ACF-4361-9453-9DFF1ACB6414}" destId="{B7C590DB-48DA-4EE4-BAAC-C67468AB4155}" srcOrd="0" destOrd="0" presId="urn:microsoft.com/office/officeart/2018/2/layout/IconVerticalSolidList"/>
    <dgm:cxn modelId="{0CBB89F4-E504-4DFB-B1BE-613104BF16FC}" type="presParOf" srcId="{802A1518-8ACF-4361-9453-9DFF1ACB6414}" destId="{88D1CC24-57C7-4F6A-9617-9D6975232E0C}" srcOrd="1" destOrd="0" presId="urn:microsoft.com/office/officeart/2018/2/layout/IconVerticalSolidList"/>
    <dgm:cxn modelId="{CF0379B8-9B0C-46FC-8C9B-F05048468C27}" type="presParOf" srcId="{802A1518-8ACF-4361-9453-9DFF1ACB6414}" destId="{119A16B7-0BC7-4302-BC7A-A8FCD1FBD4AA}" srcOrd="2" destOrd="0" presId="urn:microsoft.com/office/officeart/2018/2/layout/IconVerticalSolidList"/>
    <dgm:cxn modelId="{049121B6-B3DE-4AE1-8798-83311679567C}" type="presParOf" srcId="{802A1518-8ACF-4361-9453-9DFF1ACB6414}" destId="{97EBD267-3151-40E7-8DA2-37A771BE88A4}" srcOrd="3" destOrd="0" presId="urn:microsoft.com/office/officeart/2018/2/layout/IconVerticalSolidList"/>
    <dgm:cxn modelId="{ADC26E7E-E4CD-4CA0-B9A7-2EBA8624214C}" type="presParOf" srcId="{D9C2C62E-3678-4B5F-9DDF-BD322D24B116}" destId="{C4DDB460-71D4-445E-A82B-45AE27C8FE66}" srcOrd="1" destOrd="0" presId="urn:microsoft.com/office/officeart/2018/2/layout/IconVerticalSolidList"/>
    <dgm:cxn modelId="{D3A99ED5-E0E5-423C-BB92-810D4105FFC7}" type="presParOf" srcId="{D9C2C62E-3678-4B5F-9DDF-BD322D24B116}" destId="{F9E6B958-B112-41FD-BFDB-DC4FB310B85F}" srcOrd="2" destOrd="0" presId="urn:microsoft.com/office/officeart/2018/2/layout/IconVerticalSolidList"/>
    <dgm:cxn modelId="{80A83012-0F0B-4EA5-A01A-37B147566117}" type="presParOf" srcId="{F9E6B958-B112-41FD-BFDB-DC4FB310B85F}" destId="{62AA379C-F28E-4BBC-BD4D-BB0D028821AF}" srcOrd="0" destOrd="0" presId="urn:microsoft.com/office/officeart/2018/2/layout/IconVerticalSolidList"/>
    <dgm:cxn modelId="{FFE4F8DC-9D44-421A-BF05-71529F347FBD}" type="presParOf" srcId="{F9E6B958-B112-41FD-BFDB-DC4FB310B85F}" destId="{3779CD35-C281-4E12-9C82-CC01FB58B704}" srcOrd="1" destOrd="0" presId="urn:microsoft.com/office/officeart/2018/2/layout/IconVerticalSolidList"/>
    <dgm:cxn modelId="{3B66FC04-55A8-4586-A661-8C7C3E9EC067}" type="presParOf" srcId="{F9E6B958-B112-41FD-BFDB-DC4FB310B85F}" destId="{2ECCEAF2-DE85-4103-AB4C-C44B02090A37}" srcOrd="2" destOrd="0" presId="urn:microsoft.com/office/officeart/2018/2/layout/IconVerticalSolidList"/>
    <dgm:cxn modelId="{FDAFB25C-3DD4-4C0C-9B05-1117D558FD6F}" type="presParOf" srcId="{F9E6B958-B112-41FD-BFDB-DC4FB310B85F}" destId="{FA67FA92-3680-406D-9F18-C284CBF9585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B91871-0524-4E7B-B2A7-D1EFE6795F7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7CBE6B1-E3F2-4CF8-901E-1B20042E1FE7}">
      <dgm:prSet/>
      <dgm:spPr/>
      <dgm:t>
        <a:bodyPr/>
        <a:lstStyle/>
        <a:p>
          <a:pPr>
            <a:lnSpc>
              <a:spcPct val="100000"/>
            </a:lnSpc>
          </a:pPr>
          <a:r>
            <a:rPr lang="en-US"/>
            <a:t>Latency</a:t>
          </a:r>
        </a:p>
      </dgm:t>
    </dgm:pt>
    <dgm:pt modelId="{AAF4B2DA-402C-40E1-A9C0-9298BD72CC19}" type="parTrans" cxnId="{CB602734-F5E3-41CC-BA18-D190A5EAEA0B}">
      <dgm:prSet/>
      <dgm:spPr/>
      <dgm:t>
        <a:bodyPr/>
        <a:lstStyle/>
        <a:p>
          <a:endParaRPr lang="en-US"/>
        </a:p>
      </dgm:t>
    </dgm:pt>
    <dgm:pt modelId="{34890BC0-637A-47DB-8CA8-8E6B70CB6C8E}" type="sibTrans" cxnId="{CB602734-F5E3-41CC-BA18-D190A5EAEA0B}">
      <dgm:prSet/>
      <dgm:spPr/>
      <dgm:t>
        <a:bodyPr/>
        <a:lstStyle/>
        <a:p>
          <a:endParaRPr lang="en-US"/>
        </a:p>
      </dgm:t>
    </dgm:pt>
    <dgm:pt modelId="{465C9F4E-0C4B-40CA-9A96-3E73E9727B77}">
      <dgm:prSet/>
      <dgm:spPr/>
      <dgm:t>
        <a:bodyPr/>
        <a:lstStyle/>
        <a:p>
          <a:pPr>
            <a:lnSpc>
              <a:spcPct val="100000"/>
            </a:lnSpc>
          </a:pPr>
          <a:r>
            <a:rPr lang="en-US"/>
            <a:t>Data compliance</a:t>
          </a:r>
        </a:p>
      </dgm:t>
    </dgm:pt>
    <dgm:pt modelId="{C820FCBF-392E-407E-A6E2-A9E88B7E2FE0}" type="parTrans" cxnId="{5D5A3306-9556-4EC1-9BC2-2E8C24F219A2}">
      <dgm:prSet/>
      <dgm:spPr/>
      <dgm:t>
        <a:bodyPr/>
        <a:lstStyle/>
        <a:p>
          <a:endParaRPr lang="en-US"/>
        </a:p>
      </dgm:t>
    </dgm:pt>
    <dgm:pt modelId="{58111620-6E52-4208-B5D3-C9278F7D0C12}" type="sibTrans" cxnId="{5D5A3306-9556-4EC1-9BC2-2E8C24F219A2}">
      <dgm:prSet/>
      <dgm:spPr/>
      <dgm:t>
        <a:bodyPr/>
        <a:lstStyle/>
        <a:p>
          <a:endParaRPr lang="en-US"/>
        </a:p>
      </dgm:t>
    </dgm:pt>
    <dgm:pt modelId="{C5F0E5E6-D9C5-418A-AA2E-FD5F80EF1145}">
      <dgm:prSet/>
      <dgm:spPr/>
      <dgm:t>
        <a:bodyPr/>
        <a:lstStyle/>
        <a:p>
          <a:pPr>
            <a:lnSpc>
              <a:spcPct val="100000"/>
            </a:lnSpc>
          </a:pPr>
          <a:r>
            <a:rPr lang="en-US"/>
            <a:t>Pricing</a:t>
          </a:r>
        </a:p>
      </dgm:t>
    </dgm:pt>
    <dgm:pt modelId="{3E43F47E-AE34-453E-A114-C615AAB0A5EC}" type="parTrans" cxnId="{D2E8BE82-659F-4DC0-9737-2221C25ADA1E}">
      <dgm:prSet/>
      <dgm:spPr/>
      <dgm:t>
        <a:bodyPr/>
        <a:lstStyle/>
        <a:p>
          <a:endParaRPr lang="en-US"/>
        </a:p>
      </dgm:t>
    </dgm:pt>
    <dgm:pt modelId="{C7F97FC7-9821-409A-949D-8AE1FCABC942}" type="sibTrans" cxnId="{D2E8BE82-659F-4DC0-9737-2221C25ADA1E}">
      <dgm:prSet/>
      <dgm:spPr/>
      <dgm:t>
        <a:bodyPr/>
        <a:lstStyle/>
        <a:p>
          <a:endParaRPr lang="en-US"/>
        </a:p>
      </dgm:t>
    </dgm:pt>
    <dgm:pt modelId="{A314A05A-C896-4D3F-8222-FFA22FE3F5F4}">
      <dgm:prSet/>
      <dgm:spPr/>
      <dgm:t>
        <a:bodyPr/>
        <a:lstStyle/>
        <a:p>
          <a:pPr>
            <a:lnSpc>
              <a:spcPct val="100000"/>
            </a:lnSpc>
          </a:pPr>
          <a:r>
            <a:rPr lang="en-US"/>
            <a:t>Service availability</a:t>
          </a:r>
        </a:p>
      </dgm:t>
    </dgm:pt>
    <dgm:pt modelId="{CEC06747-A03A-474B-977D-DC0CE46C3B7B}" type="parTrans" cxnId="{A1E7577F-DD21-4F31-9ED5-BEEEFB69AE2E}">
      <dgm:prSet/>
      <dgm:spPr/>
      <dgm:t>
        <a:bodyPr/>
        <a:lstStyle/>
        <a:p>
          <a:endParaRPr lang="en-US"/>
        </a:p>
      </dgm:t>
    </dgm:pt>
    <dgm:pt modelId="{2EB0B60F-4765-44E8-B18D-6C9CE7052519}" type="sibTrans" cxnId="{A1E7577F-DD21-4F31-9ED5-BEEEFB69AE2E}">
      <dgm:prSet/>
      <dgm:spPr/>
      <dgm:t>
        <a:bodyPr/>
        <a:lstStyle/>
        <a:p>
          <a:endParaRPr lang="en-US"/>
        </a:p>
      </dgm:t>
    </dgm:pt>
    <dgm:pt modelId="{7DA4744B-D3BC-40C0-9AC8-A7D49FDE963D}" type="pres">
      <dgm:prSet presAssocID="{5AB91871-0524-4E7B-B2A7-D1EFE6795F73}" presName="root" presStyleCnt="0">
        <dgm:presLayoutVars>
          <dgm:dir/>
          <dgm:resizeHandles val="exact"/>
        </dgm:presLayoutVars>
      </dgm:prSet>
      <dgm:spPr/>
    </dgm:pt>
    <dgm:pt modelId="{428D9745-4FA6-4CC9-869F-83E1967348A7}" type="pres">
      <dgm:prSet presAssocID="{B7CBE6B1-E3F2-4CF8-901E-1B20042E1FE7}" presName="compNode" presStyleCnt="0"/>
      <dgm:spPr/>
    </dgm:pt>
    <dgm:pt modelId="{F89154B1-811F-4A96-8D0E-63EA5DC231A3}" type="pres">
      <dgm:prSet presAssocID="{B7CBE6B1-E3F2-4CF8-901E-1B20042E1FE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F5B46766-A591-497E-9E7F-E6308D0D7B03}" type="pres">
      <dgm:prSet presAssocID="{B7CBE6B1-E3F2-4CF8-901E-1B20042E1FE7}" presName="spaceRect" presStyleCnt="0"/>
      <dgm:spPr/>
    </dgm:pt>
    <dgm:pt modelId="{B2105054-24B2-4CF3-82DD-AA638BE6837E}" type="pres">
      <dgm:prSet presAssocID="{B7CBE6B1-E3F2-4CF8-901E-1B20042E1FE7}" presName="textRect" presStyleLbl="revTx" presStyleIdx="0" presStyleCnt="4">
        <dgm:presLayoutVars>
          <dgm:chMax val="1"/>
          <dgm:chPref val="1"/>
        </dgm:presLayoutVars>
      </dgm:prSet>
      <dgm:spPr/>
    </dgm:pt>
    <dgm:pt modelId="{FB8C5277-496F-41AA-9ACA-1E2542D610C3}" type="pres">
      <dgm:prSet presAssocID="{34890BC0-637A-47DB-8CA8-8E6B70CB6C8E}" presName="sibTrans" presStyleCnt="0"/>
      <dgm:spPr/>
    </dgm:pt>
    <dgm:pt modelId="{9A8BA076-FB97-4F1E-8EE4-03AC7C0DC132}" type="pres">
      <dgm:prSet presAssocID="{465C9F4E-0C4B-40CA-9A96-3E73E9727B77}" presName="compNode" presStyleCnt="0"/>
      <dgm:spPr/>
    </dgm:pt>
    <dgm:pt modelId="{9D55A391-6789-4264-B55E-4F1D744788BA}" type="pres">
      <dgm:prSet presAssocID="{465C9F4E-0C4B-40CA-9A96-3E73E9727B7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FD8799CE-C085-48DD-8E4E-69C60A32278F}" type="pres">
      <dgm:prSet presAssocID="{465C9F4E-0C4B-40CA-9A96-3E73E9727B77}" presName="spaceRect" presStyleCnt="0"/>
      <dgm:spPr/>
    </dgm:pt>
    <dgm:pt modelId="{73ADCEA4-3733-43FE-B6E0-245935632302}" type="pres">
      <dgm:prSet presAssocID="{465C9F4E-0C4B-40CA-9A96-3E73E9727B77}" presName="textRect" presStyleLbl="revTx" presStyleIdx="1" presStyleCnt="4">
        <dgm:presLayoutVars>
          <dgm:chMax val="1"/>
          <dgm:chPref val="1"/>
        </dgm:presLayoutVars>
      </dgm:prSet>
      <dgm:spPr/>
    </dgm:pt>
    <dgm:pt modelId="{6E5CFC85-6A84-4AF6-9463-F7A5F2F0921F}" type="pres">
      <dgm:prSet presAssocID="{58111620-6E52-4208-B5D3-C9278F7D0C12}" presName="sibTrans" presStyleCnt="0"/>
      <dgm:spPr/>
    </dgm:pt>
    <dgm:pt modelId="{42318FDE-1A1F-4951-A5AB-2AFBDD46FFF1}" type="pres">
      <dgm:prSet presAssocID="{C5F0E5E6-D9C5-418A-AA2E-FD5F80EF1145}" presName="compNode" presStyleCnt="0"/>
      <dgm:spPr/>
    </dgm:pt>
    <dgm:pt modelId="{FB61B25F-E2A6-469A-BAD0-CF8ACD95BE97}" type="pres">
      <dgm:prSet presAssocID="{C5F0E5E6-D9C5-418A-AA2E-FD5F80EF114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2F48F7F8-FB1D-42B9-A1C2-7DE945E3B3AE}" type="pres">
      <dgm:prSet presAssocID="{C5F0E5E6-D9C5-418A-AA2E-FD5F80EF1145}" presName="spaceRect" presStyleCnt="0"/>
      <dgm:spPr/>
    </dgm:pt>
    <dgm:pt modelId="{214019C7-FA12-43C9-B056-4F816B4650D3}" type="pres">
      <dgm:prSet presAssocID="{C5F0E5E6-D9C5-418A-AA2E-FD5F80EF1145}" presName="textRect" presStyleLbl="revTx" presStyleIdx="2" presStyleCnt="4">
        <dgm:presLayoutVars>
          <dgm:chMax val="1"/>
          <dgm:chPref val="1"/>
        </dgm:presLayoutVars>
      </dgm:prSet>
      <dgm:spPr/>
    </dgm:pt>
    <dgm:pt modelId="{B5088D58-5331-4FCA-96F7-056F3C076342}" type="pres">
      <dgm:prSet presAssocID="{C7F97FC7-9821-409A-949D-8AE1FCABC942}" presName="sibTrans" presStyleCnt="0"/>
      <dgm:spPr/>
    </dgm:pt>
    <dgm:pt modelId="{74F20E09-1CD4-4812-B07B-FD19A3A57AE7}" type="pres">
      <dgm:prSet presAssocID="{A314A05A-C896-4D3F-8222-FFA22FE3F5F4}" presName="compNode" presStyleCnt="0"/>
      <dgm:spPr/>
    </dgm:pt>
    <dgm:pt modelId="{324521A8-9417-499D-B144-A85ED777AF93}" type="pres">
      <dgm:prSet presAssocID="{A314A05A-C896-4D3F-8222-FFA22FE3F5F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all center"/>
        </a:ext>
      </dgm:extLst>
    </dgm:pt>
    <dgm:pt modelId="{5EB9D525-6102-4074-98F9-8A5D6AC7AAD1}" type="pres">
      <dgm:prSet presAssocID="{A314A05A-C896-4D3F-8222-FFA22FE3F5F4}" presName="spaceRect" presStyleCnt="0"/>
      <dgm:spPr/>
    </dgm:pt>
    <dgm:pt modelId="{C29C70D9-F86F-46E4-A2A4-F9F49794B849}" type="pres">
      <dgm:prSet presAssocID="{A314A05A-C896-4D3F-8222-FFA22FE3F5F4}" presName="textRect" presStyleLbl="revTx" presStyleIdx="3" presStyleCnt="4">
        <dgm:presLayoutVars>
          <dgm:chMax val="1"/>
          <dgm:chPref val="1"/>
        </dgm:presLayoutVars>
      </dgm:prSet>
      <dgm:spPr/>
    </dgm:pt>
  </dgm:ptLst>
  <dgm:cxnLst>
    <dgm:cxn modelId="{5D5A3306-9556-4EC1-9BC2-2E8C24F219A2}" srcId="{5AB91871-0524-4E7B-B2A7-D1EFE6795F73}" destId="{465C9F4E-0C4B-40CA-9A96-3E73E9727B77}" srcOrd="1" destOrd="0" parTransId="{C820FCBF-392E-407E-A6E2-A9E88B7E2FE0}" sibTransId="{58111620-6E52-4208-B5D3-C9278F7D0C12}"/>
    <dgm:cxn modelId="{03C0740E-FC01-43BF-A162-FF6EB7F82014}" type="presOf" srcId="{5AB91871-0524-4E7B-B2A7-D1EFE6795F73}" destId="{7DA4744B-D3BC-40C0-9AC8-A7D49FDE963D}" srcOrd="0" destOrd="0" presId="urn:microsoft.com/office/officeart/2018/2/layout/IconLabelList"/>
    <dgm:cxn modelId="{CB602734-F5E3-41CC-BA18-D190A5EAEA0B}" srcId="{5AB91871-0524-4E7B-B2A7-D1EFE6795F73}" destId="{B7CBE6B1-E3F2-4CF8-901E-1B20042E1FE7}" srcOrd="0" destOrd="0" parTransId="{AAF4B2DA-402C-40E1-A9C0-9298BD72CC19}" sibTransId="{34890BC0-637A-47DB-8CA8-8E6B70CB6C8E}"/>
    <dgm:cxn modelId="{B55D1B3A-5093-4A15-88DA-4329567D9AEB}" type="presOf" srcId="{C5F0E5E6-D9C5-418A-AA2E-FD5F80EF1145}" destId="{214019C7-FA12-43C9-B056-4F816B4650D3}" srcOrd="0" destOrd="0" presId="urn:microsoft.com/office/officeart/2018/2/layout/IconLabelList"/>
    <dgm:cxn modelId="{F100C463-375D-4335-A7EB-ADF6F6A24E49}" type="presOf" srcId="{465C9F4E-0C4B-40CA-9A96-3E73E9727B77}" destId="{73ADCEA4-3733-43FE-B6E0-245935632302}" srcOrd="0" destOrd="0" presId="urn:microsoft.com/office/officeart/2018/2/layout/IconLabelList"/>
    <dgm:cxn modelId="{08919456-A8AE-4D91-8E61-D28744E93820}" type="presOf" srcId="{B7CBE6B1-E3F2-4CF8-901E-1B20042E1FE7}" destId="{B2105054-24B2-4CF3-82DD-AA638BE6837E}" srcOrd="0" destOrd="0" presId="urn:microsoft.com/office/officeart/2018/2/layout/IconLabelList"/>
    <dgm:cxn modelId="{A1E7577F-DD21-4F31-9ED5-BEEEFB69AE2E}" srcId="{5AB91871-0524-4E7B-B2A7-D1EFE6795F73}" destId="{A314A05A-C896-4D3F-8222-FFA22FE3F5F4}" srcOrd="3" destOrd="0" parTransId="{CEC06747-A03A-474B-977D-DC0CE46C3B7B}" sibTransId="{2EB0B60F-4765-44E8-B18D-6C9CE7052519}"/>
    <dgm:cxn modelId="{D2E8BE82-659F-4DC0-9737-2221C25ADA1E}" srcId="{5AB91871-0524-4E7B-B2A7-D1EFE6795F73}" destId="{C5F0E5E6-D9C5-418A-AA2E-FD5F80EF1145}" srcOrd="2" destOrd="0" parTransId="{3E43F47E-AE34-453E-A114-C615AAB0A5EC}" sibTransId="{C7F97FC7-9821-409A-949D-8AE1FCABC942}"/>
    <dgm:cxn modelId="{54BF35AC-0D06-4D15-B551-32DA8C1B6EA5}" type="presOf" srcId="{A314A05A-C896-4D3F-8222-FFA22FE3F5F4}" destId="{C29C70D9-F86F-46E4-A2A4-F9F49794B849}" srcOrd="0" destOrd="0" presId="urn:microsoft.com/office/officeart/2018/2/layout/IconLabelList"/>
    <dgm:cxn modelId="{F2E19442-8347-42DF-94CE-34C38D563F9B}" type="presParOf" srcId="{7DA4744B-D3BC-40C0-9AC8-A7D49FDE963D}" destId="{428D9745-4FA6-4CC9-869F-83E1967348A7}" srcOrd="0" destOrd="0" presId="urn:microsoft.com/office/officeart/2018/2/layout/IconLabelList"/>
    <dgm:cxn modelId="{905C3DEE-1822-4B5D-B41B-A21C33337FD9}" type="presParOf" srcId="{428D9745-4FA6-4CC9-869F-83E1967348A7}" destId="{F89154B1-811F-4A96-8D0E-63EA5DC231A3}" srcOrd="0" destOrd="0" presId="urn:microsoft.com/office/officeart/2018/2/layout/IconLabelList"/>
    <dgm:cxn modelId="{39CF0CA5-59A7-43D6-ABEB-A7872C98A7C7}" type="presParOf" srcId="{428D9745-4FA6-4CC9-869F-83E1967348A7}" destId="{F5B46766-A591-497E-9E7F-E6308D0D7B03}" srcOrd="1" destOrd="0" presId="urn:microsoft.com/office/officeart/2018/2/layout/IconLabelList"/>
    <dgm:cxn modelId="{2E7C4ED3-35B5-48A5-8A7F-7DC5E1C81F9E}" type="presParOf" srcId="{428D9745-4FA6-4CC9-869F-83E1967348A7}" destId="{B2105054-24B2-4CF3-82DD-AA638BE6837E}" srcOrd="2" destOrd="0" presId="urn:microsoft.com/office/officeart/2018/2/layout/IconLabelList"/>
    <dgm:cxn modelId="{1D4CBFF7-43F9-46C5-A2A1-AC52DB1B6254}" type="presParOf" srcId="{7DA4744B-D3BC-40C0-9AC8-A7D49FDE963D}" destId="{FB8C5277-496F-41AA-9ACA-1E2542D610C3}" srcOrd="1" destOrd="0" presId="urn:microsoft.com/office/officeart/2018/2/layout/IconLabelList"/>
    <dgm:cxn modelId="{322B6B05-9B7F-42BF-900D-F9545762990E}" type="presParOf" srcId="{7DA4744B-D3BC-40C0-9AC8-A7D49FDE963D}" destId="{9A8BA076-FB97-4F1E-8EE4-03AC7C0DC132}" srcOrd="2" destOrd="0" presId="urn:microsoft.com/office/officeart/2018/2/layout/IconLabelList"/>
    <dgm:cxn modelId="{B81F098A-462B-4722-81E9-6EB6DB162743}" type="presParOf" srcId="{9A8BA076-FB97-4F1E-8EE4-03AC7C0DC132}" destId="{9D55A391-6789-4264-B55E-4F1D744788BA}" srcOrd="0" destOrd="0" presId="urn:microsoft.com/office/officeart/2018/2/layout/IconLabelList"/>
    <dgm:cxn modelId="{073F4D2C-204C-4D72-AFF4-5C552FD39783}" type="presParOf" srcId="{9A8BA076-FB97-4F1E-8EE4-03AC7C0DC132}" destId="{FD8799CE-C085-48DD-8E4E-69C60A32278F}" srcOrd="1" destOrd="0" presId="urn:microsoft.com/office/officeart/2018/2/layout/IconLabelList"/>
    <dgm:cxn modelId="{F3A79099-00AB-4452-B1FA-9A02D23075EF}" type="presParOf" srcId="{9A8BA076-FB97-4F1E-8EE4-03AC7C0DC132}" destId="{73ADCEA4-3733-43FE-B6E0-245935632302}" srcOrd="2" destOrd="0" presId="urn:microsoft.com/office/officeart/2018/2/layout/IconLabelList"/>
    <dgm:cxn modelId="{5236FB3B-8726-46DD-974D-F5B48143DC18}" type="presParOf" srcId="{7DA4744B-D3BC-40C0-9AC8-A7D49FDE963D}" destId="{6E5CFC85-6A84-4AF6-9463-F7A5F2F0921F}" srcOrd="3" destOrd="0" presId="urn:microsoft.com/office/officeart/2018/2/layout/IconLabelList"/>
    <dgm:cxn modelId="{F960CF76-6C78-418E-A7B1-D0800F38403E}" type="presParOf" srcId="{7DA4744B-D3BC-40C0-9AC8-A7D49FDE963D}" destId="{42318FDE-1A1F-4951-A5AB-2AFBDD46FFF1}" srcOrd="4" destOrd="0" presId="urn:microsoft.com/office/officeart/2018/2/layout/IconLabelList"/>
    <dgm:cxn modelId="{D83730CC-A784-4953-BBBF-87BD9EFDCF16}" type="presParOf" srcId="{42318FDE-1A1F-4951-A5AB-2AFBDD46FFF1}" destId="{FB61B25F-E2A6-469A-BAD0-CF8ACD95BE97}" srcOrd="0" destOrd="0" presId="urn:microsoft.com/office/officeart/2018/2/layout/IconLabelList"/>
    <dgm:cxn modelId="{0D9D505B-309C-4166-AD76-8790B74BF571}" type="presParOf" srcId="{42318FDE-1A1F-4951-A5AB-2AFBDD46FFF1}" destId="{2F48F7F8-FB1D-42B9-A1C2-7DE945E3B3AE}" srcOrd="1" destOrd="0" presId="urn:microsoft.com/office/officeart/2018/2/layout/IconLabelList"/>
    <dgm:cxn modelId="{EC1D5D04-35F0-4CEA-81EC-645A711A5439}" type="presParOf" srcId="{42318FDE-1A1F-4951-A5AB-2AFBDD46FFF1}" destId="{214019C7-FA12-43C9-B056-4F816B4650D3}" srcOrd="2" destOrd="0" presId="urn:microsoft.com/office/officeart/2018/2/layout/IconLabelList"/>
    <dgm:cxn modelId="{29EEEF3B-9CEB-4316-B297-794EADB098EB}" type="presParOf" srcId="{7DA4744B-D3BC-40C0-9AC8-A7D49FDE963D}" destId="{B5088D58-5331-4FCA-96F7-056F3C076342}" srcOrd="5" destOrd="0" presId="urn:microsoft.com/office/officeart/2018/2/layout/IconLabelList"/>
    <dgm:cxn modelId="{1A982ED2-6CF2-4618-AFCD-840C4A3A13D5}" type="presParOf" srcId="{7DA4744B-D3BC-40C0-9AC8-A7D49FDE963D}" destId="{74F20E09-1CD4-4812-B07B-FD19A3A57AE7}" srcOrd="6" destOrd="0" presId="urn:microsoft.com/office/officeart/2018/2/layout/IconLabelList"/>
    <dgm:cxn modelId="{74653BD1-C774-4AE2-BE9A-D4CF2FC26114}" type="presParOf" srcId="{74F20E09-1CD4-4812-B07B-FD19A3A57AE7}" destId="{324521A8-9417-499D-B144-A85ED777AF93}" srcOrd="0" destOrd="0" presId="urn:microsoft.com/office/officeart/2018/2/layout/IconLabelList"/>
    <dgm:cxn modelId="{B6B9EDEC-D138-4F2E-A071-8F43614E1086}" type="presParOf" srcId="{74F20E09-1CD4-4812-B07B-FD19A3A57AE7}" destId="{5EB9D525-6102-4074-98F9-8A5D6AC7AAD1}" srcOrd="1" destOrd="0" presId="urn:microsoft.com/office/officeart/2018/2/layout/IconLabelList"/>
    <dgm:cxn modelId="{1A00B2B6-A438-4C9D-B431-5F5774B9C743}" type="presParOf" srcId="{74F20E09-1CD4-4812-B07B-FD19A3A57AE7}" destId="{C29C70D9-F86F-46E4-A2A4-F9F49794B84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C590DB-48DA-4EE4-BAAC-C67468AB4155}">
      <dsp:nvSpPr>
        <dsp:cNvPr id="0" name=""/>
        <dsp:cNvSpPr/>
      </dsp:nvSpPr>
      <dsp:spPr>
        <a:xfrm>
          <a:off x="0" y="605968"/>
          <a:ext cx="6002110" cy="11187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D1CC24-57C7-4F6A-9617-9D6975232E0C}">
      <dsp:nvSpPr>
        <dsp:cNvPr id="0" name=""/>
        <dsp:cNvSpPr/>
      </dsp:nvSpPr>
      <dsp:spPr>
        <a:xfrm>
          <a:off x="338409" y="857677"/>
          <a:ext cx="615290" cy="6152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EBD267-3151-40E7-8DA2-37A771BE88A4}">
      <dsp:nvSpPr>
        <dsp:cNvPr id="0" name=""/>
        <dsp:cNvSpPr/>
      </dsp:nvSpPr>
      <dsp:spPr>
        <a:xfrm>
          <a:off x="1292110" y="605968"/>
          <a:ext cx="4709999" cy="111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397" tIns="118397" rIns="118397" bIns="118397" numCol="1" spcCol="1270" anchor="ctr" anchorCtr="0">
          <a:noAutofit/>
        </a:bodyPr>
        <a:lstStyle/>
        <a:p>
          <a:pPr marL="0" lvl="0" indent="0" algn="l" defTabSz="666750">
            <a:lnSpc>
              <a:spcPct val="100000"/>
            </a:lnSpc>
            <a:spcBef>
              <a:spcPct val="0"/>
            </a:spcBef>
            <a:spcAft>
              <a:spcPct val="35000"/>
            </a:spcAft>
            <a:buNone/>
          </a:pPr>
          <a:r>
            <a:rPr lang="en-US" sz="1500" kern="1200" dirty="0"/>
            <a:t>An Availability Zone (AZ) is one or more discrete data centers with redundant power, networking, and connectivity in an AWS Region. </a:t>
          </a:r>
        </a:p>
      </dsp:txBody>
      <dsp:txXfrm>
        <a:off x="1292110" y="605968"/>
        <a:ext cx="4709999" cy="1118710"/>
      </dsp:txXfrm>
    </dsp:sp>
    <dsp:sp modelId="{62AA379C-F28E-4BBC-BD4D-BB0D028821AF}">
      <dsp:nvSpPr>
        <dsp:cNvPr id="0" name=""/>
        <dsp:cNvSpPr/>
      </dsp:nvSpPr>
      <dsp:spPr>
        <a:xfrm>
          <a:off x="0" y="2004355"/>
          <a:ext cx="6002110" cy="11187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79CD35-C281-4E12-9C82-CC01FB58B704}">
      <dsp:nvSpPr>
        <dsp:cNvPr id="0" name=""/>
        <dsp:cNvSpPr/>
      </dsp:nvSpPr>
      <dsp:spPr>
        <a:xfrm>
          <a:off x="338409" y="2256065"/>
          <a:ext cx="615290" cy="6152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67FA92-3680-406D-9F18-C284CBF95857}">
      <dsp:nvSpPr>
        <dsp:cNvPr id="0" name=""/>
        <dsp:cNvSpPr/>
      </dsp:nvSpPr>
      <dsp:spPr>
        <a:xfrm>
          <a:off x="1292110" y="2004355"/>
          <a:ext cx="4709999" cy="111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397" tIns="118397" rIns="118397" bIns="118397" numCol="1" spcCol="1270" anchor="ctr" anchorCtr="0">
          <a:noAutofit/>
        </a:bodyPr>
        <a:lstStyle/>
        <a:p>
          <a:pPr marL="0" lvl="0" indent="0" algn="l" defTabSz="666750">
            <a:lnSpc>
              <a:spcPct val="100000"/>
            </a:lnSpc>
            <a:spcBef>
              <a:spcPct val="0"/>
            </a:spcBef>
            <a:spcAft>
              <a:spcPct val="35000"/>
            </a:spcAft>
            <a:buNone/>
          </a:pPr>
          <a:r>
            <a:rPr lang="en-US" sz="1500" kern="1200"/>
            <a:t>AZs are physically separated by a meaningful distance, many kilometers, from any other AZ, although all are within 100 km (60 miles) of each other.</a:t>
          </a:r>
        </a:p>
      </dsp:txBody>
      <dsp:txXfrm>
        <a:off x="1292110" y="2004355"/>
        <a:ext cx="4709999" cy="11187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154B1-811F-4A96-8D0E-63EA5DC231A3}">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05054-24B2-4CF3-82DD-AA638BE6837E}">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Latency</a:t>
          </a:r>
        </a:p>
      </dsp:txBody>
      <dsp:txXfrm>
        <a:off x="569079" y="2427788"/>
        <a:ext cx="2072362" cy="720000"/>
      </dsp:txXfrm>
    </dsp:sp>
    <dsp:sp modelId="{9D55A391-6789-4264-B55E-4F1D744788BA}">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ADCEA4-3733-43FE-B6E0-245935632302}">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Data compliance</a:t>
          </a:r>
        </a:p>
      </dsp:txBody>
      <dsp:txXfrm>
        <a:off x="3004105" y="2427788"/>
        <a:ext cx="2072362" cy="720000"/>
      </dsp:txXfrm>
    </dsp:sp>
    <dsp:sp modelId="{FB61B25F-E2A6-469A-BAD0-CF8ACD95BE97}">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4019C7-FA12-43C9-B056-4F816B4650D3}">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Pricing</a:t>
          </a:r>
        </a:p>
      </dsp:txBody>
      <dsp:txXfrm>
        <a:off x="5439131" y="2427788"/>
        <a:ext cx="2072362" cy="720000"/>
      </dsp:txXfrm>
    </dsp:sp>
    <dsp:sp modelId="{324521A8-9417-499D-B144-A85ED777AF93}">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9C70D9-F86F-46E4-A2A4-F9F49794B849}">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Service availability</a:t>
          </a:r>
        </a:p>
      </dsp:txBody>
      <dsp:txXfrm>
        <a:off x="7874157" y="2427788"/>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BB0C53-AEF8-4975-915C-B5FF954EEF33}" type="datetimeFigureOut">
              <a:rPr lang="en-IN" smtClean="0"/>
              <a:t>21-10-2025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EF40D3-716A-42B9-AE16-B963EBE511D1}" type="slidenum">
              <a:rPr lang="en-IN" smtClean="0"/>
              <a:t>‹#›</a:t>
            </a:fld>
            <a:endParaRPr lang="en-IN"/>
          </a:p>
        </p:txBody>
      </p:sp>
    </p:spTree>
    <p:extLst>
      <p:ext uri="{BB962C8B-B14F-4D97-AF65-F5344CB8AC3E}">
        <p14:creationId xmlns:p14="http://schemas.microsoft.com/office/powerpoint/2010/main" val="1620618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EF40D3-716A-42B9-AE16-B963EBE511D1}" type="slidenum">
              <a:rPr lang="en-IN" smtClean="0"/>
              <a:t>1</a:t>
            </a:fld>
            <a:endParaRPr lang="en-IN"/>
          </a:p>
        </p:txBody>
      </p:sp>
    </p:spTree>
    <p:extLst>
      <p:ext uri="{BB962C8B-B14F-4D97-AF65-F5344CB8AC3E}">
        <p14:creationId xmlns:p14="http://schemas.microsoft.com/office/powerpoint/2010/main" val="3181244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EF40D3-716A-42B9-AE16-B963EBE511D1}" type="slidenum">
              <a:rPr lang="en-IN" smtClean="0"/>
              <a:t>3</a:t>
            </a:fld>
            <a:endParaRPr lang="en-IN"/>
          </a:p>
        </p:txBody>
      </p:sp>
    </p:spTree>
    <p:extLst>
      <p:ext uri="{BB962C8B-B14F-4D97-AF65-F5344CB8AC3E}">
        <p14:creationId xmlns:p14="http://schemas.microsoft.com/office/powerpoint/2010/main" val="1636927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EF40D3-716A-42B9-AE16-B963EBE511D1}" type="slidenum">
              <a:rPr lang="en-IN" smtClean="0"/>
              <a:t>4</a:t>
            </a:fld>
            <a:endParaRPr lang="en-IN"/>
          </a:p>
        </p:txBody>
      </p:sp>
    </p:spTree>
    <p:extLst>
      <p:ext uri="{BB962C8B-B14F-4D97-AF65-F5344CB8AC3E}">
        <p14:creationId xmlns:p14="http://schemas.microsoft.com/office/powerpoint/2010/main" val="4113564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28600">
              <a:lnSpc>
                <a:spcPct val="90000"/>
              </a:lnSpc>
              <a:spcAft>
                <a:spcPts val="600"/>
              </a:spcAft>
              <a:buFont typeface="Arial" panose="020B0604020202020204" pitchFamily="34" charset="0"/>
              <a:buChar char="•"/>
            </a:pPr>
            <a:r>
              <a:rPr lang="en-US" sz="1200" b="0" i="0" dirty="0">
                <a:effectLst/>
              </a:rPr>
              <a:t>Each Region is designed to be isolated from the other Regions. This achieves the greatest possible fault tolerance and stability.</a:t>
            </a:r>
          </a:p>
          <a:p>
            <a:pPr indent="-228600">
              <a:lnSpc>
                <a:spcPct val="90000"/>
              </a:lnSpc>
              <a:spcAft>
                <a:spcPts val="600"/>
              </a:spcAft>
              <a:buFont typeface="Arial" panose="020B0604020202020204" pitchFamily="34" charset="0"/>
              <a:buChar char="•"/>
            </a:pPr>
            <a:r>
              <a:rPr lang="en-US" sz="1200" b="0" i="0" dirty="0">
                <a:effectLst/>
              </a:rPr>
              <a:t>Most AWS services support regional resources. A regional resource is specific to the Region in which you create it. When you view your AWS resources, you must specify a Region, and then you see only the resources that are tied to that Region. You can replicate some types of resources across Regions, but we don't automatically replicate them for you.</a:t>
            </a:r>
          </a:p>
          <a:p>
            <a:endParaRPr lang="en-IN" dirty="0"/>
          </a:p>
          <a:p>
            <a:endParaRPr lang="en-IN" dirty="0"/>
          </a:p>
          <a:p>
            <a:r>
              <a:rPr lang="en-IN" dirty="0"/>
              <a:t>https://aws.amazon.com/about-aws/global-infrastructure/</a:t>
            </a:r>
          </a:p>
          <a:p>
            <a:endParaRPr lang="en-IN" dirty="0"/>
          </a:p>
          <a:p>
            <a:r>
              <a:rPr lang="en-IN" dirty="0"/>
              <a:t>Explain Region Codes </a:t>
            </a:r>
          </a:p>
          <a:p>
            <a:r>
              <a:rPr lang="en-IN" dirty="0"/>
              <a:t>Where to See region in User interface </a:t>
            </a:r>
          </a:p>
          <a:p>
            <a:r>
              <a:rPr lang="en-IN" dirty="0"/>
              <a:t>Where to see Availability Zone in User Interface</a:t>
            </a:r>
          </a:p>
        </p:txBody>
      </p:sp>
      <p:sp>
        <p:nvSpPr>
          <p:cNvPr id="4" name="Slide Number Placeholder 3"/>
          <p:cNvSpPr>
            <a:spLocks noGrp="1"/>
          </p:cNvSpPr>
          <p:nvPr>
            <p:ph type="sldNum" sz="quarter" idx="5"/>
          </p:nvPr>
        </p:nvSpPr>
        <p:spPr/>
        <p:txBody>
          <a:bodyPr/>
          <a:lstStyle/>
          <a:p>
            <a:fld id="{4CF94F75-3C04-4D6F-8FC7-46B127EF7C29}" type="slidenum">
              <a:rPr lang="en-IN" smtClean="0"/>
              <a:t>5</a:t>
            </a:fld>
            <a:endParaRPr lang="en-IN"/>
          </a:p>
        </p:txBody>
      </p:sp>
    </p:spTree>
    <p:extLst>
      <p:ext uri="{BB962C8B-B14F-4D97-AF65-F5344CB8AC3E}">
        <p14:creationId xmlns:p14="http://schemas.microsoft.com/office/powerpoint/2010/main" val="2708767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When determining the right Region for your services, data, and applications, consider these four business factors: </a:t>
            </a:r>
          </a:p>
          <a:p>
            <a:pPr marL="0" marR="0" lvl="0" indent="0" defTabSz="914400" rtl="0" eaLnBrk="1" fontAlgn="auto" latinLnBrk="0" hangingPunct="1">
              <a:buClrTx/>
              <a:buSzTx/>
              <a:buFontTx/>
              <a:buNone/>
              <a:tabLst/>
              <a:defRPr/>
            </a:pPr>
            <a:endParaRPr lang="en-US" b="1" dirty="0">
              <a:latin typeface="Calibri" panose="020F0502020204030204" pitchFamily="34" charset="0"/>
            </a:endParaRPr>
          </a:p>
          <a:p>
            <a:pPr marL="0" marR="0" lvl="0" indent="0" defTabSz="914400" rtl="0" eaLnBrk="1" fontAlgn="auto" latinLnBrk="0" hangingPunct="1">
              <a:buClrTx/>
              <a:buSzTx/>
              <a:buFontTx/>
              <a:buNone/>
              <a:tabLst/>
              <a:defRPr/>
            </a:pPr>
            <a:r>
              <a:rPr lang="en-US" b="1" dirty="0">
                <a:latin typeface="Calibri" panose="020F0502020204030204" pitchFamily="34" charset="0"/>
              </a:rPr>
              <a:t>Latency: </a:t>
            </a:r>
            <a:r>
              <a:rPr lang="en-US" b="0" dirty="0">
                <a:latin typeface="Calibri" panose="020F0502020204030204" pitchFamily="34" charset="0"/>
              </a:rPr>
              <a:t>When</a:t>
            </a:r>
            <a:r>
              <a:rPr lang="en-US" b="0" baseline="0" dirty="0">
                <a:latin typeface="Calibri" panose="020F0502020204030204" pitchFamily="34" charset="0"/>
              </a:rPr>
              <a:t> possible, s</a:t>
            </a:r>
            <a:r>
              <a:rPr lang="en-US" b="0" dirty="0">
                <a:latin typeface="Calibri" panose="020F0502020204030204" pitchFamily="34" charset="0"/>
              </a:rPr>
              <a:t>elect</a:t>
            </a:r>
            <a:r>
              <a:rPr lang="en-US" dirty="0">
                <a:latin typeface="Calibri" panose="020F0502020204030204" pitchFamily="34" charset="0"/>
              </a:rPr>
              <a:t> a Region that is close to your customers so</a:t>
            </a:r>
            <a:r>
              <a:rPr lang="en-US" baseline="0" dirty="0">
                <a:latin typeface="Calibri" panose="020F0502020204030204" pitchFamily="34" charset="0"/>
              </a:rPr>
              <a:t> you can </a:t>
            </a:r>
            <a:r>
              <a:rPr lang="en-US" dirty="0">
                <a:latin typeface="Calibri" panose="020F0502020204030204" pitchFamily="34" charset="0"/>
              </a:rPr>
              <a:t>deliver content to them quickly. For example, if your</a:t>
            </a:r>
            <a:r>
              <a:rPr lang="en-US" baseline="0" dirty="0">
                <a:latin typeface="Calibri" panose="020F0502020204030204" pitchFamily="34" charset="0"/>
              </a:rPr>
              <a:t> customers are in Japan, you might select the Asia Pacific (Tokyo) Region for your applications</a:t>
            </a:r>
            <a:r>
              <a:rPr lang="en-US" dirty="0">
                <a:latin typeface="Calibri" panose="020F0502020204030204" pitchFamily="34" charset="0"/>
              </a:rPr>
              <a:t>.</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base" latinLnBrk="0" hangingPunct="1">
              <a:buClrTx/>
              <a:buSzTx/>
              <a:buFont typeface="+mj-lt"/>
              <a:buNone/>
              <a:tabLst/>
              <a:defRPr/>
            </a:pPr>
            <a:r>
              <a:rPr lang="en-US" b="1" dirty="0">
                <a:latin typeface="Calibri" panose="020F0502020204030204" pitchFamily="34" charset="0"/>
              </a:rPr>
              <a:t>Data compliance: </a:t>
            </a:r>
            <a:r>
              <a:rPr lang="en-US" dirty="0">
                <a:latin typeface="Calibri" panose="020F0502020204030204" pitchFamily="34" charset="0"/>
              </a:rPr>
              <a:t>Depending on your company and location, you might need to run your data out of specific locations. For example, if your company requires all of its data to reside within the boundaries of the UK, you will choose the London Region. Not all companies have location-specific data regulations or compliance requirements.</a:t>
            </a:r>
          </a:p>
          <a:p>
            <a:endParaRPr lang="en-US" dirty="0">
              <a:latin typeface="Calibri" panose="020F0502020204030204" pitchFamily="34" charset="0"/>
            </a:endParaRPr>
          </a:p>
          <a:p>
            <a:r>
              <a:rPr lang="en-US" b="1" dirty="0">
                <a:latin typeface="Calibri" panose="020F0502020204030204" pitchFamily="34" charset="0"/>
              </a:rPr>
              <a:t>Pricing: </a:t>
            </a:r>
            <a:r>
              <a:rPr lang="en-US" b="0" dirty="0">
                <a:latin typeface="Calibri" panose="020F0502020204030204" pitchFamily="34" charset="0"/>
              </a:rPr>
              <a:t>Costs</a:t>
            </a:r>
            <a:r>
              <a:rPr lang="en-US" b="0" baseline="0" dirty="0">
                <a:latin typeface="Calibri" panose="020F0502020204030204" pitchFamily="34" charset="0"/>
              </a:rPr>
              <a:t> vary by Region. For example, </a:t>
            </a:r>
            <a:r>
              <a:rPr lang="en-US" dirty="0">
                <a:latin typeface="Calibri" panose="020F0502020204030204" pitchFamily="34" charset="0"/>
              </a:rPr>
              <a:t>if you run an application in the United States</a:t>
            </a:r>
            <a:r>
              <a:rPr lang="en-US" baseline="0" dirty="0">
                <a:latin typeface="Calibri" panose="020F0502020204030204" pitchFamily="34" charset="0"/>
              </a:rPr>
              <a:t> and Brazil, Brazil’s tax structure might result in your company paying </a:t>
            </a:r>
            <a:r>
              <a:rPr lang="en-US" dirty="0">
                <a:latin typeface="Calibri" panose="020F0502020204030204" pitchFamily="34" charset="0"/>
              </a:rPr>
              <a:t>50% more to run the same workload out of the São Paulo Region compared to the Oregon Region. </a:t>
            </a:r>
          </a:p>
          <a:p>
            <a:endParaRPr lang="en-US" dirty="0">
              <a:latin typeface="Calibri" panose="020F0502020204030204" pitchFamily="34" charset="0"/>
            </a:endParaRPr>
          </a:p>
          <a:p>
            <a:pPr marL="0" indent="0" fontAlgn="base">
              <a:buFont typeface="+mj-lt"/>
              <a:buNone/>
            </a:pPr>
            <a:r>
              <a:rPr lang="en-US" b="1" dirty="0">
                <a:latin typeface="Calibri" panose="020F0502020204030204" pitchFamily="34" charset="0"/>
              </a:rPr>
              <a:t>Service availability:</a:t>
            </a:r>
            <a:r>
              <a:rPr lang="en-US" b="1" baseline="0" dirty="0">
                <a:latin typeface="Calibri" panose="020F0502020204030204" pitchFamily="34" charset="0"/>
              </a:rPr>
              <a:t> </a:t>
            </a:r>
            <a:r>
              <a:rPr lang="en-US" dirty="0">
                <a:solidFill>
                  <a:schemeClr val="tx1"/>
                </a:solidFill>
                <a:latin typeface="Calibri" panose="020F0502020204030204" pitchFamily="34" charset="0"/>
              </a:rPr>
              <a:t>Some AWS</a:t>
            </a:r>
            <a:r>
              <a:rPr lang="en-US" baseline="0" dirty="0">
                <a:solidFill>
                  <a:schemeClr val="tx1"/>
                </a:solidFill>
                <a:latin typeface="Calibri" panose="020F0502020204030204" pitchFamily="34" charset="0"/>
              </a:rPr>
              <a:t> services are available in only a select number of Regions. You should always check the service availability before selecting a Region.</a:t>
            </a:r>
            <a:endParaRPr lang="en-US" dirty="0">
              <a:latin typeface="Calibri" panose="020F0502020204030204" pitchFamily="34" charset="0"/>
            </a:endParaRPr>
          </a:p>
          <a:p>
            <a:pPr marL="0" indent="0" fontAlgn="base">
              <a:buFont typeface="+mj-lt"/>
              <a:buNone/>
            </a:pPr>
            <a:endParaRPr lang="en-US" dirty="0">
              <a:latin typeface="Calibri" panose="020F0502020204030204" pitchFamily="34" charset="0"/>
            </a:endParaRPr>
          </a:p>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6</a:t>
            </a:fld>
            <a:endParaRPr lang="en-IN"/>
          </a:p>
        </p:txBody>
      </p:sp>
    </p:spTree>
    <p:extLst>
      <p:ext uri="{BB962C8B-B14F-4D97-AF65-F5344CB8AC3E}">
        <p14:creationId xmlns:p14="http://schemas.microsoft.com/office/powerpoint/2010/main" val="1571274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9</a:t>
            </a:fld>
            <a:endParaRPr lang="en-IN"/>
          </a:p>
        </p:txBody>
      </p:sp>
    </p:spTree>
    <p:extLst>
      <p:ext uri="{BB962C8B-B14F-4D97-AF65-F5344CB8AC3E}">
        <p14:creationId xmlns:p14="http://schemas.microsoft.com/office/powerpoint/2010/main" val="420974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EE28-31CC-A858-BD4A-60FBBF1D14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255A28-849B-79B9-B6CA-F4ADFBF076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16E67D-BF7B-4970-3D7E-2721BAB3CED5}"/>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91DD254D-F118-A267-8CAA-2257DB5953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347530-B5A9-E707-921B-0C35787FC52B}"/>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88904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48E70-FB4F-F0D9-8424-0CAD8D974C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DA51E5-26EA-3DC2-7D84-AEAC0A498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2A3A7E-AF6D-282D-9561-147102567C7C}"/>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EED0790B-5033-5EC5-3404-5A37FA8513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DE7232-0BC6-0A05-E927-35AA1CCC6DFF}"/>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324882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2CD5-612B-FB59-26F4-86AE2C61FD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BACD4D-B2F6-71A8-8E14-EB5D569F3B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7BE559-52C2-FEA0-24FF-F16139CDA6EE}"/>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318416D6-7729-D955-929D-E2CE5D0B95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D60253-E22E-78A1-5516-5603D05B5677}"/>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2678159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194D-2ACE-15B5-3C04-C0F2E89101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9B1DBD-88B8-0F1A-A509-73DC177B7D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80C3B23-3F5B-A8E8-6F25-BA5EB22F9F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2A1688-72DB-F8EF-0C15-68E2FBF11941}"/>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6" name="Footer Placeholder 5">
            <a:extLst>
              <a:ext uri="{FF2B5EF4-FFF2-40B4-BE49-F238E27FC236}">
                <a16:creationId xmlns:a16="http://schemas.microsoft.com/office/drawing/2014/main" id="{AE8B300A-D2B2-DFFF-2E07-5CBD85F4D5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1FDA3-0D6F-228E-56BB-427F05486AFC}"/>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80502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9149-B1EB-74E3-9DCD-1EB391FA2C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E008FF-AE09-8412-3036-88D1D0A90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F5A8B-B032-2B85-3EBD-C055076A35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FEAC17-7B14-BE5F-F0A8-251E2E896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3ACFD-2FEE-B6C5-AB3C-2DA1588F6D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9A5C3E-B37F-35F3-CCA1-E4024BFD4EF0}"/>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8" name="Footer Placeholder 7">
            <a:extLst>
              <a:ext uri="{FF2B5EF4-FFF2-40B4-BE49-F238E27FC236}">
                <a16:creationId xmlns:a16="http://schemas.microsoft.com/office/drawing/2014/main" id="{CA512B75-E5F4-01FC-253E-A47E8BC775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6084AD-C199-A077-CFE1-B8C5AFAA6DA0}"/>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1765211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C3D94-0DC8-6410-1394-911473A16D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E5DD04-DD76-6F84-286A-9AEF64961EBA}"/>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4" name="Footer Placeholder 3">
            <a:extLst>
              <a:ext uri="{FF2B5EF4-FFF2-40B4-BE49-F238E27FC236}">
                <a16:creationId xmlns:a16="http://schemas.microsoft.com/office/drawing/2014/main" id="{C486345E-10FF-F793-7D04-71386C7938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A15458-EF89-65D4-A65E-D0A09D3BE723}"/>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2862449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6E081D-B21B-2598-8520-D66F93390C1D}"/>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3" name="Footer Placeholder 2">
            <a:extLst>
              <a:ext uri="{FF2B5EF4-FFF2-40B4-BE49-F238E27FC236}">
                <a16:creationId xmlns:a16="http://schemas.microsoft.com/office/drawing/2014/main" id="{B9B89DC8-9B02-E4FC-7455-4E0C22F1B01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B91591-B6CD-EAB7-84D4-B6D64911E87A}"/>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3993100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3E38-80A9-5C39-02FB-4AD1DFCBD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AE4485-0D6E-4EAE-8624-8F833B488E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C2FB5D-83C5-935E-64EE-B43F1F1C14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98D89B-1DDD-F939-A4CB-8DF70192EACB}"/>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6" name="Footer Placeholder 5">
            <a:extLst>
              <a:ext uri="{FF2B5EF4-FFF2-40B4-BE49-F238E27FC236}">
                <a16:creationId xmlns:a16="http://schemas.microsoft.com/office/drawing/2014/main" id="{2A79661A-CC49-7513-AB10-A5C0D52408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DF797F-0C07-F10C-CAEB-7E758AB0F7C1}"/>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1668407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8FD5-6106-6059-D652-E855350428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3F43EF-B176-6EE5-17ED-755207FA80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A7EE75-DC69-2FB5-B4F9-7B5F2F09E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1E2176-D30F-85F2-561D-00BA04275202}"/>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6" name="Footer Placeholder 5">
            <a:extLst>
              <a:ext uri="{FF2B5EF4-FFF2-40B4-BE49-F238E27FC236}">
                <a16:creationId xmlns:a16="http://schemas.microsoft.com/office/drawing/2014/main" id="{21C86D1F-FB64-CF61-B95A-DD052AAA18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F14AFD-7EB5-55E5-D2FA-5C3946E337DE}"/>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121171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E2F1-6555-F00E-BF98-8793787FD5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B92818-A5AF-A668-4D97-C2616B5E4B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1CF3BB-D7CD-CFE5-7704-5EEF89F53577}"/>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4BFF21E0-337A-FA41-A41A-41ECCA8547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5CCDC6-C8C4-D08D-3491-D6A3872C56E5}"/>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2555258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B4776-7876-5ABD-BABB-88F9FA9FFE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23082-5211-DDA2-2C20-1DD3B8D57E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57B7D9-D2CA-E780-3AC6-F3E557F654A6}"/>
              </a:ext>
            </a:extLst>
          </p:cNvPr>
          <p:cNvSpPr>
            <a:spLocks noGrp="1"/>
          </p:cNvSpPr>
          <p:nvPr>
            <p:ph type="dt" sz="half" idx="10"/>
          </p:nvPr>
        </p:nvSpPr>
        <p:spPr/>
        <p:txBody>
          <a:body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636A9FE1-30A3-1E9A-84AF-C80719618C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7CDB26-760D-53CB-B4E8-8AE588387E75}"/>
              </a:ext>
            </a:extLst>
          </p:cNvPr>
          <p:cNvSpPr>
            <a:spLocks noGrp="1"/>
          </p:cNvSpPr>
          <p:nvPr>
            <p:ph type="sldNum" sz="quarter" idx="12"/>
          </p:nvPr>
        </p:nvSpPr>
        <p:spPr/>
        <p:txBody>
          <a:bodyPr/>
          <a:lstStyle/>
          <a:p>
            <a:fld id="{3476E436-658C-4E1E-BE8F-668C2DB372A0}" type="slidenum">
              <a:rPr lang="en-IN" smtClean="0"/>
              <a:t>‹#›</a:t>
            </a:fld>
            <a:endParaRPr lang="en-IN"/>
          </a:p>
        </p:txBody>
      </p:sp>
    </p:spTree>
    <p:extLst>
      <p:ext uri="{BB962C8B-B14F-4D97-AF65-F5344CB8AC3E}">
        <p14:creationId xmlns:p14="http://schemas.microsoft.com/office/powerpoint/2010/main" val="2039570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1C009C-269C-2CEF-8E44-080405C9D6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D2BE6C-30AC-9226-6114-F11219A822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6111F9-0949-BAD6-B8B1-40917BF8E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B6A3C0-502A-42CD-927F-D52E66CEEF89}" type="datetimeFigureOut">
              <a:rPr lang="en-IN" smtClean="0"/>
              <a:t>21-10-2025</a:t>
            </a:fld>
            <a:endParaRPr lang="en-IN"/>
          </a:p>
        </p:txBody>
      </p:sp>
      <p:sp>
        <p:nvSpPr>
          <p:cNvPr id="5" name="Footer Placeholder 4">
            <a:extLst>
              <a:ext uri="{FF2B5EF4-FFF2-40B4-BE49-F238E27FC236}">
                <a16:creationId xmlns:a16="http://schemas.microsoft.com/office/drawing/2014/main" id="{AFB1207C-B662-1197-4A01-343D32EA8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3CC50FC-8D30-A76E-9B02-FF07073518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76E436-658C-4E1E-BE8F-668C2DB372A0}" type="slidenum">
              <a:rPr lang="en-IN" smtClean="0"/>
              <a:t>‹#›</a:t>
            </a:fld>
            <a:endParaRPr lang="en-IN"/>
          </a:p>
        </p:txBody>
      </p:sp>
    </p:spTree>
    <p:extLst>
      <p:ext uri="{BB962C8B-B14F-4D97-AF65-F5344CB8AC3E}">
        <p14:creationId xmlns:p14="http://schemas.microsoft.com/office/powerpoint/2010/main" val="1820862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C8B064E-F357-349A-1D02-5C006E548699}"/>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kern="1200">
                <a:solidFill>
                  <a:schemeClr val="tx1"/>
                </a:solidFill>
                <a:latin typeface="+mj-lt"/>
                <a:ea typeface="+mj-ea"/>
                <a:cs typeface="+mj-cs"/>
              </a:rPr>
              <a:t>Global Infrastructure AWS</a:t>
            </a:r>
          </a:p>
        </p:txBody>
      </p:sp>
      <p:pic>
        <p:nvPicPr>
          <p:cNvPr id="20" name="Graphic 19" descr="Cloud">
            <a:extLst>
              <a:ext uri="{FF2B5EF4-FFF2-40B4-BE49-F238E27FC236}">
                <a16:creationId xmlns:a16="http://schemas.microsoft.com/office/drawing/2014/main" id="{06067334-C1C7-3FDF-25B8-0D43F9BB82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6253" y="957860"/>
            <a:ext cx="4942280" cy="4942280"/>
          </a:xfrm>
          <a:prstGeom prst="rect">
            <a:avLst/>
          </a:prstGeom>
        </p:spPr>
      </p:pic>
      <p:sp>
        <p:nvSpPr>
          <p:cNvPr id="4" name="Rectangle 3">
            <a:extLst>
              <a:ext uri="{FF2B5EF4-FFF2-40B4-BE49-F238E27FC236}">
                <a16:creationId xmlns:a16="http://schemas.microsoft.com/office/drawing/2014/main" id="{9F98EF76-F1E8-9950-D216-980D6BBC25A8}"/>
              </a:ext>
            </a:extLst>
          </p:cNvPr>
          <p:cNvSpPr/>
          <p:nvPr/>
        </p:nvSpPr>
        <p:spPr>
          <a:xfrm>
            <a:off x="6" y="6395825"/>
            <a:ext cx="12191994" cy="44895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239873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7EF842-A383-2290-E2BF-07913BA4B7ED}"/>
              </a:ext>
            </a:extLst>
          </p:cNvPr>
          <p:cNvSpPr>
            <a:spLocks noGrp="1"/>
          </p:cNvSpPr>
          <p:nvPr>
            <p:ph type="title"/>
          </p:nvPr>
        </p:nvSpPr>
        <p:spPr>
          <a:xfrm>
            <a:off x="793662" y="386930"/>
            <a:ext cx="10066122" cy="1298448"/>
          </a:xfrm>
        </p:spPr>
        <p:txBody>
          <a:bodyPr anchor="b">
            <a:normAutofit/>
          </a:bodyPr>
          <a:lstStyle/>
          <a:p>
            <a:pPr algn="ctr"/>
            <a:r>
              <a:rPr lang="en-US" sz="4800" dirty="0">
                <a:latin typeface="Calibri" panose="020F0502020204030204" pitchFamily="34" charset="0"/>
                <a:ea typeface="Calibri" panose="020F0502020204030204" pitchFamily="34" charset="0"/>
                <a:cs typeface="Calibri" panose="020F0502020204030204" pitchFamily="34" charset="0"/>
              </a:rPr>
              <a:t>Region</a:t>
            </a:r>
            <a:endParaRPr lang="en-IN" sz="4800" dirty="0">
              <a:latin typeface="Calibri" panose="020F0502020204030204" pitchFamily="34" charset="0"/>
              <a:ea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DBF415-BAEF-97F3-ABF1-0F87654944F6}"/>
              </a:ext>
            </a:extLst>
          </p:cNvPr>
          <p:cNvSpPr>
            <a:spLocks noGrp="1"/>
          </p:cNvSpPr>
          <p:nvPr>
            <p:ph idx="1"/>
          </p:nvPr>
        </p:nvSpPr>
        <p:spPr>
          <a:xfrm>
            <a:off x="793661" y="2599509"/>
            <a:ext cx="4530898" cy="3639450"/>
          </a:xfrm>
        </p:spPr>
        <p:txBody>
          <a:bodyPr anchor="ctr">
            <a:normAutofit/>
          </a:bodyPr>
          <a:lstStyle/>
          <a:p>
            <a:r>
              <a:rPr lang="en-US" sz="2000" dirty="0"/>
              <a:t>Each AWS Region is designed to be isolated from the other AWS Regions. This design achieves the greatest possible fault tolerance and stability.</a:t>
            </a:r>
          </a:p>
          <a:p>
            <a:r>
              <a:rPr lang="en-US" sz="2000" dirty="0"/>
              <a:t>When you view your resources, you see only the resources that are tied to the AWS Region that you specified. No replication by default. </a:t>
            </a:r>
          </a:p>
          <a:p>
            <a:endParaRPr lang="en-IN" sz="2000" dirty="0"/>
          </a:p>
        </p:txBody>
      </p:sp>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B631F415-B940-DAFE-EB73-0523D43BBFFC}"/>
              </a:ext>
            </a:extLst>
          </p:cNvPr>
          <p:cNvGraphicFramePr>
            <a:graphicFrameLocks noGrp="1"/>
          </p:cNvGraphicFramePr>
          <p:nvPr>
            <p:extLst>
              <p:ext uri="{D42A27DB-BD31-4B8C-83A1-F6EECF244321}">
                <p14:modId xmlns:p14="http://schemas.microsoft.com/office/powerpoint/2010/main" val="436025573"/>
              </p:ext>
            </p:extLst>
          </p:nvPr>
        </p:nvGraphicFramePr>
        <p:xfrm>
          <a:off x="5895503" y="2906155"/>
          <a:ext cx="5150278" cy="3207396"/>
        </p:xfrm>
        <a:graphic>
          <a:graphicData uri="http://schemas.openxmlformats.org/drawingml/2006/table">
            <a:tbl>
              <a:tblPr/>
              <a:tblGrid>
                <a:gridCol w="2990881">
                  <a:extLst>
                    <a:ext uri="{9D8B030D-6E8A-4147-A177-3AD203B41FA5}">
                      <a16:colId xmlns:a16="http://schemas.microsoft.com/office/drawing/2014/main" val="1059471468"/>
                    </a:ext>
                  </a:extLst>
                </a:gridCol>
                <a:gridCol w="2159397">
                  <a:extLst>
                    <a:ext uri="{9D8B030D-6E8A-4147-A177-3AD203B41FA5}">
                      <a16:colId xmlns:a16="http://schemas.microsoft.com/office/drawing/2014/main" val="3482105426"/>
                    </a:ext>
                  </a:extLst>
                </a:gridCol>
              </a:tblGrid>
              <a:tr h="390244">
                <a:tc>
                  <a:txBody>
                    <a:bodyPr/>
                    <a:lstStyle/>
                    <a:p>
                      <a:pPr algn="l" fontAlgn="ctr">
                        <a:buNone/>
                      </a:pPr>
                      <a:r>
                        <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rPr>
                        <a:t>Examples: - </a:t>
                      </a:r>
                    </a:p>
                    <a:p>
                      <a:pPr algn="l" fontAlgn="ctr">
                        <a:buNone/>
                      </a:pPr>
                      <a:endParaRPr lang="en-IN" sz="1700" b="1" i="0" u="none" strike="noStrike" dirty="0">
                        <a:effectLst/>
                        <a:latin typeface="Calibri" panose="020F0502020204030204" pitchFamily="34" charset="0"/>
                        <a:ea typeface="Calibri" panose="020F0502020204030204" pitchFamily="34" charset="0"/>
                        <a:cs typeface="Calibri" panose="020F0502020204030204" pitchFamily="34" charset="0"/>
                      </a:endParaRPr>
                    </a:p>
                    <a:p>
                      <a:pPr algn="l" fontAlgn="ctr">
                        <a:buNone/>
                      </a:pPr>
                      <a:r>
                        <a:rPr lang="en-IN" sz="1700" b="1" i="0" u="none" strike="noStrike" dirty="0">
                          <a:effectLst/>
                          <a:latin typeface="Calibri" panose="020F0502020204030204" pitchFamily="34" charset="0"/>
                          <a:ea typeface="Calibri" panose="020F0502020204030204" pitchFamily="34" charset="0"/>
                          <a:cs typeface="Calibri" panose="020F0502020204030204" pitchFamily="34" charset="0"/>
                        </a:rPr>
                        <a:t>Region Name</a:t>
                      </a:r>
                      <a:endPar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8692" marR="88692" marT="44346" marB="44346" anchor="ctr">
                    <a:lnL>
                      <a:noFill/>
                    </a:lnL>
                    <a:lnR>
                      <a:noFill/>
                    </a:lnR>
                    <a:lnT>
                      <a:noFill/>
                    </a:lnT>
                    <a:lnB>
                      <a:noFill/>
                    </a:lnB>
                    <a:noFill/>
                  </a:tcPr>
                </a:tc>
                <a:tc>
                  <a:txBody>
                    <a:bodyPr/>
                    <a:lstStyle/>
                    <a:p>
                      <a:pPr algn="l" fontAlgn="ctr">
                        <a:buNone/>
                      </a:pPr>
                      <a:endParaRPr lang="en-IN" sz="1700" b="1" i="0" u="none" strike="noStrike" dirty="0">
                        <a:effectLst/>
                        <a:latin typeface="Calibri" panose="020F0502020204030204" pitchFamily="34" charset="0"/>
                        <a:ea typeface="Calibri" panose="020F0502020204030204" pitchFamily="34" charset="0"/>
                        <a:cs typeface="Calibri" panose="020F0502020204030204" pitchFamily="34" charset="0"/>
                      </a:endParaRPr>
                    </a:p>
                    <a:p>
                      <a:pPr algn="l" fontAlgn="ctr">
                        <a:buNone/>
                      </a:pPr>
                      <a:endParaRPr lang="en-IN" sz="1700" b="1" i="0" u="none" strike="noStrike" dirty="0">
                        <a:effectLst/>
                        <a:latin typeface="Calibri" panose="020F0502020204030204" pitchFamily="34" charset="0"/>
                        <a:ea typeface="Calibri" panose="020F0502020204030204" pitchFamily="34" charset="0"/>
                        <a:cs typeface="Calibri" panose="020F0502020204030204" pitchFamily="34" charset="0"/>
                      </a:endParaRPr>
                    </a:p>
                    <a:p>
                      <a:pPr algn="l" fontAlgn="ctr">
                        <a:buNone/>
                      </a:pPr>
                      <a:r>
                        <a:rPr lang="en-IN" sz="1700" b="1" i="0" u="none" strike="noStrike" dirty="0">
                          <a:effectLst/>
                          <a:latin typeface="Calibri" panose="020F0502020204030204" pitchFamily="34" charset="0"/>
                          <a:ea typeface="Calibri" panose="020F0502020204030204" pitchFamily="34" charset="0"/>
                          <a:cs typeface="Calibri" panose="020F0502020204030204" pitchFamily="34" charset="0"/>
                        </a:rPr>
                        <a:t>Region Code</a:t>
                      </a:r>
                      <a:endPar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endParaRPr>
                    </a:p>
                  </a:txBody>
                  <a:tcPr marL="88692" marR="88692" marT="44346" marB="44346" anchor="ctr">
                    <a:lnL>
                      <a:noFill/>
                    </a:lnL>
                    <a:lnR>
                      <a:noFill/>
                    </a:lnR>
                    <a:lnT>
                      <a:noFill/>
                    </a:lnT>
                    <a:lnB>
                      <a:noFill/>
                    </a:lnB>
                    <a:noFill/>
                  </a:tcPr>
                </a:tc>
                <a:extLst>
                  <a:ext uri="{0D108BD9-81ED-4DB2-BD59-A6C34878D82A}">
                    <a16:rowId xmlns:a16="http://schemas.microsoft.com/office/drawing/2014/main" val="3649705267"/>
                  </a:ext>
                </a:extLst>
              </a:tr>
              <a:tr h="390244">
                <a:tc>
                  <a:txBody>
                    <a:bodyPr/>
                    <a:lstStyle/>
                    <a:p>
                      <a:pPr algn="l" fontAlgn="ctr">
                        <a:buNone/>
                      </a:pPr>
                      <a:r>
                        <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rPr>
                        <a:t>US East (N. Virginia)</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us-east-1</a:t>
                      </a:r>
                    </a:p>
                  </a:txBody>
                  <a:tcPr marL="88692" marR="88692" marT="44346" marB="44346" anchor="ctr">
                    <a:lnL>
                      <a:noFill/>
                    </a:lnL>
                    <a:lnR>
                      <a:noFill/>
                    </a:lnR>
                    <a:lnT>
                      <a:noFill/>
                    </a:lnT>
                    <a:lnB>
                      <a:noFill/>
                    </a:lnB>
                    <a:noFill/>
                  </a:tcPr>
                </a:tc>
                <a:extLst>
                  <a:ext uri="{0D108BD9-81ED-4DB2-BD59-A6C34878D82A}">
                    <a16:rowId xmlns:a16="http://schemas.microsoft.com/office/drawing/2014/main" val="1721956017"/>
                  </a:ext>
                </a:extLst>
              </a:tr>
              <a:tr h="390244">
                <a:tc>
                  <a:txBody>
                    <a:bodyPr/>
                    <a:lstStyle/>
                    <a:p>
                      <a:pPr algn="l" fontAlgn="ctr">
                        <a:buNone/>
                      </a:pPr>
                      <a:r>
                        <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rPr>
                        <a:t>US West (Oregon)</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us-west-2</a:t>
                      </a:r>
                    </a:p>
                  </a:txBody>
                  <a:tcPr marL="88692" marR="88692" marT="44346" marB="44346" anchor="ctr">
                    <a:lnL>
                      <a:noFill/>
                    </a:lnL>
                    <a:lnR>
                      <a:noFill/>
                    </a:lnR>
                    <a:lnT>
                      <a:noFill/>
                    </a:lnT>
                    <a:lnB>
                      <a:noFill/>
                    </a:lnB>
                    <a:noFill/>
                  </a:tcPr>
                </a:tc>
                <a:extLst>
                  <a:ext uri="{0D108BD9-81ED-4DB2-BD59-A6C34878D82A}">
                    <a16:rowId xmlns:a16="http://schemas.microsoft.com/office/drawing/2014/main" val="2153462572"/>
                  </a:ext>
                </a:extLst>
              </a:tr>
              <a:tr h="390244">
                <a:tc>
                  <a:txBody>
                    <a:bodyPr/>
                    <a:lstStyle/>
                    <a:p>
                      <a:pPr algn="l" fontAlgn="ctr">
                        <a:buNone/>
                      </a:pPr>
                      <a:r>
                        <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rPr>
                        <a:t>Asia Pacific (Mumbai)</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ap-south-1</a:t>
                      </a:r>
                    </a:p>
                  </a:txBody>
                  <a:tcPr marL="88692" marR="88692" marT="44346" marB="44346" anchor="ctr">
                    <a:lnL>
                      <a:noFill/>
                    </a:lnL>
                    <a:lnR>
                      <a:noFill/>
                    </a:lnR>
                    <a:lnT>
                      <a:noFill/>
                    </a:lnT>
                    <a:lnB>
                      <a:noFill/>
                    </a:lnB>
                    <a:noFill/>
                  </a:tcPr>
                </a:tc>
                <a:extLst>
                  <a:ext uri="{0D108BD9-81ED-4DB2-BD59-A6C34878D82A}">
                    <a16:rowId xmlns:a16="http://schemas.microsoft.com/office/drawing/2014/main" val="1327109625"/>
                  </a:ext>
                </a:extLst>
              </a:tr>
              <a:tr h="390244">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Europe (Frankfurt)</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eu-central-1</a:t>
                      </a:r>
                    </a:p>
                  </a:txBody>
                  <a:tcPr marL="88692" marR="88692" marT="44346" marB="44346" anchor="ctr">
                    <a:lnL>
                      <a:noFill/>
                    </a:lnL>
                    <a:lnR>
                      <a:noFill/>
                    </a:lnR>
                    <a:lnT>
                      <a:noFill/>
                    </a:lnT>
                    <a:lnB>
                      <a:noFill/>
                    </a:lnB>
                    <a:noFill/>
                  </a:tcPr>
                </a:tc>
                <a:extLst>
                  <a:ext uri="{0D108BD9-81ED-4DB2-BD59-A6C34878D82A}">
                    <a16:rowId xmlns:a16="http://schemas.microsoft.com/office/drawing/2014/main" val="181527572"/>
                  </a:ext>
                </a:extLst>
              </a:tr>
              <a:tr h="390244">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Asia Pacific (Tokyo)</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ap-northeast-1</a:t>
                      </a:r>
                    </a:p>
                  </a:txBody>
                  <a:tcPr marL="88692" marR="88692" marT="44346" marB="44346" anchor="ctr">
                    <a:lnL>
                      <a:noFill/>
                    </a:lnL>
                    <a:lnR>
                      <a:noFill/>
                    </a:lnR>
                    <a:lnT>
                      <a:noFill/>
                    </a:lnT>
                    <a:lnB>
                      <a:noFill/>
                    </a:lnB>
                    <a:noFill/>
                  </a:tcPr>
                </a:tc>
                <a:extLst>
                  <a:ext uri="{0D108BD9-81ED-4DB2-BD59-A6C34878D82A}">
                    <a16:rowId xmlns:a16="http://schemas.microsoft.com/office/drawing/2014/main" val="3092937401"/>
                  </a:ext>
                </a:extLst>
              </a:tr>
              <a:tr h="390244">
                <a:tc>
                  <a:txBody>
                    <a:bodyPr/>
                    <a:lstStyle/>
                    <a:p>
                      <a:pPr algn="l" fontAlgn="ctr">
                        <a:buNone/>
                      </a:pPr>
                      <a:r>
                        <a:rPr lang="en-IN" sz="1700" b="0" i="0" u="none" strike="noStrike">
                          <a:effectLst/>
                          <a:latin typeface="Calibri" panose="020F0502020204030204" pitchFamily="34" charset="0"/>
                          <a:ea typeface="Calibri" panose="020F0502020204030204" pitchFamily="34" charset="0"/>
                          <a:cs typeface="Calibri" panose="020F0502020204030204" pitchFamily="34" charset="0"/>
                        </a:rPr>
                        <a:t>South America (São Paulo)</a:t>
                      </a:r>
                    </a:p>
                  </a:txBody>
                  <a:tcPr marL="88692" marR="88692" marT="44346" marB="44346" anchor="ctr">
                    <a:lnL>
                      <a:noFill/>
                    </a:lnL>
                    <a:lnR>
                      <a:noFill/>
                    </a:lnR>
                    <a:lnT>
                      <a:noFill/>
                    </a:lnT>
                    <a:lnB>
                      <a:noFill/>
                    </a:lnB>
                    <a:noFill/>
                  </a:tcPr>
                </a:tc>
                <a:tc>
                  <a:txBody>
                    <a:bodyPr/>
                    <a:lstStyle/>
                    <a:p>
                      <a:pPr algn="l" fontAlgn="ctr">
                        <a:buNone/>
                      </a:pPr>
                      <a:r>
                        <a:rPr lang="en-IN" sz="1700" b="0" i="0" u="none" strike="noStrike" dirty="0">
                          <a:effectLst/>
                          <a:latin typeface="Calibri" panose="020F0502020204030204" pitchFamily="34" charset="0"/>
                          <a:ea typeface="Calibri" panose="020F0502020204030204" pitchFamily="34" charset="0"/>
                          <a:cs typeface="Calibri" panose="020F0502020204030204" pitchFamily="34" charset="0"/>
                        </a:rPr>
                        <a:t>sa-east-1</a:t>
                      </a:r>
                    </a:p>
                  </a:txBody>
                  <a:tcPr marL="88692" marR="88692" marT="44346" marB="44346" anchor="ctr">
                    <a:lnL>
                      <a:noFill/>
                    </a:lnL>
                    <a:lnR>
                      <a:noFill/>
                    </a:lnR>
                    <a:lnT>
                      <a:noFill/>
                    </a:lnT>
                    <a:lnB>
                      <a:noFill/>
                    </a:lnB>
                    <a:noFill/>
                  </a:tcPr>
                </a:tc>
                <a:extLst>
                  <a:ext uri="{0D108BD9-81ED-4DB2-BD59-A6C34878D82A}">
                    <a16:rowId xmlns:a16="http://schemas.microsoft.com/office/drawing/2014/main" val="1927373070"/>
                  </a:ext>
                </a:extLst>
              </a:tr>
            </a:tbl>
          </a:graphicData>
        </a:graphic>
      </p:graphicFrame>
      <p:sp>
        <p:nvSpPr>
          <p:cNvPr id="8" name="Rectangle 7">
            <a:extLst>
              <a:ext uri="{FF2B5EF4-FFF2-40B4-BE49-F238E27FC236}">
                <a16:creationId xmlns:a16="http://schemas.microsoft.com/office/drawing/2014/main" id="{D6F06D8C-B5DA-54B8-B907-E7992FB98FFD}"/>
              </a:ext>
            </a:extLst>
          </p:cNvPr>
          <p:cNvSpPr/>
          <p:nvPr/>
        </p:nvSpPr>
        <p:spPr>
          <a:xfrm>
            <a:off x="6" y="6419850"/>
            <a:ext cx="12191994" cy="43407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040284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67EDE0-19A3-580E-1AEC-12C386B7FA27}"/>
              </a:ext>
            </a:extLst>
          </p:cNvPr>
          <p:cNvSpPr>
            <a:spLocks noGrp="1"/>
          </p:cNvSpPr>
          <p:nvPr>
            <p:ph type="title"/>
          </p:nvPr>
        </p:nvSpPr>
        <p:spPr>
          <a:xfrm>
            <a:off x="836679" y="723898"/>
            <a:ext cx="6002110" cy="1495425"/>
          </a:xfrm>
        </p:spPr>
        <p:txBody>
          <a:bodyPr>
            <a:normAutofit/>
          </a:bodyPr>
          <a:lstStyle/>
          <a:p>
            <a:r>
              <a:rPr lang="en-US" sz="4000"/>
              <a:t>Availability Zone</a:t>
            </a:r>
            <a:endParaRPr lang="en-IN" sz="4000"/>
          </a:p>
        </p:txBody>
      </p:sp>
      <p:pic>
        <p:nvPicPr>
          <p:cNvPr id="6" name="Picture 5">
            <a:extLst>
              <a:ext uri="{FF2B5EF4-FFF2-40B4-BE49-F238E27FC236}">
                <a16:creationId xmlns:a16="http://schemas.microsoft.com/office/drawing/2014/main" id="{5F30D9DE-FADF-F560-2FD5-078B709C6B00}"/>
              </a:ext>
            </a:extLst>
          </p:cNvPr>
          <p:cNvPicPr>
            <a:picLocks noChangeAspect="1"/>
          </p:cNvPicPr>
          <p:nvPr/>
        </p:nvPicPr>
        <p:blipFill>
          <a:blip r:embed="rId3"/>
          <a:srcRect l="37697" r="10251"/>
          <a:stretch>
            <a:fillRect/>
          </a:stretch>
        </p:blipFill>
        <p:spPr>
          <a:xfrm>
            <a:off x="7199440" y="10"/>
            <a:ext cx="4992560" cy="6857990"/>
          </a:xfrm>
          <a:prstGeom prst="rect">
            <a:avLst/>
          </a:prstGeom>
          <a:effectLst/>
        </p:spPr>
      </p:pic>
      <p:graphicFrame>
        <p:nvGraphicFramePr>
          <p:cNvPr id="7" name="Content Placeholder 2">
            <a:extLst>
              <a:ext uri="{FF2B5EF4-FFF2-40B4-BE49-F238E27FC236}">
                <a16:creationId xmlns:a16="http://schemas.microsoft.com/office/drawing/2014/main" id="{B2322CA2-F37B-228C-D355-FC12F73C2646}"/>
              </a:ext>
            </a:extLst>
          </p:cNvPr>
          <p:cNvGraphicFramePr>
            <a:graphicFrameLocks noGrp="1"/>
          </p:cNvGraphicFramePr>
          <p:nvPr>
            <p:ph idx="1"/>
            <p:extLst>
              <p:ext uri="{D42A27DB-BD31-4B8C-83A1-F6EECF244321}">
                <p14:modId xmlns:p14="http://schemas.microsoft.com/office/powerpoint/2010/main" val="1182118238"/>
              </p:ext>
            </p:extLst>
          </p:nvPr>
        </p:nvGraphicFramePr>
        <p:xfrm>
          <a:off x="836680" y="2405067"/>
          <a:ext cx="6002110" cy="3729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ectangle 3">
            <a:extLst>
              <a:ext uri="{FF2B5EF4-FFF2-40B4-BE49-F238E27FC236}">
                <a16:creationId xmlns:a16="http://schemas.microsoft.com/office/drawing/2014/main" id="{DC9BCFF8-F935-42EC-32D3-3381017FAFB8}"/>
              </a:ext>
            </a:extLst>
          </p:cNvPr>
          <p:cNvSpPr/>
          <p:nvPr/>
        </p:nvSpPr>
        <p:spPr>
          <a:xfrm>
            <a:off x="6" y="6420326"/>
            <a:ext cx="12191994" cy="437674"/>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438976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037BA7-6804-DBB2-8824-707A19C0632F}"/>
              </a:ext>
            </a:extLst>
          </p:cNvPr>
          <p:cNvSpPr>
            <a:spLocks noGrp="1"/>
          </p:cNvSpPr>
          <p:nvPr>
            <p:ph type="title"/>
          </p:nvPr>
        </p:nvSpPr>
        <p:spPr>
          <a:xfrm>
            <a:off x="589560" y="856180"/>
            <a:ext cx="4560584" cy="1128068"/>
          </a:xfrm>
        </p:spPr>
        <p:txBody>
          <a:bodyPr anchor="ctr">
            <a:normAutofit/>
          </a:bodyPr>
          <a:lstStyle/>
          <a:p>
            <a:r>
              <a:rPr lang="en-US" sz="4000" dirty="0"/>
              <a:t>Data Center </a:t>
            </a:r>
            <a:endParaRPr lang="en-IN" sz="4000" dirty="0"/>
          </a:p>
        </p:txBody>
      </p:sp>
      <p:grpSp>
        <p:nvGrpSpPr>
          <p:cNvPr id="38" name="Group 3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9" name="Rectangle 3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9A5E4A-8D21-3D7B-E221-CC53DB29122B}"/>
              </a:ext>
            </a:extLst>
          </p:cNvPr>
          <p:cNvSpPr>
            <a:spLocks noGrp="1"/>
          </p:cNvSpPr>
          <p:nvPr>
            <p:ph idx="1"/>
          </p:nvPr>
        </p:nvSpPr>
        <p:spPr>
          <a:xfrm>
            <a:off x="590719" y="2330505"/>
            <a:ext cx="4559425" cy="3979585"/>
          </a:xfrm>
        </p:spPr>
        <p:txBody>
          <a:bodyPr anchor="ctr">
            <a:normAutofit/>
          </a:bodyPr>
          <a:lstStyle/>
          <a:p>
            <a:r>
              <a:rPr lang="en-US" sz="2000" dirty="0"/>
              <a:t>A data center is a physical location that stores computing machines and their related hardware equipment. It contains the computing infrastructure that IT systems require, such as servers, data storage drives, and network equipment. It is the physical facility that stores any company’s digital data.</a:t>
            </a:r>
            <a:endParaRPr lang="en-IN" sz="2000" dirty="0"/>
          </a:p>
        </p:txBody>
      </p:sp>
      <p:sp>
        <p:nvSpPr>
          <p:cNvPr id="42" name="Rectangle 4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room with many rows of servers&#10;&#10;AI-generated content may be incorrect.">
            <a:extLst>
              <a:ext uri="{FF2B5EF4-FFF2-40B4-BE49-F238E27FC236}">
                <a16:creationId xmlns:a16="http://schemas.microsoft.com/office/drawing/2014/main" id="{E42FD6DD-C701-2CAE-D7BC-37FF1D2A0D05}"/>
              </a:ext>
            </a:extLst>
          </p:cNvPr>
          <p:cNvPicPr>
            <a:picLocks noChangeAspect="1"/>
          </p:cNvPicPr>
          <p:nvPr/>
        </p:nvPicPr>
        <p:blipFill>
          <a:blip r:embed="rId3">
            <a:extLst>
              <a:ext uri="{28A0092B-C50C-407E-A947-70E740481C1C}">
                <a14:useLocalDpi xmlns:a14="http://schemas.microsoft.com/office/drawing/2010/main" val="0"/>
              </a:ext>
            </a:extLst>
          </a:blip>
          <a:srcRect r="22631"/>
          <a:stretch>
            <a:fillRect/>
          </a:stretch>
        </p:blipFill>
        <p:spPr>
          <a:xfrm>
            <a:off x="5977788" y="799352"/>
            <a:ext cx="5425410" cy="5259296"/>
          </a:xfrm>
          <a:prstGeom prst="rect">
            <a:avLst/>
          </a:prstGeom>
        </p:spPr>
      </p:pic>
      <p:sp>
        <p:nvSpPr>
          <p:cNvPr id="9" name="Rectangle 8">
            <a:extLst>
              <a:ext uri="{FF2B5EF4-FFF2-40B4-BE49-F238E27FC236}">
                <a16:creationId xmlns:a16="http://schemas.microsoft.com/office/drawing/2014/main" id="{956ACEEA-5C94-7CA3-F854-2327C83EE191}"/>
              </a:ext>
            </a:extLst>
          </p:cNvPr>
          <p:cNvSpPr/>
          <p:nvPr/>
        </p:nvSpPr>
        <p:spPr>
          <a:xfrm>
            <a:off x="-1" y="6454751"/>
            <a:ext cx="12191994" cy="39951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035145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diagram of data center&#10;&#10;AI-generated content may be incorrect.">
            <a:extLst>
              <a:ext uri="{FF2B5EF4-FFF2-40B4-BE49-F238E27FC236}">
                <a16:creationId xmlns:a16="http://schemas.microsoft.com/office/drawing/2014/main" id="{4D75510A-EF5A-FD89-6160-10DED48ACDD9}"/>
              </a:ext>
            </a:extLst>
          </p:cNvPr>
          <p:cNvPicPr>
            <a:picLocks noChangeAspect="1"/>
          </p:cNvPicPr>
          <p:nvPr/>
        </p:nvPicPr>
        <p:blipFill>
          <a:blip r:embed="rId3">
            <a:extLst>
              <a:ext uri="{28A0092B-C50C-407E-A947-70E740481C1C}">
                <a14:useLocalDpi xmlns:a14="http://schemas.microsoft.com/office/drawing/2010/main" val="0"/>
              </a:ext>
            </a:extLst>
          </a:blip>
          <a:srcRect l="864" r="7122"/>
          <a:stretch>
            <a:fillRect/>
          </a:stretch>
        </p:blipFill>
        <p:spPr>
          <a:xfrm>
            <a:off x="2156392" y="0"/>
            <a:ext cx="7032825" cy="5101829"/>
          </a:xfrm>
          <a:prstGeom prst="rect">
            <a:avLst/>
          </a:prstGeom>
        </p:spPr>
      </p:pic>
      <p:pic>
        <p:nvPicPr>
          <p:cNvPr id="10" name="Picture 9" descr="A diagram of data center&#10;&#10;AI-generated content may be incorrect.">
            <a:extLst>
              <a:ext uri="{FF2B5EF4-FFF2-40B4-BE49-F238E27FC236}">
                <a16:creationId xmlns:a16="http://schemas.microsoft.com/office/drawing/2014/main" id="{92169A41-D16E-4198-B948-E8CED084A0E5}"/>
              </a:ext>
            </a:extLst>
          </p:cNvPr>
          <p:cNvPicPr>
            <a:picLocks noChangeAspect="1"/>
          </p:cNvPicPr>
          <p:nvPr/>
        </p:nvPicPr>
        <p:blipFill>
          <a:blip r:embed="rId3">
            <a:extLst>
              <a:ext uri="{28A0092B-C50C-407E-A947-70E740481C1C}">
                <a14:useLocalDpi xmlns:a14="http://schemas.microsoft.com/office/drawing/2010/main" val="0"/>
              </a:ext>
            </a:extLst>
          </a:blip>
          <a:srcRect l="2155" r="8408" b="-6"/>
          <a:stretch>
            <a:fillRect/>
          </a:stretch>
        </p:blipFill>
        <p:spPr>
          <a:xfrm>
            <a:off x="2106802" y="4556458"/>
            <a:ext cx="2352899" cy="1756162"/>
          </a:xfrm>
          <a:prstGeom prst="rect">
            <a:avLst/>
          </a:prstGeom>
        </p:spPr>
      </p:pic>
      <p:pic>
        <p:nvPicPr>
          <p:cNvPr id="13" name="Picture 12" descr="A diagram of data center&#10;&#10;AI-generated content may be incorrect.">
            <a:extLst>
              <a:ext uri="{FF2B5EF4-FFF2-40B4-BE49-F238E27FC236}">
                <a16:creationId xmlns:a16="http://schemas.microsoft.com/office/drawing/2014/main" id="{8A63B55C-58AB-6B12-5DA2-6BF68EEA7909}"/>
              </a:ext>
            </a:extLst>
          </p:cNvPr>
          <p:cNvPicPr>
            <a:picLocks noChangeAspect="1"/>
          </p:cNvPicPr>
          <p:nvPr/>
        </p:nvPicPr>
        <p:blipFill>
          <a:blip r:embed="rId3">
            <a:extLst>
              <a:ext uri="{28A0092B-C50C-407E-A947-70E740481C1C}">
                <a14:useLocalDpi xmlns:a14="http://schemas.microsoft.com/office/drawing/2010/main" val="0"/>
              </a:ext>
            </a:extLst>
          </a:blip>
          <a:srcRect l="2155" r="8408" b="-6"/>
          <a:stretch>
            <a:fillRect/>
          </a:stretch>
        </p:blipFill>
        <p:spPr>
          <a:xfrm>
            <a:off x="4625702" y="4558505"/>
            <a:ext cx="2352899" cy="1756162"/>
          </a:xfrm>
          <a:prstGeom prst="rect">
            <a:avLst/>
          </a:prstGeom>
        </p:spPr>
      </p:pic>
      <p:pic>
        <p:nvPicPr>
          <p:cNvPr id="15" name="Picture 14" descr="A diagram of data center&#10;&#10;AI-generated content may be incorrect.">
            <a:extLst>
              <a:ext uri="{FF2B5EF4-FFF2-40B4-BE49-F238E27FC236}">
                <a16:creationId xmlns:a16="http://schemas.microsoft.com/office/drawing/2014/main" id="{86CBECC8-249F-A448-861A-0271A1119CC7}"/>
              </a:ext>
            </a:extLst>
          </p:cNvPr>
          <p:cNvPicPr>
            <a:picLocks noChangeAspect="1"/>
          </p:cNvPicPr>
          <p:nvPr/>
        </p:nvPicPr>
        <p:blipFill>
          <a:blip r:embed="rId3">
            <a:extLst>
              <a:ext uri="{28A0092B-C50C-407E-A947-70E740481C1C}">
                <a14:useLocalDpi xmlns:a14="http://schemas.microsoft.com/office/drawing/2010/main" val="0"/>
              </a:ext>
            </a:extLst>
          </a:blip>
          <a:srcRect l="2155" r="8408" b="-6"/>
          <a:stretch>
            <a:fillRect/>
          </a:stretch>
        </p:blipFill>
        <p:spPr>
          <a:xfrm>
            <a:off x="7237451" y="4556458"/>
            <a:ext cx="2352899" cy="1756162"/>
          </a:xfrm>
          <a:prstGeom prst="rect">
            <a:avLst/>
          </a:prstGeom>
        </p:spPr>
      </p:pic>
      <p:sp>
        <p:nvSpPr>
          <p:cNvPr id="4" name="Rectangle 3">
            <a:extLst>
              <a:ext uri="{FF2B5EF4-FFF2-40B4-BE49-F238E27FC236}">
                <a16:creationId xmlns:a16="http://schemas.microsoft.com/office/drawing/2014/main" id="{541088F1-753E-1805-66FA-168FB08EC9B9}"/>
              </a:ext>
            </a:extLst>
          </p:cNvPr>
          <p:cNvSpPr/>
          <p:nvPr/>
        </p:nvSpPr>
        <p:spPr>
          <a:xfrm>
            <a:off x="0" y="6481230"/>
            <a:ext cx="12191994" cy="414337"/>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825805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A0F2-5169-CE0A-A257-233CE2FCBB84}"/>
              </a:ext>
            </a:extLst>
          </p:cNvPr>
          <p:cNvSpPr>
            <a:spLocks noGrp="1"/>
          </p:cNvSpPr>
          <p:nvPr>
            <p:ph type="title"/>
          </p:nvPr>
        </p:nvSpPr>
        <p:spPr/>
        <p:txBody>
          <a:bodyPr/>
          <a:lstStyle/>
          <a:p>
            <a:pPr algn="ctr"/>
            <a:r>
              <a:rPr lang="en-US"/>
              <a:t>Region Selection </a:t>
            </a:r>
            <a:endParaRPr lang="en-IN" dirty="0"/>
          </a:p>
        </p:txBody>
      </p:sp>
      <p:graphicFrame>
        <p:nvGraphicFramePr>
          <p:cNvPr id="7" name="Content Placeholder 2">
            <a:extLst>
              <a:ext uri="{FF2B5EF4-FFF2-40B4-BE49-F238E27FC236}">
                <a16:creationId xmlns:a16="http://schemas.microsoft.com/office/drawing/2014/main" id="{79AECA9E-0E2A-0CD3-DBB0-1F3DB99474AB}"/>
              </a:ext>
            </a:extLst>
          </p:cNvPr>
          <p:cNvGraphicFramePr>
            <a:graphicFrameLocks noGrp="1"/>
          </p:cNvGraphicFramePr>
          <p:nvPr>
            <p:ph idx="1"/>
            <p:extLst>
              <p:ext uri="{D42A27DB-BD31-4B8C-83A1-F6EECF244321}">
                <p14:modId xmlns:p14="http://schemas.microsoft.com/office/powerpoint/2010/main" val="42749603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24B8044C-B225-DD35-3D21-336C31A43ACE}"/>
              </a:ext>
            </a:extLst>
          </p:cNvPr>
          <p:cNvSpPr/>
          <p:nvPr/>
        </p:nvSpPr>
        <p:spPr>
          <a:xfrm>
            <a:off x="6" y="6391568"/>
            <a:ext cx="12191994" cy="45321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788317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196FC-E181-8640-3708-3B7C9C51EA60}"/>
              </a:ext>
            </a:extLst>
          </p:cNvPr>
          <p:cNvSpPr>
            <a:spLocks noGrp="1"/>
          </p:cNvSpPr>
          <p:nvPr>
            <p:ph type="title"/>
          </p:nvPr>
        </p:nvSpPr>
        <p:spPr>
          <a:xfrm>
            <a:off x="793662" y="386930"/>
            <a:ext cx="10066122" cy="737601"/>
          </a:xfrm>
        </p:spPr>
        <p:txBody>
          <a:bodyPr anchor="b">
            <a:normAutofit/>
          </a:bodyPr>
          <a:lstStyle/>
          <a:p>
            <a:pPr algn="ctr"/>
            <a:r>
              <a:rPr lang="en-US" sz="4200" dirty="0"/>
              <a:t>Edge Locations</a:t>
            </a:r>
            <a:endParaRPr lang="en-IN" sz="4200" dirty="0"/>
          </a:p>
        </p:txBody>
      </p:sp>
      <p:sp>
        <p:nvSpPr>
          <p:cNvPr id="40" name="Rectangle 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AAAF9D-B818-571E-4B1E-E7D07FAD4A22}"/>
              </a:ext>
            </a:extLst>
          </p:cNvPr>
          <p:cNvSpPr>
            <a:spLocks noGrp="1"/>
          </p:cNvSpPr>
          <p:nvPr>
            <p:ph idx="1"/>
          </p:nvPr>
        </p:nvSpPr>
        <p:spPr>
          <a:xfrm>
            <a:off x="793661" y="2599509"/>
            <a:ext cx="4530898" cy="3639450"/>
          </a:xfrm>
        </p:spPr>
        <p:txBody>
          <a:bodyPr anchor="ctr">
            <a:normAutofit/>
          </a:bodyPr>
          <a:lstStyle/>
          <a:p>
            <a:r>
              <a:rPr lang="en-US" sz="2000" dirty="0"/>
              <a:t>AWS Edge Locations are data centers distributed across the world that deliver content to users with low latency meaning faster performance.</a:t>
            </a:r>
            <a:endParaRPr lang="en-IN" sz="2000" dirty="0"/>
          </a:p>
        </p:txBody>
      </p:sp>
      <p:pic>
        <p:nvPicPr>
          <p:cNvPr id="7" name="Picture 6" descr="A screenshot of a computer&#10;&#10;AI-generated content may be incorrect.">
            <a:extLst>
              <a:ext uri="{FF2B5EF4-FFF2-40B4-BE49-F238E27FC236}">
                <a16:creationId xmlns:a16="http://schemas.microsoft.com/office/drawing/2014/main" id="{64511112-998F-CC55-5B43-EADEA7D3D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3085997"/>
            <a:ext cx="5150277" cy="2510759"/>
          </a:xfrm>
          <a:prstGeom prst="rect">
            <a:avLst/>
          </a:prstGeom>
        </p:spPr>
      </p:pic>
      <p:sp>
        <p:nvSpPr>
          <p:cNvPr id="42" name="Rectangle 4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334844E-C0F3-6815-A921-E54E7B8EF0C0}"/>
              </a:ext>
            </a:extLst>
          </p:cNvPr>
          <p:cNvSpPr/>
          <p:nvPr/>
        </p:nvSpPr>
        <p:spPr>
          <a:xfrm>
            <a:off x="6" y="6466170"/>
            <a:ext cx="12191994" cy="37861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828106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8BA918-BB72-7336-A448-5FFE2B74D9F4}"/>
              </a:ext>
            </a:extLst>
          </p:cNvPr>
          <p:cNvSpPr>
            <a:spLocks noGrp="1"/>
          </p:cNvSpPr>
          <p:nvPr>
            <p:ph type="title"/>
          </p:nvPr>
        </p:nvSpPr>
        <p:spPr>
          <a:xfrm>
            <a:off x="793662" y="386930"/>
            <a:ext cx="10066122" cy="1298448"/>
          </a:xfrm>
        </p:spPr>
        <p:txBody>
          <a:bodyPr anchor="b">
            <a:normAutofit/>
          </a:bodyPr>
          <a:lstStyle/>
          <a:p>
            <a:pPr algn="ctr"/>
            <a:r>
              <a:rPr lang="en-IN" sz="4200" dirty="0"/>
              <a:t>AWS Local Zones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515054-EC36-8E20-9480-F4CFC44EAEE5}"/>
              </a:ext>
            </a:extLst>
          </p:cNvPr>
          <p:cNvSpPr>
            <a:spLocks noGrp="1"/>
          </p:cNvSpPr>
          <p:nvPr>
            <p:ph idx="1"/>
          </p:nvPr>
        </p:nvSpPr>
        <p:spPr>
          <a:xfrm>
            <a:off x="793661" y="2599509"/>
            <a:ext cx="4530898" cy="3639450"/>
          </a:xfrm>
        </p:spPr>
        <p:txBody>
          <a:bodyPr anchor="ctr">
            <a:normAutofit/>
          </a:bodyPr>
          <a:lstStyle/>
          <a:p>
            <a:r>
              <a:rPr lang="en-US" sz="2000"/>
              <a:t>AWS Local Zones places compute, storage, database, and other select AWS resources close to large population and industry centers. You can use Local Zones to provide your users with low-latency access to your applications.</a:t>
            </a:r>
            <a:endParaRPr lang="en-IN" sz="2000"/>
          </a:p>
        </p:txBody>
      </p:sp>
      <p:pic>
        <p:nvPicPr>
          <p:cNvPr id="5" name="Picture 4" descr="A screenshot of a computer&#10;&#10;AI-generated content may be incorrect.">
            <a:extLst>
              <a:ext uri="{FF2B5EF4-FFF2-40B4-BE49-F238E27FC236}">
                <a16:creationId xmlns:a16="http://schemas.microsoft.com/office/drawing/2014/main" id="{FD2B287E-F7E2-2E05-A105-38AEAF3B5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3098872"/>
            <a:ext cx="5150277" cy="2485009"/>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379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E837-43AE-27E4-8A13-1567E9A2D64D}"/>
              </a:ext>
            </a:extLst>
          </p:cNvPr>
          <p:cNvSpPr>
            <a:spLocks noGrp="1"/>
          </p:cNvSpPr>
          <p:nvPr>
            <p:ph type="title"/>
          </p:nvPr>
        </p:nvSpPr>
        <p:spPr>
          <a:xfrm>
            <a:off x="838201" y="3998018"/>
            <a:ext cx="3981854" cy="2216513"/>
          </a:xfrm>
        </p:spPr>
        <p:txBody>
          <a:bodyPr>
            <a:normAutofit/>
          </a:bodyPr>
          <a:lstStyle/>
          <a:p>
            <a:r>
              <a:rPr lang="en-US"/>
              <a:t>Thank you</a:t>
            </a:r>
            <a:endParaRPr lang="en-IN" dirty="0"/>
          </a:p>
        </p:txBody>
      </p:sp>
      <p:sp>
        <p:nvSpPr>
          <p:cNvPr id="3" name="Content Placeholder 2">
            <a:extLst>
              <a:ext uri="{FF2B5EF4-FFF2-40B4-BE49-F238E27FC236}">
                <a16:creationId xmlns:a16="http://schemas.microsoft.com/office/drawing/2014/main" id="{C539D02F-E4EF-457E-F87A-D88C90B43CB7}"/>
              </a:ext>
            </a:extLst>
          </p:cNvPr>
          <p:cNvSpPr>
            <a:spLocks noGrp="1"/>
          </p:cNvSpPr>
          <p:nvPr>
            <p:ph idx="1"/>
          </p:nvPr>
        </p:nvSpPr>
        <p:spPr>
          <a:xfrm>
            <a:off x="5040106" y="2320744"/>
            <a:ext cx="6382966" cy="2216512"/>
          </a:xfrm>
        </p:spPr>
        <p:txBody>
          <a:bodyPr>
            <a:normAutofit/>
          </a:bodyPr>
          <a:lstStyle/>
          <a:p>
            <a:pPr algn="ctr"/>
            <a:r>
              <a:rPr lang="en-US" dirty="0"/>
              <a:t>Explore my other </a:t>
            </a:r>
            <a:r>
              <a:rPr lang="en-US" b="1" dirty="0"/>
              <a:t>Cloud Computing Playlists</a:t>
            </a:r>
            <a:r>
              <a:rPr lang="en-US" dirty="0"/>
              <a:t> for more learning</a:t>
            </a:r>
          </a:p>
          <a:p>
            <a:endParaRPr lang="en-US" dirty="0"/>
          </a:p>
          <a:p>
            <a:pPr marL="0" indent="0">
              <a:buNone/>
            </a:pPr>
            <a:endParaRPr lang="en-US" dirty="0"/>
          </a:p>
        </p:txBody>
      </p:sp>
      <p:sp>
        <p:nvSpPr>
          <p:cNvPr id="5" name="Rectangle 4">
            <a:extLst>
              <a:ext uri="{FF2B5EF4-FFF2-40B4-BE49-F238E27FC236}">
                <a16:creationId xmlns:a16="http://schemas.microsoft.com/office/drawing/2014/main" id="{BB701CDA-07AF-C32D-549F-4818E1C95BBB}"/>
              </a:ext>
            </a:extLst>
          </p:cNvPr>
          <p:cNvSpPr/>
          <p:nvPr/>
        </p:nvSpPr>
        <p:spPr>
          <a:xfrm>
            <a:off x="6" y="6347637"/>
            <a:ext cx="12191994" cy="498212"/>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descr="A white text on a black background&#10;&#10;AI-generated content may be incorrect.">
            <a:extLst>
              <a:ext uri="{FF2B5EF4-FFF2-40B4-BE49-F238E27FC236}">
                <a16:creationId xmlns:a16="http://schemas.microsoft.com/office/drawing/2014/main" id="{B2BE5594-B791-6E6D-5081-DB7AA0AA1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1529401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629</Words>
  <Application>Microsoft Office PowerPoint</Application>
  <PresentationFormat>Widescreen</PresentationFormat>
  <Paragraphs>62</Paragraphs>
  <Slides>9</Slides>
  <Notes>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Global Infrastructure AWS</vt:lpstr>
      <vt:lpstr>Region</vt:lpstr>
      <vt:lpstr>Availability Zone</vt:lpstr>
      <vt:lpstr>Data Center </vt:lpstr>
      <vt:lpstr>PowerPoint Presentation</vt:lpstr>
      <vt:lpstr>Region Selection </vt:lpstr>
      <vt:lpstr>Edge Locations</vt:lpstr>
      <vt:lpstr>AWS Local Zones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55</cp:revision>
  <dcterms:created xsi:type="dcterms:W3CDTF">2025-10-17T03:04:04Z</dcterms:created>
  <dcterms:modified xsi:type="dcterms:W3CDTF">2025-10-21T12:31:01Z</dcterms:modified>
</cp:coreProperties>
</file>