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70" r:id="rId3"/>
    <p:sldId id="273" r:id="rId4"/>
    <p:sldId id="274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8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ACBB7-F1C4-482B-8F4D-43654240A8F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88C6B-D22C-4F52-BE8F-834DDEDF9C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9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464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61023-0251-FAAC-8B0E-3826E80A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504A5-16FE-FB5B-EF50-CCBD26B85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90491-3725-D2B7-E725-01E52AD53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AA3A5-85FA-801D-1946-3C6F66EE4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00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1492-7FC7-D271-397E-7C467F08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3FB7C-4C44-38FE-021F-C407434DF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8D5CD-DF5F-DD46-8ED9-BDCCF1FF2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7E6B3-F95F-7E1F-B7C0-1E5B788C7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53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Infrastructure as a Service (IaaS)</a:t>
            </a:r>
          </a:p>
          <a:p>
            <a:r>
              <a:rPr lang="en-US" dirty="0"/>
              <a:t>“IaaS provides the basic building blocks of IT – servers, storage, networking – over the internet.</a:t>
            </a:r>
          </a:p>
          <a:p>
            <a:r>
              <a:rPr lang="en-US" dirty="0"/>
              <a:t>Organizations don’t need to buy physical hardware; they can rent infrastructure on demand.</a:t>
            </a:r>
          </a:p>
          <a:p>
            <a:r>
              <a:rPr lang="en-US" dirty="0"/>
              <a:t>This gives maximum control to the user: you manage the operating system, applications, and runtime, while the provider manages the physical infrastructure.</a:t>
            </a:r>
          </a:p>
          <a:p>
            <a:r>
              <a:rPr lang="en-US" dirty="0"/>
              <a:t>Example services: Amazon EC2, Google Compute Engine, Microsoft Azure VMs.”</a:t>
            </a:r>
          </a:p>
          <a:p>
            <a:br>
              <a:rPr lang="en-US" dirty="0"/>
            </a:br>
            <a:r>
              <a:rPr lang="en-US" b="1" dirty="0"/>
              <a:t>2. Platform as a Service (PaaS)</a:t>
            </a:r>
          </a:p>
          <a:p>
            <a:r>
              <a:rPr lang="en-US" dirty="0"/>
              <a:t>“PaaS goes one step higher. Instead of just infrastructure, it provides a full platform for developers to build, test, and deploy applications.</a:t>
            </a:r>
          </a:p>
          <a:p>
            <a:r>
              <a:rPr lang="en-US" dirty="0"/>
              <a:t>The cloud provider manages the underlying infrastructure and runtime, so developers can focus only on writing code.</a:t>
            </a:r>
          </a:p>
          <a:p>
            <a:r>
              <a:rPr lang="en-US" dirty="0"/>
              <a:t>This improves productivity, reduces complexity, and is ideal for building modern apps.</a:t>
            </a:r>
          </a:p>
          <a:p>
            <a:r>
              <a:rPr lang="en-US" dirty="0"/>
              <a:t>Example services: AWS Elastic Beanstalk, Google App Engine, Azure App Service.”</a:t>
            </a:r>
          </a:p>
          <a:p>
            <a:endParaRPr lang="en-US" dirty="0"/>
          </a:p>
          <a:p>
            <a:r>
              <a:rPr lang="en-US" b="1" dirty="0"/>
              <a:t>3. Software as a Service (SaaS)</a:t>
            </a:r>
          </a:p>
          <a:p>
            <a:r>
              <a:rPr lang="en-US" dirty="0"/>
              <a:t>“SaaS delivers ready-to-use software applications over the internet.</a:t>
            </a:r>
          </a:p>
          <a:p>
            <a:r>
              <a:rPr lang="en-US" dirty="0"/>
              <a:t>Users don’t worry about infrastructure, platform, or maintenance – everything is managed by the provider.</a:t>
            </a:r>
          </a:p>
          <a:p>
            <a:r>
              <a:rPr lang="en-US" dirty="0"/>
              <a:t>You just access the application via a web browser or app.</a:t>
            </a:r>
          </a:p>
          <a:p>
            <a:r>
              <a:rPr lang="en-US" dirty="0"/>
              <a:t>Examples: Gmail, Microsoft Office 365, Salesforce, Dropbox.</a:t>
            </a:r>
          </a:p>
          <a:p>
            <a:r>
              <a:rPr lang="en-US" dirty="0"/>
              <a:t>SaaS is the easiest to use, as it is fully managed and subscription-based.”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997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E182-AEC9-F940-448A-AE8A25654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CAD9E-1C67-F63E-1363-BC590289F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BD150-70FB-007A-1F3D-FEC76E30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41BF1-E053-F5E7-B6F3-400136C71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8497B-5EC0-B8FA-60AF-600D640D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993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8C40-87B3-9CB2-B724-FF986691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0260D-C9A1-EBE9-6F5C-B5CF074B6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5B946-2E29-275F-D493-91EE0048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3FDF8-6AE0-FD02-4AEB-07748271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98D53-8253-9B1A-398A-9DBFC272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71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F1277-4BAA-C20C-443C-77B6CC74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CF792-4FFC-15FA-95FA-5F9284AD9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E3C7D-3C71-CA64-F428-DE1D9CA2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EBF5-6DAB-4B4F-AD24-CB940348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B952-8226-C50A-F8F6-CC5B7EB5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7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5BA1-5A89-EC9B-FEC6-8678CC16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CFCDF-D59D-97CA-7A24-FB4B5E127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9AA80-8A5C-B633-CA62-9CCBE0E9F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CBC93-DF32-2271-5E25-FF3964F2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459C0-21BC-4736-6E4D-D9BD711F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BE560-236A-349C-EBE0-1B730BA5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19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003D-C433-9824-EF86-EC938510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174DB-FD04-40CB-95DA-20A185B8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5C5E4-682F-2D03-058A-FFD018C3E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99209-D7A5-B0B0-74D2-6E8D8EF25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5F26E4-3B8D-49D3-F955-EE6365B7E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F0585-0FAF-0061-604B-C3AD90C65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EF2C5-EDC8-730E-C928-37DFDE7F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A2F43-29A5-CF63-9E2F-EEAA7DA2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32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39D4-F483-0587-7E00-34858C92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86362-261B-1B2D-EB78-D4A9DE0D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C8B7E-D186-50E6-CEDF-AC500C70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46034-E312-8A25-9C88-1788DE0C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82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D116BB-F889-DA8D-3F81-BDE1AD258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9CCCF-F04B-2E2D-85FF-70F155CC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E7F02-BD91-3382-568C-7D31EBFC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47FA-14E4-BD34-B6DA-3EC027D80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AF8D-0A18-D26D-0038-29E583D3E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F7458-155D-E6AA-6C47-773FDD0DB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84563-3081-914C-2DBC-14C877DF8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8B386-4161-475D-335B-158D0C23A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2ACD0-FAD3-244E-9BF7-992A5618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64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D2EB-F070-E640-0721-4D8FEF64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77C0AD-6634-3B4E-EC5F-953AF163B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63B01-8FC0-3DB9-1548-793470261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D0843-9B69-A33C-8C79-2B44C886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B0872-D888-D605-B9D9-57BAC58B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526FF-1FF3-B150-51EE-FFFBA577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14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525F-067D-DAF6-A802-516A2532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12C9F-2217-98C3-EB34-9002F43E7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13446-9712-63B6-8A87-335D1F7F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B5ED4-A299-EA0F-BDE7-FD46C84E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AE3E5-41B0-06E4-8AC1-61810EC4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91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7D49FB-A098-9D3E-BD6F-9AC52562D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1851E-728F-62C8-1FA0-AD10ED456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27D79-AF5F-CD80-1F5F-6857D922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DC6E9-1511-D192-690A-F7948348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E5D50-F72D-BF4D-2755-C6B6385E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3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58912-A082-52F5-170F-3AE201250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D0435-BBFA-53DF-9301-4BB097D80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DC64-BD20-3D10-7D37-D4FBEBA94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33A65-484D-41B0-A26D-CB7593C9E49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60FB1-DA15-A978-71CC-13FA7A2D9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41889-1D05-C088-B7E1-240E2B804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5760A-E15F-4D75-8377-B08642256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93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AF80E-721C-D30E-3E69-ECA7C7A37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587" y="2658488"/>
            <a:ext cx="4805996" cy="1297115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Computing Models</a:t>
            </a:r>
            <a:endParaRPr lang="en-IN" sz="4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Graphic 5" descr="Cloud">
            <a:extLst>
              <a:ext uri="{FF2B5EF4-FFF2-40B4-BE49-F238E27FC236}">
                <a16:creationId xmlns:a16="http://schemas.microsoft.com/office/drawing/2014/main" id="{3E068BC7-FE45-9402-086F-039522AF6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4476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B104C9B-3F0A-B62C-05CA-220C680E6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48" r="4437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456C0-0F16-C4C7-E855-A1B77A3F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208" y="1454598"/>
            <a:ext cx="5610443" cy="3803202"/>
          </a:xfrm>
        </p:spPr>
        <p:txBody>
          <a:bodyPr anchor="ctr">
            <a:noAutofit/>
          </a:bodyPr>
          <a:lstStyle/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manage: OS, applications, runtime, data, etc.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Provider manages: Physical servers, networking and storage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Services: EC2, VPC, EBS</a:t>
            </a:r>
          </a:p>
          <a:p>
            <a:pPr lvl="1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070BB-64E0-E276-80B1-338F96D3D700}"/>
              </a:ext>
            </a:extLst>
          </p:cNvPr>
          <p:cNvSpPr txBox="1"/>
          <p:nvPr/>
        </p:nvSpPr>
        <p:spPr>
          <a:xfrm>
            <a:off x="5489484" y="511659"/>
            <a:ext cx="62678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IaaS – Infrastructure as a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F69210-F059-7FC0-6CB5-C925FE648C54}"/>
              </a:ext>
            </a:extLst>
          </p:cNvPr>
          <p:cNvSpPr/>
          <p:nvPr/>
        </p:nvSpPr>
        <p:spPr>
          <a:xfrm>
            <a:off x="0" y="6358270"/>
            <a:ext cx="12191994" cy="53729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C5E673F-D637-00A2-1668-3D8A1990B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1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B002-9E10-0B43-1D3E-8592F501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3BE3A8D-E32F-3C46-4C2B-06D954E71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48" r="4437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75252-88EF-DFA3-07E6-B4D766ACB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208" y="1454598"/>
            <a:ext cx="5610443" cy="3803202"/>
          </a:xfrm>
        </p:spPr>
        <p:txBody>
          <a:bodyPr anchor="ctr">
            <a:noAutofit/>
          </a:bodyPr>
          <a:lstStyle/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manage: Application and data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Provider manages: OS, runtime, servers, scaling, patching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Services: Elastic Beanstalk, RDS (managed DB)</a:t>
            </a:r>
            <a:endParaRPr lang="en-IN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3E49B-7806-4E7C-4D14-77A78F024044}"/>
              </a:ext>
            </a:extLst>
          </p:cNvPr>
          <p:cNvSpPr txBox="1"/>
          <p:nvPr/>
        </p:nvSpPr>
        <p:spPr>
          <a:xfrm>
            <a:off x="5489484" y="511659"/>
            <a:ext cx="62678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PaaS – Platform as a Service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03D99C-7657-949D-FF27-B748DAB1C9F0}"/>
              </a:ext>
            </a:extLst>
          </p:cNvPr>
          <p:cNvSpPr/>
          <p:nvPr/>
        </p:nvSpPr>
        <p:spPr>
          <a:xfrm>
            <a:off x="0" y="6358270"/>
            <a:ext cx="12191994" cy="53729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D371F351-4062-34F5-AF08-70F379F7D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0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6BE3-B85E-5B17-4EF8-395B923F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1DF9CB9-2021-E727-E503-02A27EB62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48" r="4437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FB8F-2D80-5609-1A2F-A972460FA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208" y="1454598"/>
            <a:ext cx="5610443" cy="3803202"/>
          </a:xfrm>
        </p:spPr>
        <p:txBody>
          <a:bodyPr anchor="ctr">
            <a:noAutofit/>
          </a:bodyPr>
          <a:lstStyle/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manage: Nothing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Provider manages: </a:t>
            </a:r>
            <a:r>
              <a:rPr lang="en-US" sz="2000" dirty="0"/>
              <a:t>Everything is managed by provider infrastructure, platform, app, updates.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Services: Gmail, Google Drive, Salesforce, Zoom, Office 365</a:t>
            </a:r>
            <a:endParaRPr lang="en-IN" sz="20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174F4-34AD-EA8A-7FE2-0D2C28B5DAA0}"/>
              </a:ext>
            </a:extLst>
          </p:cNvPr>
          <p:cNvSpPr txBox="1"/>
          <p:nvPr/>
        </p:nvSpPr>
        <p:spPr>
          <a:xfrm>
            <a:off x="5489484" y="511659"/>
            <a:ext cx="62678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SaaS – Software as a Service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B81D8-564C-AE9D-C646-6244C0237780}"/>
              </a:ext>
            </a:extLst>
          </p:cNvPr>
          <p:cNvSpPr/>
          <p:nvPr/>
        </p:nvSpPr>
        <p:spPr>
          <a:xfrm>
            <a:off x="0" y="6358270"/>
            <a:ext cx="12191994" cy="53729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Picture 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0BB32B0-1927-44F9-7077-31CEC0E69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5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D3F0DE-EB42-1AD6-DDF8-906CE19A7F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3463" y="523040"/>
          <a:ext cx="10905068" cy="581192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4375101">
                  <a:extLst>
                    <a:ext uri="{9D8B030D-6E8A-4147-A177-3AD203B41FA5}">
                      <a16:colId xmlns:a16="http://schemas.microsoft.com/office/drawing/2014/main" val="2674800525"/>
                    </a:ext>
                  </a:extLst>
                </a:gridCol>
                <a:gridCol w="1073889">
                  <a:extLst>
                    <a:ext uri="{9D8B030D-6E8A-4147-A177-3AD203B41FA5}">
                      <a16:colId xmlns:a16="http://schemas.microsoft.com/office/drawing/2014/main" val="289009429"/>
                    </a:ext>
                  </a:extLst>
                </a:gridCol>
                <a:gridCol w="1690577">
                  <a:extLst>
                    <a:ext uri="{9D8B030D-6E8A-4147-A177-3AD203B41FA5}">
                      <a16:colId xmlns:a16="http://schemas.microsoft.com/office/drawing/2014/main" val="2903473185"/>
                    </a:ext>
                  </a:extLst>
                </a:gridCol>
                <a:gridCol w="1903227">
                  <a:extLst>
                    <a:ext uri="{9D8B030D-6E8A-4147-A177-3AD203B41FA5}">
                      <a16:colId xmlns:a16="http://schemas.microsoft.com/office/drawing/2014/main" val="225575227"/>
                    </a:ext>
                  </a:extLst>
                </a:gridCol>
                <a:gridCol w="1862274">
                  <a:extLst>
                    <a:ext uri="{9D8B030D-6E8A-4147-A177-3AD203B41FA5}">
                      <a16:colId xmlns:a16="http://schemas.microsoft.com/office/drawing/2014/main" val="1642827726"/>
                    </a:ext>
                  </a:extLst>
                </a:gridCol>
              </a:tblGrid>
              <a:tr h="427222"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IN" sz="1800" b="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</a:rPr>
                      </a:br>
                      <a:r>
                        <a:rPr lang="en-IN" sz="1800" b="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</a:rPr>
                        <a:t> Own IT </a:t>
                      </a:r>
                      <a:endParaRPr lang="en-IN" sz="18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</a:rPr>
                        <a:t>  On Premises   </a:t>
                      </a:r>
                      <a:endParaRPr lang="en-IN" sz="18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</a:rPr>
                        <a:t>  IaaS</a:t>
                      </a:r>
                    </a:p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</a:rPr>
                        <a:t>(Infrastructure as a service)  </a:t>
                      </a:r>
                      <a:endParaRPr lang="en-IN" sz="18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</a:rPr>
                        <a:t>    PaaS</a:t>
                      </a:r>
                    </a:p>
                    <a:p>
                      <a:pPr algn="ctr">
                        <a:buNone/>
                      </a:pPr>
                      <a:r>
                        <a:rPr lang="en-IN" sz="1800" b="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</a:rPr>
                        <a:t>(Platform as a Service)</a:t>
                      </a:r>
                      <a:endParaRPr lang="en-IN" sz="18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  <a:ea typeface="+mn-ea"/>
                          <a:cs typeface="+mn-cs"/>
                        </a:rPr>
                        <a:t>SaaS</a:t>
                      </a:r>
                    </a:p>
                    <a:p>
                      <a:pPr algn="ctr"/>
                      <a:r>
                        <a:rPr lang="en-IN" sz="1800" b="0" kern="1200" cap="none" spc="0" dirty="0">
                          <a:solidFill>
                            <a:schemeClr val="bg1"/>
                          </a:solidFill>
                          <a:effectLst/>
                          <a:latin typeface="AmazonEmberBold"/>
                          <a:ea typeface="+mn-ea"/>
                          <a:cs typeface="+mn-cs"/>
                        </a:rPr>
                        <a:t>(Software as a service)</a:t>
                      </a: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756045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Data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967608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Application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023039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Runtime or software that runs the application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483418"/>
                  </a:ext>
                </a:extLst>
              </a:tr>
              <a:tr h="751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Middleware or software that monitors the application                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590718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Operating systems on which the application runs</a:t>
                      </a:r>
                      <a:endParaRPr lang="en-US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21723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Virtualization technology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648984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Server machines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311595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Storage devices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26673"/>
                  </a:ext>
                </a:extLst>
              </a:tr>
              <a:tr h="50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tx1"/>
                          </a:solidFill>
                          <a:effectLst/>
                          <a:latin typeface="AmazonEmberBold"/>
                        </a:rPr>
                        <a:t>Network appliances</a:t>
                      </a:r>
                      <a:endParaRPr lang="en-IN" sz="16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8188" marR="68476" marT="106299" marB="1062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</a:p>
                  </a:txBody>
                  <a:tcPr marL="138188" marR="68476" marT="106299" marB="10629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42655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F278DA2-07A3-BC7D-1C19-5DF4B628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72887"/>
            <a:ext cx="10515600" cy="50127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Cloud Computing Service Models Comparison Chart</a:t>
            </a:r>
            <a:endParaRPr lang="en-IN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5332B1-ADA6-2071-7557-903ED18130CD}"/>
              </a:ext>
            </a:extLst>
          </p:cNvPr>
          <p:cNvSpPr/>
          <p:nvPr/>
        </p:nvSpPr>
        <p:spPr>
          <a:xfrm>
            <a:off x="0" y="6432698"/>
            <a:ext cx="12191994" cy="46287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26F6A6F-003C-E88C-3DCD-79DB8962B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87052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8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472</Words>
  <Application>Microsoft Office PowerPoint</Application>
  <PresentationFormat>Widescreen</PresentationFormat>
  <Paragraphs>112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AmazonEmberBold</vt:lpstr>
      <vt:lpstr>Aptos</vt:lpstr>
      <vt:lpstr>Aptos Display</vt:lpstr>
      <vt:lpstr>Arial</vt:lpstr>
      <vt:lpstr>Calibri</vt:lpstr>
      <vt:lpstr>Office Theme</vt:lpstr>
      <vt:lpstr>Cloud Computing Models</vt:lpstr>
      <vt:lpstr>PowerPoint Presentation</vt:lpstr>
      <vt:lpstr>PowerPoint Presentation</vt:lpstr>
      <vt:lpstr>PowerPoint Presentation</vt:lpstr>
      <vt:lpstr>Cloud Computing Service Models Comparison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33</cp:revision>
  <dcterms:created xsi:type="dcterms:W3CDTF">2025-10-27T04:02:44Z</dcterms:created>
  <dcterms:modified xsi:type="dcterms:W3CDTF">2025-10-27T04:36:49Z</dcterms:modified>
</cp:coreProperties>
</file>