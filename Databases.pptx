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0" r:id="rId4"/>
    <p:sldId id="258" r:id="rId5"/>
    <p:sldId id="264"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758" autoAdjust="0"/>
  </p:normalViewPr>
  <p:slideViewPr>
    <p:cSldViewPr snapToGrid="0">
      <p:cViewPr varScale="1">
        <p:scale>
          <a:sx n="55" d="100"/>
          <a:sy n="55" d="100"/>
        </p:scale>
        <p:origin x="2718" y="66"/>
      </p:cViewPr>
      <p:guideLst/>
    </p:cSldViewPr>
  </p:slideViewPr>
  <p:notesTextViewPr>
    <p:cViewPr>
      <p:scale>
        <a:sx n="125" d="100"/>
        <a:sy n="125" d="100"/>
      </p:scale>
      <p:origin x="0" y="-22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91DE28-3C56-4EE3-AE67-E131015C5DE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69A8A19-9869-48B4-8A38-264723F34952}">
      <dgm:prSet/>
      <dgm:spPr/>
      <dgm:t>
        <a:bodyPr/>
        <a:lstStyle/>
        <a:p>
          <a:r>
            <a:rPr lang="en-US" b="1" dirty="0"/>
            <a:t>Automated Backups (point-in-time </a:t>
          </a:r>
          <a:r>
            <a:rPr lang="en-US" dirty="0"/>
            <a:t>recovery).</a:t>
          </a:r>
        </a:p>
      </dgm:t>
    </dgm:pt>
    <dgm:pt modelId="{36134E89-DB1A-4445-BE65-3498C28EDF42}" type="parTrans" cxnId="{404616A9-9905-4D88-8D33-DD900F722165}">
      <dgm:prSet/>
      <dgm:spPr/>
      <dgm:t>
        <a:bodyPr/>
        <a:lstStyle/>
        <a:p>
          <a:endParaRPr lang="en-US"/>
        </a:p>
      </dgm:t>
    </dgm:pt>
    <dgm:pt modelId="{7C6DB8D6-1B38-472A-BF38-80241903E839}" type="sibTrans" cxnId="{404616A9-9905-4D88-8D33-DD900F722165}">
      <dgm:prSet/>
      <dgm:spPr/>
      <dgm:t>
        <a:bodyPr/>
        <a:lstStyle/>
        <a:p>
          <a:endParaRPr lang="en-US"/>
        </a:p>
      </dgm:t>
    </dgm:pt>
    <dgm:pt modelId="{0A66DC67-8B49-4DB1-9247-32CE5A01E7A1}">
      <dgm:prSet/>
      <dgm:spPr/>
      <dgm:t>
        <a:bodyPr/>
        <a:lstStyle/>
        <a:p>
          <a:r>
            <a:rPr lang="en-US" b="1" dirty="0"/>
            <a:t>Multi-AZ Deployment</a:t>
          </a:r>
          <a:r>
            <a:rPr lang="en-US" dirty="0"/>
            <a:t> for HA.</a:t>
          </a:r>
        </a:p>
      </dgm:t>
    </dgm:pt>
    <dgm:pt modelId="{DDC03C5C-D552-4068-8390-3CD0BE21F2EA}" type="parTrans" cxnId="{008144EC-3179-46A4-9149-91DF89FE1152}">
      <dgm:prSet/>
      <dgm:spPr/>
      <dgm:t>
        <a:bodyPr/>
        <a:lstStyle/>
        <a:p>
          <a:endParaRPr lang="en-US"/>
        </a:p>
      </dgm:t>
    </dgm:pt>
    <dgm:pt modelId="{8F6259C1-91BB-4912-B9FF-A2D8E9379104}" type="sibTrans" cxnId="{008144EC-3179-46A4-9149-91DF89FE1152}">
      <dgm:prSet/>
      <dgm:spPr/>
      <dgm:t>
        <a:bodyPr/>
        <a:lstStyle/>
        <a:p>
          <a:endParaRPr lang="en-US"/>
        </a:p>
      </dgm:t>
    </dgm:pt>
    <dgm:pt modelId="{475298AB-2FAC-4E52-8D68-E74C8D269556}">
      <dgm:prSet/>
      <dgm:spPr/>
      <dgm:t>
        <a:bodyPr/>
        <a:lstStyle/>
        <a:p>
          <a:r>
            <a:rPr lang="en-US" b="1"/>
            <a:t>Read Replicas</a:t>
          </a:r>
          <a:r>
            <a:rPr lang="en-US"/>
            <a:t> for scaling reads.</a:t>
          </a:r>
        </a:p>
      </dgm:t>
    </dgm:pt>
    <dgm:pt modelId="{84D1C133-43D8-4EF9-B94A-D190B400E93C}" type="parTrans" cxnId="{9A994A64-379F-4E27-B620-70C04D88B9DB}">
      <dgm:prSet/>
      <dgm:spPr/>
      <dgm:t>
        <a:bodyPr/>
        <a:lstStyle/>
        <a:p>
          <a:endParaRPr lang="en-US"/>
        </a:p>
      </dgm:t>
    </dgm:pt>
    <dgm:pt modelId="{FEAD8088-0D1C-46F9-9B58-B89DADADA498}" type="sibTrans" cxnId="{9A994A64-379F-4E27-B620-70C04D88B9DB}">
      <dgm:prSet/>
      <dgm:spPr/>
      <dgm:t>
        <a:bodyPr/>
        <a:lstStyle/>
        <a:p>
          <a:endParaRPr lang="en-US"/>
        </a:p>
      </dgm:t>
    </dgm:pt>
    <dgm:pt modelId="{C5ECB9E6-B82E-4334-AAB9-7774F61E9DD1}">
      <dgm:prSet/>
      <dgm:spPr/>
      <dgm:t>
        <a:bodyPr/>
        <a:lstStyle/>
        <a:p>
          <a:r>
            <a:rPr lang="en-US" b="1"/>
            <a:t>Encryption</a:t>
          </a:r>
          <a:r>
            <a:rPr lang="en-US"/>
            <a:t> (at rest &amp; in transit).</a:t>
          </a:r>
        </a:p>
      </dgm:t>
    </dgm:pt>
    <dgm:pt modelId="{2D9E170D-06CF-478F-909A-9CD1E894085F}" type="parTrans" cxnId="{ECB31ECE-2A34-4E25-9603-FFF40F3E0C78}">
      <dgm:prSet/>
      <dgm:spPr/>
      <dgm:t>
        <a:bodyPr/>
        <a:lstStyle/>
        <a:p>
          <a:endParaRPr lang="en-US"/>
        </a:p>
      </dgm:t>
    </dgm:pt>
    <dgm:pt modelId="{2F992BB8-3F47-426B-8354-4205EF12D505}" type="sibTrans" cxnId="{ECB31ECE-2A34-4E25-9603-FFF40F3E0C78}">
      <dgm:prSet/>
      <dgm:spPr/>
      <dgm:t>
        <a:bodyPr/>
        <a:lstStyle/>
        <a:p>
          <a:endParaRPr lang="en-US"/>
        </a:p>
      </dgm:t>
    </dgm:pt>
    <dgm:pt modelId="{5BE0FD62-57F8-4191-BA2F-9EF9573BF6EC}">
      <dgm:prSet/>
      <dgm:spPr/>
      <dgm:t>
        <a:bodyPr/>
        <a:lstStyle/>
        <a:p>
          <a:r>
            <a:rPr lang="en-US" b="1"/>
            <a:t>Monitoring</a:t>
          </a:r>
          <a:r>
            <a:rPr lang="en-US"/>
            <a:t> with CloudWatch.</a:t>
          </a:r>
        </a:p>
      </dgm:t>
    </dgm:pt>
    <dgm:pt modelId="{D68E56E6-D48B-4F2C-A4AA-54DA4E827EC0}" type="parTrans" cxnId="{C93B3502-2799-4E98-A1DC-246DB1659C29}">
      <dgm:prSet/>
      <dgm:spPr/>
      <dgm:t>
        <a:bodyPr/>
        <a:lstStyle/>
        <a:p>
          <a:endParaRPr lang="en-US"/>
        </a:p>
      </dgm:t>
    </dgm:pt>
    <dgm:pt modelId="{FD02FE1A-9AC7-45A6-97B4-DD8EF85399A4}" type="sibTrans" cxnId="{C93B3502-2799-4E98-A1DC-246DB1659C29}">
      <dgm:prSet/>
      <dgm:spPr/>
      <dgm:t>
        <a:bodyPr/>
        <a:lstStyle/>
        <a:p>
          <a:endParaRPr lang="en-US"/>
        </a:p>
      </dgm:t>
    </dgm:pt>
    <dgm:pt modelId="{6DD041C9-331A-4F20-8A7B-36AD37C4B39C}" type="pres">
      <dgm:prSet presAssocID="{9F91DE28-3C56-4EE3-AE67-E131015C5DE2}" presName="root" presStyleCnt="0">
        <dgm:presLayoutVars>
          <dgm:dir/>
          <dgm:resizeHandles val="exact"/>
        </dgm:presLayoutVars>
      </dgm:prSet>
      <dgm:spPr/>
    </dgm:pt>
    <dgm:pt modelId="{2B6E91BF-AEDD-41FE-AC55-E9B5BE4F6EBA}" type="pres">
      <dgm:prSet presAssocID="{169A8A19-9869-48B4-8A38-264723F34952}" presName="compNode" presStyleCnt="0"/>
      <dgm:spPr/>
    </dgm:pt>
    <dgm:pt modelId="{77E7FD88-B9E6-40CF-8C7A-F2CB4E6C3101}" type="pres">
      <dgm:prSet presAssocID="{169A8A19-9869-48B4-8A38-264723F34952}" presName="bgRect" presStyleLbl="bgShp" presStyleIdx="0" presStyleCnt="5"/>
      <dgm:spPr/>
    </dgm:pt>
    <dgm:pt modelId="{42396B55-D524-44CD-ABAE-D43F50A85133}" type="pres">
      <dgm:prSet presAssocID="{169A8A19-9869-48B4-8A38-264723F3495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7E703F8D-5401-4DF3-9D4F-A5884FC25A27}" type="pres">
      <dgm:prSet presAssocID="{169A8A19-9869-48B4-8A38-264723F34952}" presName="spaceRect" presStyleCnt="0"/>
      <dgm:spPr/>
    </dgm:pt>
    <dgm:pt modelId="{57DD9370-F43A-4E77-9CD8-F5387D33E807}" type="pres">
      <dgm:prSet presAssocID="{169A8A19-9869-48B4-8A38-264723F34952}" presName="parTx" presStyleLbl="revTx" presStyleIdx="0" presStyleCnt="5">
        <dgm:presLayoutVars>
          <dgm:chMax val="0"/>
          <dgm:chPref val="0"/>
        </dgm:presLayoutVars>
      </dgm:prSet>
      <dgm:spPr/>
    </dgm:pt>
    <dgm:pt modelId="{A2C859BE-8BC2-4751-98B4-9E6B40AC3035}" type="pres">
      <dgm:prSet presAssocID="{7C6DB8D6-1B38-472A-BF38-80241903E839}" presName="sibTrans" presStyleCnt="0"/>
      <dgm:spPr/>
    </dgm:pt>
    <dgm:pt modelId="{7064EFAC-96CF-4E67-9948-52A80406132E}" type="pres">
      <dgm:prSet presAssocID="{0A66DC67-8B49-4DB1-9247-32CE5A01E7A1}" presName="compNode" presStyleCnt="0"/>
      <dgm:spPr/>
    </dgm:pt>
    <dgm:pt modelId="{1902B477-8212-4B8E-9073-08C16F1F6E5C}" type="pres">
      <dgm:prSet presAssocID="{0A66DC67-8B49-4DB1-9247-32CE5A01E7A1}" presName="bgRect" presStyleLbl="bgShp" presStyleIdx="1" presStyleCnt="5"/>
      <dgm:spPr/>
    </dgm:pt>
    <dgm:pt modelId="{A97D9889-32F7-49B9-830F-75B7BAB234F3}" type="pres">
      <dgm:prSet presAssocID="{0A66DC67-8B49-4DB1-9247-32CE5A01E7A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83211111-456A-49AA-9E35-A93389B5971A}" type="pres">
      <dgm:prSet presAssocID="{0A66DC67-8B49-4DB1-9247-32CE5A01E7A1}" presName="spaceRect" presStyleCnt="0"/>
      <dgm:spPr/>
    </dgm:pt>
    <dgm:pt modelId="{69B11244-A13C-4C28-A71A-EAA0B623B370}" type="pres">
      <dgm:prSet presAssocID="{0A66DC67-8B49-4DB1-9247-32CE5A01E7A1}" presName="parTx" presStyleLbl="revTx" presStyleIdx="1" presStyleCnt="5">
        <dgm:presLayoutVars>
          <dgm:chMax val="0"/>
          <dgm:chPref val="0"/>
        </dgm:presLayoutVars>
      </dgm:prSet>
      <dgm:spPr/>
    </dgm:pt>
    <dgm:pt modelId="{B550F135-6C03-440B-8311-0A9D8D7C3186}" type="pres">
      <dgm:prSet presAssocID="{8F6259C1-91BB-4912-B9FF-A2D8E9379104}" presName="sibTrans" presStyleCnt="0"/>
      <dgm:spPr/>
    </dgm:pt>
    <dgm:pt modelId="{1BC92A9E-F058-4180-8B24-294A45578EB2}" type="pres">
      <dgm:prSet presAssocID="{475298AB-2FAC-4E52-8D68-E74C8D269556}" presName="compNode" presStyleCnt="0"/>
      <dgm:spPr/>
    </dgm:pt>
    <dgm:pt modelId="{DCCDE3B7-F111-4103-A877-F8559573BA31}" type="pres">
      <dgm:prSet presAssocID="{475298AB-2FAC-4E52-8D68-E74C8D269556}" presName="bgRect" presStyleLbl="bgShp" presStyleIdx="2" presStyleCnt="5"/>
      <dgm:spPr/>
    </dgm:pt>
    <dgm:pt modelId="{AC7424E8-39A0-45D0-9452-D3E3D2C18D66}" type="pres">
      <dgm:prSet presAssocID="{475298AB-2FAC-4E52-8D68-E74C8D26955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Book"/>
        </a:ext>
      </dgm:extLst>
    </dgm:pt>
    <dgm:pt modelId="{72C95BE6-0973-4D67-81D8-DE864C5F871A}" type="pres">
      <dgm:prSet presAssocID="{475298AB-2FAC-4E52-8D68-E74C8D269556}" presName="spaceRect" presStyleCnt="0"/>
      <dgm:spPr/>
    </dgm:pt>
    <dgm:pt modelId="{4CD3C8B1-7C8E-42DA-AFDD-9DF1C0E7E045}" type="pres">
      <dgm:prSet presAssocID="{475298AB-2FAC-4E52-8D68-E74C8D269556}" presName="parTx" presStyleLbl="revTx" presStyleIdx="2" presStyleCnt="5">
        <dgm:presLayoutVars>
          <dgm:chMax val="0"/>
          <dgm:chPref val="0"/>
        </dgm:presLayoutVars>
      </dgm:prSet>
      <dgm:spPr/>
    </dgm:pt>
    <dgm:pt modelId="{7D94A5A4-EE3C-4E80-872A-7F314912ECD9}" type="pres">
      <dgm:prSet presAssocID="{FEAD8088-0D1C-46F9-9B58-B89DADADA498}" presName="sibTrans" presStyleCnt="0"/>
      <dgm:spPr/>
    </dgm:pt>
    <dgm:pt modelId="{701138DD-B648-4D3B-BB75-E425044F9022}" type="pres">
      <dgm:prSet presAssocID="{C5ECB9E6-B82E-4334-AAB9-7774F61E9DD1}" presName="compNode" presStyleCnt="0"/>
      <dgm:spPr/>
    </dgm:pt>
    <dgm:pt modelId="{20672487-C698-47D4-8AAC-7CBD36AD71A3}" type="pres">
      <dgm:prSet presAssocID="{C5ECB9E6-B82E-4334-AAB9-7774F61E9DD1}" presName="bgRect" presStyleLbl="bgShp" presStyleIdx="3" presStyleCnt="5"/>
      <dgm:spPr/>
    </dgm:pt>
    <dgm:pt modelId="{348499E4-C2BD-44BC-9ACD-9FC1A5EECC1E}" type="pres">
      <dgm:prSet presAssocID="{C5ECB9E6-B82E-4334-AAB9-7774F61E9DD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afe"/>
        </a:ext>
      </dgm:extLst>
    </dgm:pt>
    <dgm:pt modelId="{27ED1440-5D83-4E79-9AAE-11CED59DAA49}" type="pres">
      <dgm:prSet presAssocID="{C5ECB9E6-B82E-4334-AAB9-7774F61E9DD1}" presName="spaceRect" presStyleCnt="0"/>
      <dgm:spPr/>
    </dgm:pt>
    <dgm:pt modelId="{E788D4FD-9A08-417D-B503-03D36FA061F8}" type="pres">
      <dgm:prSet presAssocID="{C5ECB9E6-B82E-4334-AAB9-7774F61E9DD1}" presName="parTx" presStyleLbl="revTx" presStyleIdx="3" presStyleCnt="5">
        <dgm:presLayoutVars>
          <dgm:chMax val="0"/>
          <dgm:chPref val="0"/>
        </dgm:presLayoutVars>
      </dgm:prSet>
      <dgm:spPr/>
    </dgm:pt>
    <dgm:pt modelId="{D5DC46D5-D4FB-40F7-A16A-98FB7DDEE2B0}" type="pres">
      <dgm:prSet presAssocID="{2F992BB8-3F47-426B-8354-4205EF12D505}" presName="sibTrans" presStyleCnt="0"/>
      <dgm:spPr/>
    </dgm:pt>
    <dgm:pt modelId="{F28ADB36-F384-4ECB-BEF2-4C4B87C9EB28}" type="pres">
      <dgm:prSet presAssocID="{5BE0FD62-57F8-4191-BA2F-9EF9573BF6EC}" presName="compNode" presStyleCnt="0"/>
      <dgm:spPr/>
    </dgm:pt>
    <dgm:pt modelId="{C76477E8-A018-4AEC-816A-6003BC343662}" type="pres">
      <dgm:prSet presAssocID="{5BE0FD62-57F8-4191-BA2F-9EF9573BF6EC}" presName="bgRect" presStyleLbl="bgShp" presStyleIdx="4" presStyleCnt="5"/>
      <dgm:spPr/>
    </dgm:pt>
    <dgm:pt modelId="{EC5164E9-D02E-4666-A210-CD0627DDAC47}" type="pres">
      <dgm:prSet presAssocID="{5BE0FD62-57F8-4191-BA2F-9EF9573BF6E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uge"/>
        </a:ext>
      </dgm:extLst>
    </dgm:pt>
    <dgm:pt modelId="{85B49EEE-004A-4D82-B5E0-86A9607C1CA9}" type="pres">
      <dgm:prSet presAssocID="{5BE0FD62-57F8-4191-BA2F-9EF9573BF6EC}" presName="spaceRect" presStyleCnt="0"/>
      <dgm:spPr/>
    </dgm:pt>
    <dgm:pt modelId="{8A187674-2934-4BCC-8598-7529E8842D9B}" type="pres">
      <dgm:prSet presAssocID="{5BE0FD62-57F8-4191-BA2F-9EF9573BF6EC}" presName="parTx" presStyleLbl="revTx" presStyleIdx="4" presStyleCnt="5">
        <dgm:presLayoutVars>
          <dgm:chMax val="0"/>
          <dgm:chPref val="0"/>
        </dgm:presLayoutVars>
      </dgm:prSet>
      <dgm:spPr/>
    </dgm:pt>
  </dgm:ptLst>
  <dgm:cxnLst>
    <dgm:cxn modelId="{C93B3502-2799-4E98-A1DC-246DB1659C29}" srcId="{9F91DE28-3C56-4EE3-AE67-E131015C5DE2}" destId="{5BE0FD62-57F8-4191-BA2F-9EF9573BF6EC}" srcOrd="4" destOrd="0" parTransId="{D68E56E6-D48B-4F2C-A4AA-54DA4E827EC0}" sibTransId="{FD02FE1A-9AC7-45A6-97B4-DD8EF85399A4}"/>
    <dgm:cxn modelId="{C0AFA82D-5E3B-490A-9102-D00AC4ECCFF1}" type="presOf" srcId="{5BE0FD62-57F8-4191-BA2F-9EF9573BF6EC}" destId="{8A187674-2934-4BCC-8598-7529E8842D9B}" srcOrd="0" destOrd="0" presId="urn:microsoft.com/office/officeart/2018/2/layout/IconVerticalSolidList"/>
    <dgm:cxn modelId="{9A994A64-379F-4E27-B620-70C04D88B9DB}" srcId="{9F91DE28-3C56-4EE3-AE67-E131015C5DE2}" destId="{475298AB-2FAC-4E52-8D68-E74C8D269556}" srcOrd="2" destOrd="0" parTransId="{84D1C133-43D8-4EF9-B94A-D190B400E93C}" sibTransId="{FEAD8088-0D1C-46F9-9B58-B89DADADA498}"/>
    <dgm:cxn modelId="{05F50C49-5A90-44CD-99B9-3D3D4A381BF8}" type="presOf" srcId="{0A66DC67-8B49-4DB1-9247-32CE5A01E7A1}" destId="{69B11244-A13C-4C28-A71A-EAA0B623B370}" srcOrd="0" destOrd="0" presId="urn:microsoft.com/office/officeart/2018/2/layout/IconVerticalSolidList"/>
    <dgm:cxn modelId="{D98FE580-F2C5-4027-B025-E159651C1BC2}" type="presOf" srcId="{169A8A19-9869-48B4-8A38-264723F34952}" destId="{57DD9370-F43A-4E77-9CD8-F5387D33E807}" srcOrd="0" destOrd="0" presId="urn:microsoft.com/office/officeart/2018/2/layout/IconVerticalSolidList"/>
    <dgm:cxn modelId="{4344D683-3144-4184-AE2E-7547624704BB}" type="presOf" srcId="{C5ECB9E6-B82E-4334-AAB9-7774F61E9DD1}" destId="{E788D4FD-9A08-417D-B503-03D36FA061F8}" srcOrd="0" destOrd="0" presId="urn:microsoft.com/office/officeart/2018/2/layout/IconVerticalSolidList"/>
    <dgm:cxn modelId="{2FB253A1-64AE-47DD-AC43-3CC7FD1567E3}" type="presOf" srcId="{9F91DE28-3C56-4EE3-AE67-E131015C5DE2}" destId="{6DD041C9-331A-4F20-8A7B-36AD37C4B39C}" srcOrd="0" destOrd="0" presId="urn:microsoft.com/office/officeart/2018/2/layout/IconVerticalSolidList"/>
    <dgm:cxn modelId="{D0185BA3-571C-4D04-B6D5-CE12DD5D79E2}" type="presOf" srcId="{475298AB-2FAC-4E52-8D68-E74C8D269556}" destId="{4CD3C8B1-7C8E-42DA-AFDD-9DF1C0E7E045}" srcOrd="0" destOrd="0" presId="urn:microsoft.com/office/officeart/2018/2/layout/IconVerticalSolidList"/>
    <dgm:cxn modelId="{404616A9-9905-4D88-8D33-DD900F722165}" srcId="{9F91DE28-3C56-4EE3-AE67-E131015C5DE2}" destId="{169A8A19-9869-48B4-8A38-264723F34952}" srcOrd="0" destOrd="0" parTransId="{36134E89-DB1A-4445-BE65-3498C28EDF42}" sibTransId="{7C6DB8D6-1B38-472A-BF38-80241903E839}"/>
    <dgm:cxn modelId="{ECB31ECE-2A34-4E25-9603-FFF40F3E0C78}" srcId="{9F91DE28-3C56-4EE3-AE67-E131015C5DE2}" destId="{C5ECB9E6-B82E-4334-AAB9-7774F61E9DD1}" srcOrd="3" destOrd="0" parTransId="{2D9E170D-06CF-478F-909A-9CD1E894085F}" sibTransId="{2F992BB8-3F47-426B-8354-4205EF12D505}"/>
    <dgm:cxn modelId="{008144EC-3179-46A4-9149-91DF89FE1152}" srcId="{9F91DE28-3C56-4EE3-AE67-E131015C5DE2}" destId="{0A66DC67-8B49-4DB1-9247-32CE5A01E7A1}" srcOrd="1" destOrd="0" parTransId="{DDC03C5C-D552-4068-8390-3CD0BE21F2EA}" sibTransId="{8F6259C1-91BB-4912-B9FF-A2D8E9379104}"/>
    <dgm:cxn modelId="{96067D3A-3BF1-4D96-BC4B-7884A602E4EA}" type="presParOf" srcId="{6DD041C9-331A-4F20-8A7B-36AD37C4B39C}" destId="{2B6E91BF-AEDD-41FE-AC55-E9B5BE4F6EBA}" srcOrd="0" destOrd="0" presId="urn:microsoft.com/office/officeart/2018/2/layout/IconVerticalSolidList"/>
    <dgm:cxn modelId="{E7E6DB99-8AF3-48FA-A785-D041F20AF88C}" type="presParOf" srcId="{2B6E91BF-AEDD-41FE-AC55-E9B5BE4F6EBA}" destId="{77E7FD88-B9E6-40CF-8C7A-F2CB4E6C3101}" srcOrd="0" destOrd="0" presId="urn:microsoft.com/office/officeart/2018/2/layout/IconVerticalSolidList"/>
    <dgm:cxn modelId="{93B75362-60F4-47CF-AD79-83887C939FE1}" type="presParOf" srcId="{2B6E91BF-AEDD-41FE-AC55-E9B5BE4F6EBA}" destId="{42396B55-D524-44CD-ABAE-D43F50A85133}" srcOrd="1" destOrd="0" presId="urn:microsoft.com/office/officeart/2018/2/layout/IconVerticalSolidList"/>
    <dgm:cxn modelId="{98B60160-7804-426E-9630-13E8753F899A}" type="presParOf" srcId="{2B6E91BF-AEDD-41FE-AC55-E9B5BE4F6EBA}" destId="{7E703F8D-5401-4DF3-9D4F-A5884FC25A27}" srcOrd="2" destOrd="0" presId="urn:microsoft.com/office/officeart/2018/2/layout/IconVerticalSolidList"/>
    <dgm:cxn modelId="{9AE7D07D-7283-4F88-97CB-05485CDD76AF}" type="presParOf" srcId="{2B6E91BF-AEDD-41FE-AC55-E9B5BE4F6EBA}" destId="{57DD9370-F43A-4E77-9CD8-F5387D33E807}" srcOrd="3" destOrd="0" presId="urn:microsoft.com/office/officeart/2018/2/layout/IconVerticalSolidList"/>
    <dgm:cxn modelId="{B7E86967-C4AF-4A22-AEBE-E4976EF3EEFE}" type="presParOf" srcId="{6DD041C9-331A-4F20-8A7B-36AD37C4B39C}" destId="{A2C859BE-8BC2-4751-98B4-9E6B40AC3035}" srcOrd="1" destOrd="0" presId="urn:microsoft.com/office/officeart/2018/2/layout/IconVerticalSolidList"/>
    <dgm:cxn modelId="{720C2B46-4B88-4E3A-B21D-9FDB6ABCDD04}" type="presParOf" srcId="{6DD041C9-331A-4F20-8A7B-36AD37C4B39C}" destId="{7064EFAC-96CF-4E67-9948-52A80406132E}" srcOrd="2" destOrd="0" presId="urn:microsoft.com/office/officeart/2018/2/layout/IconVerticalSolidList"/>
    <dgm:cxn modelId="{BC5223C5-3B6E-4E13-9A6F-FA7A4C831984}" type="presParOf" srcId="{7064EFAC-96CF-4E67-9948-52A80406132E}" destId="{1902B477-8212-4B8E-9073-08C16F1F6E5C}" srcOrd="0" destOrd="0" presId="urn:microsoft.com/office/officeart/2018/2/layout/IconVerticalSolidList"/>
    <dgm:cxn modelId="{82D44F67-6A60-48DA-A0A5-15630BA70985}" type="presParOf" srcId="{7064EFAC-96CF-4E67-9948-52A80406132E}" destId="{A97D9889-32F7-49B9-830F-75B7BAB234F3}" srcOrd="1" destOrd="0" presId="urn:microsoft.com/office/officeart/2018/2/layout/IconVerticalSolidList"/>
    <dgm:cxn modelId="{8B5F0118-96BD-4065-9039-0E3993A47C46}" type="presParOf" srcId="{7064EFAC-96CF-4E67-9948-52A80406132E}" destId="{83211111-456A-49AA-9E35-A93389B5971A}" srcOrd="2" destOrd="0" presId="urn:microsoft.com/office/officeart/2018/2/layout/IconVerticalSolidList"/>
    <dgm:cxn modelId="{F5DE6054-897D-471A-AFF1-D07E25F7EE6E}" type="presParOf" srcId="{7064EFAC-96CF-4E67-9948-52A80406132E}" destId="{69B11244-A13C-4C28-A71A-EAA0B623B370}" srcOrd="3" destOrd="0" presId="urn:microsoft.com/office/officeart/2018/2/layout/IconVerticalSolidList"/>
    <dgm:cxn modelId="{304EAD79-BC49-4E95-80C5-7116E63EAEE8}" type="presParOf" srcId="{6DD041C9-331A-4F20-8A7B-36AD37C4B39C}" destId="{B550F135-6C03-440B-8311-0A9D8D7C3186}" srcOrd="3" destOrd="0" presId="urn:microsoft.com/office/officeart/2018/2/layout/IconVerticalSolidList"/>
    <dgm:cxn modelId="{E0B59EF3-6B13-4920-864D-C74D78782078}" type="presParOf" srcId="{6DD041C9-331A-4F20-8A7B-36AD37C4B39C}" destId="{1BC92A9E-F058-4180-8B24-294A45578EB2}" srcOrd="4" destOrd="0" presId="urn:microsoft.com/office/officeart/2018/2/layout/IconVerticalSolidList"/>
    <dgm:cxn modelId="{FCFCC775-6C44-4A18-A8BF-DA03B36501F6}" type="presParOf" srcId="{1BC92A9E-F058-4180-8B24-294A45578EB2}" destId="{DCCDE3B7-F111-4103-A877-F8559573BA31}" srcOrd="0" destOrd="0" presId="urn:microsoft.com/office/officeart/2018/2/layout/IconVerticalSolidList"/>
    <dgm:cxn modelId="{E9A6F639-9913-4364-9CFF-A3A22B2949C5}" type="presParOf" srcId="{1BC92A9E-F058-4180-8B24-294A45578EB2}" destId="{AC7424E8-39A0-45D0-9452-D3E3D2C18D66}" srcOrd="1" destOrd="0" presId="urn:microsoft.com/office/officeart/2018/2/layout/IconVerticalSolidList"/>
    <dgm:cxn modelId="{999E88FA-B0FE-4197-9BB8-4F80B2F1F008}" type="presParOf" srcId="{1BC92A9E-F058-4180-8B24-294A45578EB2}" destId="{72C95BE6-0973-4D67-81D8-DE864C5F871A}" srcOrd="2" destOrd="0" presId="urn:microsoft.com/office/officeart/2018/2/layout/IconVerticalSolidList"/>
    <dgm:cxn modelId="{6C9DCC9C-530C-4A36-9721-2A57E8DE87DB}" type="presParOf" srcId="{1BC92A9E-F058-4180-8B24-294A45578EB2}" destId="{4CD3C8B1-7C8E-42DA-AFDD-9DF1C0E7E045}" srcOrd="3" destOrd="0" presId="urn:microsoft.com/office/officeart/2018/2/layout/IconVerticalSolidList"/>
    <dgm:cxn modelId="{74FBDE55-C0A8-4064-AF7D-4C04B85E707F}" type="presParOf" srcId="{6DD041C9-331A-4F20-8A7B-36AD37C4B39C}" destId="{7D94A5A4-EE3C-4E80-872A-7F314912ECD9}" srcOrd="5" destOrd="0" presId="urn:microsoft.com/office/officeart/2018/2/layout/IconVerticalSolidList"/>
    <dgm:cxn modelId="{C04C74E5-AAAA-43DB-A689-C5DB45EC3331}" type="presParOf" srcId="{6DD041C9-331A-4F20-8A7B-36AD37C4B39C}" destId="{701138DD-B648-4D3B-BB75-E425044F9022}" srcOrd="6" destOrd="0" presId="urn:microsoft.com/office/officeart/2018/2/layout/IconVerticalSolidList"/>
    <dgm:cxn modelId="{76A42ECF-38AD-4A61-A5EF-9D9E78360FC7}" type="presParOf" srcId="{701138DD-B648-4D3B-BB75-E425044F9022}" destId="{20672487-C698-47D4-8AAC-7CBD36AD71A3}" srcOrd="0" destOrd="0" presId="urn:microsoft.com/office/officeart/2018/2/layout/IconVerticalSolidList"/>
    <dgm:cxn modelId="{C8067965-7A67-4652-AEB5-69EF1A960522}" type="presParOf" srcId="{701138DD-B648-4D3B-BB75-E425044F9022}" destId="{348499E4-C2BD-44BC-9ACD-9FC1A5EECC1E}" srcOrd="1" destOrd="0" presId="urn:microsoft.com/office/officeart/2018/2/layout/IconVerticalSolidList"/>
    <dgm:cxn modelId="{B65E3AD7-EF67-45CC-A1E9-638D3E062CFD}" type="presParOf" srcId="{701138DD-B648-4D3B-BB75-E425044F9022}" destId="{27ED1440-5D83-4E79-9AAE-11CED59DAA49}" srcOrd="2" destOrd="0" presId="urn:microsoft.com/office/officeart/2018/2/layout/IconVerticalSolidList"/>
    <dgm:cxn modelId="{42F57A08-C929-480B-BD70-8D501C4A5C7A}" type="presParOf" srcId="{701138DD-B648-4D3B-BB75-E425044F9022}" destId="{E788D4FD-9A08-417D-B503-03D36FA061F8}" srcOrd="3" destOrd="0" presId="urn:microsoft.com/office/officeart/2018/2/layout/IconVerticalSolidList"/>
    <dgm:cxn modelId="{5C2841FD-FAFC-4C30-AFFE-D1923D9E61AC}" type="presParOf" srcId="{6DD041C9-331A-4F20-8A7B-36AD37C4B39C}" destId="{D5DC46D5-D4FB-40F7-A16A-98FB7DDEE2B0}" srcOrd="7" destOrd="0" presId="urn:microsoft.com/office/officeart/2018/2/layout/IconVerticalSolidList"/>
    <dgm:cxn modelId="{F9F0D470-BF50-4953-9738-C0D8DBC2AE8A}" type="presParOf" srcId="{6DD041C9-331A-4F20-8A7B-36AD37C4B39C}" destId="{F28ADB36-F384-4ECB-BEF2-4C4B87C9EB28}" srcOrd="8" destOrd="0" presId="urn:microsoft.com/office/officeart/2018/2/layout/IconVerticalSolidList"/>
    <dgm:cxn modelId="{6D353D65-9A77-4AAE-8FA7-0F8653DDDB8C}" type="presParOf" srcId="{F28ADB36-F384-4ECB-BEF2-4C4B87C9EB28}" destId="{C76477E8-A018-4AEC-816A-6003BC343662}" srcOrd="0" destOrd="0" presId="urn:microsoft.com/office/officeart/2018/2/layout/IconVerticalSolidList"/>
    <dgm:cxn modelId="{A19A7314-57AA-4002-9574-BA10DBDF6E98}" type="presParOf" srcId="{F28ADB36-F384-4ECB-BEF2-4C4B87C9EB28}" destId="{EC5164E9-D02E-4666-A210-CD0627DDAC47}" srcOrd="1" destOrd="0" presId="urn:microsoft.com/office/officeart/2018/2/layout/IconVerticalSolidList"/>
    <dgm:cxn modelId="{3C1C462D-58B4-4C19-BB1A-5AEDB9CC065B}" type="presParOf" srcId="{F28ADB36-F384-4ECB-BEF2-4C4B87C9EB28}" destId="{85B49EEE-004A-4D82-B5E0-86A9607C1CA9}" srcOrd="2" destOrd="0" presId="urn:microsoft.com/office/officeart/2018/2/layout/IconVerticalSolidList"/>
    <dgm:cxn modelId="{0283C62B-C72F-43D8-BB1B-663435298FE2}" type="presParOf" srcId="{F28ADB36-F384-4ECB-BEF2-4C4B87C9EB28}" destId="{8A187674-2934-4BCC-8598-7529E8842D9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F1167F-9156-412B-A96D-A0365639302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0F076E5-FF0F-43F5-83B2-0C7DC82EA12F}">
      <dgm:prSet/>
      <dgm:spPr/>
      <dgm:t>
        <a:bodyPr/>
        <a:lstStyle/>
        <a:p>
          <a:r>
            <a:rPr lang="en-US" i="0" baseline="0"/>
            <a:t>Fully managed NoSQL database service</a:t>
          </a:r>
          <a:endParaRPr lang="en-US"/>
        </a:p>
      </dgm:t>
    </dgm:pt>
    <dgm:pt modelId="{10F01D64-E2A4-4F80-B840-900B982287C4}" type="parTrans" cxnId="{246C64C6-B5E3-42EA-A12E-6FDAD65076B9}">
      <dgm:prSet/>
      <dgm:spPr/>
      <dgm:t>
        <a:bodyPr/>
        <a:lstStyle/>
        <a:p>
          <a:endParaRPr lang="en-US"/>
        </a:p>
      </dgm:t>
    </dgm:pt>
    <dgm:pt modelId="{12E47726-2839-470D-80A8-6ED30EBAE798}" type="sibTrans" cxnId="{246C64C6-B5E3-42EA-A12E-6FDAD65076B9}">
      <dgm:prSet/>
      <dgm:spPr/>
      <dgm:t>
        <a:bodyPr/>
        <a:lstStyle/>
        <a:p>
          <a:endParaRPr lang="en-US"/>
        </a:p>
      </dgm:t>
    </dgm:pt>
    <dgm:pt modelId="{662AAED0-F286-44BC-AF3C-D8ABA73983C5}">
      <dgm:prSet/>
      <dgm:spPr/>
      <dgm:t>
        <a:bodyPr/>
        <a:lstStyle/>
        <a:p>
          <a:r>
            <a:rPr lang="en-US" i="0" baseline="0"/>
            <a:t>Key-Value &amp; Document data model</a:t>
          </a:r>
          <a:endParaRPr lang="en-US"/>
        </a:p>
      </dgm:t>
    </dgm:pt>
    <dgm:pt modelId="{630B39DF-0E97-42D8-BB61-0682D373CDDA}" type="parTrans" cxnId="{071C5485-F167-4FF4-A4E0-32580AB17799}">
      <dgm:prSet/>
      <dgm:spPr/>
      <dgm:t>
        <a:bodyPr/>
        <a:lstStyle/>
        <a:p>
          <a:endParaRPr lang="en-US"/>
        </a:p>
      </dgm:t>
    </dgm:pt>
    <dgm:pt modelId="{CA93D29F-89F0-44B9-943B-057DA681D34A}" type="sibTrans" cxnId="{071C5485-F167-4FF4-A4E0-32580AB17799}">
      <dgm:prSet/>
      <dgm:spPr/>
      <dgm:t>
        <a:bodyPr/>
        <a:lstStyle/>
        <a:p>
          <a:endParaRPr lang="en-US"/>
        </a:p>
      </dgm:t>
    </dgm:pt>
    <dgm:pt modelId="{EBDABC7D-D382-480E-90F9-906DC40EBC27}">
      <dgm:prSet/>
      <dgm:spPr/>
      <dgm:t>
        <a:bodyPr/>
        <a:lstStyle/>
        <a:p>
          <a:r>
            <a:rPr lang="en-US" i="0" baseline="0"/>
            <a:t>Serverless – no infrastructure management</a:t>
          </a:r>
          <a:endParaRPr lang="en-US"/>
        </a:p>
      </dgm:t>
    </dgm:pt>
    <dgm:pt modelId="{613FE41D-D587-4866-BB7E-306A0349C783}" type="parTrans" cxnId="{301DBDF1-7895-4EFE-9022-C910247CC4B4}">
      <dgm:prSet/>
      <dgm:spPr/>
      <dgm:t>
        <a:bodyPr/>
        <a:lstStyle/>
        <a:p>
          <a:endParaRPr lang="en-US"/>
        </a:p>
      </dgm:t>
    </dgm:pt>
    <dgm:pt modelId="{8218D982-F9C2-4CF8-88B4-D8CF31631C33}" type="sibTrans" cxnId="{301DBDF1-7895-4EFE-9022-C910247CC4B4}">
      <dgm:prSet/>
      <dgm:spPr/>
      <dgm:t>
        <a:bodyPr/>
        <a:lstStyle/>
        <a:p>
          <a:endParaRPr lang="en-US"/>
        </a:p>
      </dgm:t>
    </dgm:pt>
    <dgm:pt modelId="{10C163FA-C0A6-4CD6-9FE5-9005F181AF50}">
      <dgm:prSet/>
      <dgm:spPr/>
      <dgm:t>
        <a:bodyPr/>
        <a:lstStyle/>
        <a:p>
          <a:r>
            <a:rPr lang="en-US" i="0" baseline="0"/>
            <a:t>Scales to millions of requests per second</a:t>
          </a:r>
          <a:endParaRPr lang="en-US"/>
        </a:p>
      </dgm:t>
    </dgm:pt>
    <dgm:pt modelId="{704BD21F-DA39-4C5C-99DB-4E4892DF51AE}" type="parTrans" cxnId="{5543AF94-CFD4-4686-8450-8D7A490B518A}">
      <dgm:prSet/>
      <dgm:spPr/>
      <dgm:t>
        <a:bodyPr/>
        <a:lstStyle/>
        <a:p>
          <a:endParaRPr lang="en-US"/>
        </a:p>
      </dgm:t>
    </dgm:pt>
    <dgm:pt modelId="{6235351B-6A72-42E0-8A7A-DAE34178CA39}" type="sibTrans" cxnId="{5543AF94-CFD4-4686-8450-8D7A490B518A}">
      <dgm:prSet/>
      <dgm:spPr/>
      <dgm:t>
        <a:bodyPr/>
        <a:lstStyle/>
        <a:p>
          <a:endParaRPr lang="en-US"/>
        </a:p>
      </dgm:t>
    </dgm:pt>
    <dgm:pt modelId="{40B8CE3B-3593-41F9-BF22-71E3BB8E01C1}">
      <dgm:prSet/>
      <dgm:spPr/>
      <dgm:t>
        <a:bodyPr/>
        <a:lstStyle/>
        <a:p>
          <a:r>
            <a:rPr lang="en-US" i="0" baseline="0"/>
            <a:t>Low latency (single-digit ms)</a:t>
          </a:r>
          <a:endParaRPr lang="en-US"/>
        </a:p>
      </dgm:t>
    </dgm:pt>
    <dgm:pt modelId="{60620FD3-C5AB-4B36-9B8C-A5F3CEA6E512}" type="parTrans" cxnId="{F1075179-EE12-46C1-BA5E-AA5C2F7C53CD}">
      <dgm:prSet/>
      <dgm:spPr/>
      <dgm:t>
        <a:bodyPr/>
        <a:lstStyle/>
        <a:p>
          <a:endParaRPr lang="en-US"/>
        </a:p>
      </dgm:t>
    </dgm:pt>
    <dgm:pt modelId="{702A9265-A01A-4046-A284-AAC867FE853B}" type="sibTrans" cxnId="{F1075179-EE12-46C1-BA5E-AA5C2F7C53CD}">
      <dgm:prSet/>
      <dgm:spPr/>
      <dgm:t>
        <a:bodyPr/>
        <a:lstStyle/>
        <a:p>
          <a:endParaRPr lang="en-US"/>
        </a:p>
      </dgm:t>
    </dgm:pt>
    <dgm:pt modelId="{905DFC83-2A6A-45BF-88E6-A44291948EA2}">
      <dgm:prSet/>
      <dgm:spPr/>
      <dgm:t>
        <a:bodyPr/>
        <a:lstStyle/>
        <a:p>
          <a:r>
            <a:rPr lang="en-US" i="0" baseline="0"/>
            <a:t>Built-in replication across AZs for HA</a:t>
          </a:r>
          <a:endParaRPr lang="en-US"/>
        </a:p>
      </dgm:t>
    </dgm:pt>
    <dgm:pt modelId="{524AF413-8464-4910-BC4A-702C2541301B}" type="parTrans" cxnId="{817C402A-15CA-4A3F-804D-4C3970E695CA}">
      <dgm:prSet/>
      <dgm:spPr/>
      <dgm:t>
        <a:bodyPr/>
        <a:lstStyle/>
        <a:p>
          <a:endParaRPr lang="en-US"/>
        </a:p>
      </dgm:t>
    </dgm:pt>
    <dgm:pt modelId="{C3B3A6F4-D931-4654-9980-374C9A027DB9}" type="sibTrans" cxnId="{817C402A-15CA-4A3F-804D-4C3970E695CA}">
      <dgm:prSet/>
      <dgm:spPr/>
      <dgm:t>
        <a:bodyPr/>
        <a:lstStyle/>
        <a:p>
          <a:endParaRPr lang="en-US"/>
        </a:p>
      </dgm:t>
    </dgm:pt>
    <dgm:pt modelId="{0562DB95-C8DF-4801-9A3E-6307A134FAE1}">
      <dgm:prSet/>
      <dgm:spPr/>
      <dgm:t>
        <a:bodyPr/>
        <a:lstStyle/>
        <a:p>
          <a:r>
            <a:rPr lang="en-US" i="0" baseline="0"/>
            <a:t>Supports On-Demand &amp; Provisioned capacity modes</a:t>
          </a:r>
          <a:endParaRPr lang="en-US"/>
        </a:p>
      </dgm:t>
    </dgm:pt>
    <dgm:pt modelId="{E88B3CFA-4ADF-4B19-AEE9-F086AAD0A697}" type="parTrans" cxnId="{ABEBCEED-13DB-4E1B-9A00-F91602155E6F}">
      <dgm:prSet/>
      <dgm:spPr/>
      <dgm:t>
        <a:bodyPr/>
        <a:lstStyle/>
        <a:p>
          <a:endParaRPr lang="en-US"/>
        </a:p>
      </dgm:t>
    </dgm:pt>
    <dgm:pt modelId="{21557ECC-899C-478E-9B3A-D1DEFA71D940}" type="sibTrans" cxnId="{ABEBCEED-13DB-4E1B-9A00-F91602155E6F}">
      <dgm:prSet/>
      <dgm:spPr/>
      <dgm:t>
        <a:bodyPr/>
        <a:lstStyle/>
        <a:p>
          <a:endParaRPr lang="en-US"/>
        </a:p>
      </dgm:t>
    </dgm:pt>
    <dgm:pt modelId="{18D21300-E1F6-468F-9426-8A7D3A126EF2}">
      <dgm:prSet/>
      <dgm:spPr/>
      <dgm:t>
        <a:bodyPr/>
        <a:lstStyle/>
        <a:p>
          <a:r>
            <a:rPr lang="en-US" i="0" baseline="0"/>
            <a:t>Integrated with IAM, Streams, Lambda</a:t>
          </a:r>
          <a:endParaRPr lang="en-US"/>
        </a:p>
      </dgm:t>
    </dgm:pt>
    <dgm:pt modelId="{31CC79B7-2A29-4B18-A1D6-1D0940C1F830}" type="sibTrans" cxnId="{193680C4-88AC-42F2-854C-C12C7DCFD198}">
      <dgm:prSet/>
      <dgm:spPr/>
      <dgm:t>
        <a:bodyPr/>
        <a:lstStyle/>
        <a:p>
          <a:endParaRPr lang="en-US"/>
        </a:p>
      </dgm:t>
    </dgm:pt>
    <dgm:pt modelId="{BE88C186-49C2-4B2C-A6A4-290FCC5EDD29}" type="parTrans" cxnId="{193680C4-88AC-42F2-854C-C12C7DCFD198}">
      <dgm:prSet/>
      <dgm:spPr/>
      <dgm:t>
        <a:bodyPr/>
        <a:lstStyle/>
        <a:p>
          <a:endParaRPr lang="en-US"/>
        </a:p>
      </dgm:t>
    </dgm:pt>
    <dgm:pt modelId="{B98C275D-F439-464D-9B6E-EF6A92838DDA}" type="pres">
      <dgm:prSet presAssocID="{EFF1167F-9156-412B-A96D-A03656393028}" presName="linear" presStyleCnt="0">
        <dgm:presLayoutVars>
          <dgm:animLvl val="lvl"/>
          <dgm:resizeHandles val="exact"/>
        </dgm:presLayoutVars>
      </dgm:prSet>
      <dgm:spPr/>
    </dgm:pt>
    <dgm:pt modelId="{02D27B60-B76F-47C7-A51A-12B3755173BB}" type="pres">
      <dgm:prSet presAssocID="{30F076E5-FF0F-43F5-83B2-0C7DC82EA12F}" presName="parentText" presStyleLbl="node1" presStyleIdx="0" presStyleCnt="8">
        <dgm:presLayoutVars>
          <dgm:chMax val="0"/>
          <dgm:bulletEnabled val="1"/>
        </dgm:presLayoutVars>
      </dgm:prSet>
      <dgm:spPr/>
    </dgm:pt>
    <dgm:pt modelId="{E9E170E9-F891-47E8-B82B-DE5485949FAF}" type="pres">
      <dgm:prSet presAssocID="{12E47726-2839-470D-80A8-6ED30EBAE798}" presName="spacer" presStyleCnt="0"/>
      <dgm:spPr/>
    </dgm:pt>
    <dgm:pt modelId="{CCB0718D-EB50-4234-BE80-F501830BBD17}" type="pres">
      <dgm:prSet presAssocID="{662AAED0-F286-44BC-AF3C-D8ABA73983C5}" presName="parentText" presStyleLbl="node1" presStyleIdx="1" presStyleCnt="8">
        <dgm:presLayoutVars>
          <dgm:chMax val="0"/>
          <dgm:bulletEnabled val="1"/>
        </dgm:presLayoutVars>
      </dgm:prSet>
      <dgm:spPr/>
    </dgm:pt>
    <dgm:pt modelId="{223C48D8-DB89-4ECA-9801-78FA89C3685B}" type="pres">
      <dgm:prSet presAssocID="{CA93D29F-89F0-44B9-943B-057DA681D34A}" presName="spacer" presStyleCnt="0"/>
      <dgm:spPr/>
    </dgm:pt>
    <dgm:pt modelId="{2E27E2A8-B5CC-46D7-AAB8-5253FE150C47}" type="pres">
      <dgm:prSet presAssocID="{EBDABC7D-D382-480E-90F9-906DC40EBC27}" presName="parentText" presStyleLbl="node1" presStyleIdx="2" presStyleCnt="8">
        <dgm:presLayoutVars>
          <dgm:chMax val="0"/>
          <dgm:bulletEnabled val="1"/>
        </dgm:presLayoutVars>
      </dgm:prSet>
      <dgm:spPr/>
    </dgm:pt>
    <dgm:pt modelId="{7A39F3C9-73E5-447C-8B12-DA37B4AE7380}" type="pres">
      <dgm:prSet presAssocID="{8218D982-F9C2-4CF8-88B4-D8CF31631C33}" presName="spacer" presStyleCnt="0"/>
      <dgm:spPr/>
    </dgm:pt>
    <dgm:pt modelId="{D0C5DB19-1117-4FBB-9A42-6C74A55E8E8D}" type="pres">
      <dgm:prSet presAssocID="{10C163FA-C0A6-4CD6-9FE5-9005F181AF50}" presName="parentText" presStyleLbl="node1" presStyleIdx="3" presStyleCnt="8">
        <dgm:presLayoutVars>
          <dgm:chMax val="0"/>
          <dgm:bulletEnabled val="1"/>
        </dgm:presLayoutVars>
      </dgm:prSet>
      <dgm:spPr/>
    </dgm:pt>
    <dgm:pt modelId="{FD2C8594-88BD-45D5-8745-30F6D7C75A40}" type="pres">
      <dgm:prSet presAssocID="{6235351B-6A72-42E0-8A7A-DAE34178CA39}" presName="spacer" presStyleCnt="0"/>
      <dgm:spPr/>
    </dgm:pt>
    <dgm:pt modelId="{9EE86077-0AB9-450C-BA89-77E3AC28CE93}" type="pres">
      <dgm:prSet presAssocID="{40B8CE3B-3593-41F9-BF22-71E3BB8E01C1}" presName="parentText" presStyleLbl="node1" presStyleIdx="4" presStyleCnt="8">
        <dgm:presLayoutVars>
          <dgm:chMax val="0"/>
          <dgm:bulletEnabled val="1"/>
        </dgm:presLayoutVars>
      </dgm:prSet>
      <dgm:spPr/>
    </dgm:pt>
    <dgm:pt modelId="{FE7DD311-FD32-4450-B500-E4307B97AEAD}" type="pres">
      <dgm:prSet presAssocID="{702A9265-A01A-4046-A284-AAC867FE853B}" presName="spacer" presStyleCnt="0"/>
      <dgm:spPr/>
    </dgm:pt>
    <dgm:pt modelId="{8467877B-41D5-4D5E-B1E8-FAC2832FE1DE}" type="pres">
      <dgm:prSet presAssocID="{905DFC83-2A6A-45BF-88E6-A44291948EA2}" presName="parentText" presStyleLbl="node1" presStyleIdx="5" presStyleCnt="8">
        <dgm:presLayoutVars>
          <dgm:chMax val="0"/>
          <dgm:bulletEnabled val="1"/>
        </dgm:presLayoutVars>
      </dgm:prSet>
      <dgm:spPr/>
    </dgm:pt>
    <dgm:pt modelId="{179A8A8F-B4D2-4E18-B36B-0281254C0B87}" type="pres">
      <dgm:prSet presAssocID="{C3B3A6F4-D931-4654-9980-374C9A027DB9}" presName="spacer" presStyleCnt="0"/>
      <dgm:spPr/>
    </dgm:pt>
    <dgm:pt modelId="{C12C56A6-A569-4389-83BE-3DFB9A5EA042}" type="pres">
      <dgm:prSet presAssocID="{0562DB95-C8DF-4801-9A3E-6307A134FAE1}" presName="parentText" presStyleLbl="node1" presStyleIdx="6" presStyleCnt="8">
        <dgm:presLayoutVars>
          <dgm:chMax val="0"/>
          <dgm:bulletEnabled val="1"/>
        </dgm:presLayoutVars>
      </dgm:prSet>
      <dgm:spPr/>
    </dgm:pt>
    <dgm:pt modelId="{00BABF40-1C18-4782-82EB-6E35343E2DFA}" type="pres">
      <dgm:prSet presAssocID="{21557ECC-899C-478E-9B3A-D1DEFA71D940}" presName="spacer" presStyleCnt="0"/>
      <dgm:spPr/>
    </dgm:pt>
    <dgm:pt modelId="{B13517B4-A915-438B-AD03-0F4D607C952F}" type="pres">
      <dgm:prSet presAssocID="{18D21300-E1F6-468F-9426-8A7D3A126EF2}" presName="parentText" presStyleLbl="node1" presStyleIdx="7" presStyleCnt="8">
        <dgm:presLayoutVars>
          <dgm:chMax val="0"/>
          <dgm:bulletEnabled val="1"/>
        </dgm:presLayoutVars>
      </dgm:prSet>
      <dgm:spPr/>
    </dgm:pt>
  </dgm:ptLst>
  <dgm:cxnLst>
    <dgm:cxn modelId="{B928E004-485A-4355-82D7-43FED81534A1}" type="presOf" srcId="{0562DB95-C8DF-4801-9A3E-6307A134FAE1}" destId="{C12C56A6-A569-4389-83BE-3DFB9A5EA042}" srcOrd="0" destOrd="0" presId="urn:microsoft.com/office/officeart/2005/8/layout/vList2"/>
    <dgm:cxn modelId="{6EAD9410-B074-4CCC-9687-1D72140E115B}" type="presOf" srcId="{40B8CE3B-3593-41F9-BF22-71E3BB8E01C1}" destId="{9EE86077-0AB9-450C-BA89-77E3AC28CE93}" srcOrd="0" destOrd="0" presId="urn:microsoft.com/office/officeart/2005/8/layout/vList2"/>
    <dgm:cxn modelId="{F5F1DD16-9AF1-4FA5-890E-B13545D3B07C}" type="presOf" srcId="{10C163FA-C0A6-4CD6-9FE5-9005F181AF50}" destId="{D0C5DB19-1117-4FBB-9A42-6C74A55E8E8D}" srcOrd="0" destOrd="0" presId="urn:microsoft.com/office/officeart/2005/8/layout/vList2"/>
    <dgm:cxn modelId="{A715D21F-0793-4259-8B9A-AD5DABECEAD2}" type="presOf" srcId="{EFF1167F-9156-412B-A96D-A03656393028}" destId="{B98C275D-F439-464D-9B6E-EF6A92838DDA}" srcOrd="0" destOrd="0" presId="urn:microsoft.com/office/officeart/2005/8/layout/vList2"/>
    <dgm:cxn modelId="{817C402A-15CA-4A3F-804D-4C3970E695CA}" srcId="{EFF1167F-9156-412B-A96D-A03656393028}" destId="{905DFC83-2A6A-45BF-88E6-A44291948EA2}" srcOrd="5" destOrd="0" parTransId="{524AF413-8464-4910-BC4A-702C2541301B}" sibTransId="{C3B3A6F4-D931-4654-9980-374C9A027DB9}"/>
    <dgm:cxn modelId="{E0E8CC68-ED7E-4A7F-81D2-76719EFC1516}" type="presOf" srcId="{905DFC83-2A6A-45BF-88E6-A44291948EA2}" destId="{8467877B-41D5-4D5E-B1E8-FAC2832FE1DE}" srcOrd="0" destOrd="0" presId="urn:microsoft.com/office/officeart/2005/8/layout/vList2"/>
    <dgm:cxn modelId="{E0E81575-6179-4E9A-87A5-0C9F5A275E63}" type="presOf" srcId="{18D21300-E1F6-468F-9426-8A7D3A126EF2}" destId="{B13517B4-A915-438B-AD03-0F4D607C952F}" srcOrd="0" destOrd="0" presId="urn:microsoft.com/office/officeart/2005/8/layout/vList2"/>
    <dgm:cxn modelId="{F1075179-EE12-46C1-BA5E-AA5C2F7C53CD}" srcId="{EFF1167F-9156-412B-A96D-A03656393028}" destId="{40B8CE3B-3593-41F9-BF22-71E3BB8E01C1}" srcOrd="4" destOrd="0" parTransId="{60620FD3-C5AB-4B36-9B8C-A5F3CEA6E512}" sibTransId="{702A9265-A01A-4046-A284-AAC867FE853B}"/>
    <dgm:cxn modelId="{071C5485-F167-4FF4-A4E0-32580AB17799}" srcId="{EFF1167F-9156-412B-A96D-A03656393028}" destId="{662AAED0-F286-44BC-AF3C-D8ABA73983C5}" srcOrd="1" destOrd="0" parTransId="{630B39DF-0E97-42D8-BB61-0682D373CDDA}" sibTransId="{CA93D29F-89F0-44B9-943B-057DA681D34A}"/>
    <dgm:cxn modelId="{5543AF94-CFD4-4686-8450-8D7A490B518A}" srcId="{EFF1167F-9156-412B-A96D-A03656393028}" destId="{10C163FA-C0A6-4CD6-9FE5-9005F181AF50}" srcOrd="3" destOrd="0" parTransId="{704BD21F-DA39-4C5C-99DB-4E4892DF51AE}" sibTransId="{6235351B-6A72-42E0-8A7A-DAE34178CA39}"/>
    <dgm:cxn modelId="{C0DA2EA5-92EF-4309-8A27-00B3F83D1823}" type="presOf" srcId="{662AAED0-F286-44BC-AF3C-D8ABA73983C5}" destId="{CCB0718D-EB50-4234-BE80-F501830BBD17}" srcOrd="0" destOrd="0" presId="urn:microsoft.com/office/officeart/2005/8/layout/vList2"/>
    <dgm:cxn modelId="{651D75C2-8B34-44B8-828A-3C63D3678B65}" type="presOf" srcId="{30F076E5-FF0F-43F5-83B2-0C7DC82EA12F}" destId="{02D27B60-B76F-47C7-A51A-12B3755173BB}" srcOrd="0" destOrd="0" presId="urn:microsoft.com/office/officeart/2005/8/layout/vList2"/>
    <dgm:cxn modelId="{193680C4-88AC-42F2-854C-C12C7DCFD198}" srcId="{EFF1167F-9156-412B-A96D-A03656393028}" destId="{18D21300-E1F6-468F-9426-8A7D3A126EF2}" srcOrd="7" destOrd="0" parTransId="{BE88C186-49C2-4B2C-A6A4-290FCC5EDD29}" sibTransId="{31CC79B7-2A29-4B18-A1D6-1D0940C1F830}"/>
    <dgm:cxn modelId="{246C64C6-B5E3-42EA-A12E-6FDAD65076B9}" srcId="{EFF1167F-9156-412B-A96D-A03656393028}" destId="{30F076E5-FF0F-43F5-83B2-0C7DC82EA12F}" srcOrd="0" destOrd="0" parTransId="{10F01D64-E2A4-4F80-B840-900B982287C4}" sibTransId="{12E47726-2839-470D-80A8-6ED30EBAE798}"/>
    <dgm:cxn modelId="{43EFA0ED-ABCA-45FD-BC81-0FFA830F4445}" type="presOf" srcId="{EBDABC7D-D382-480E-90F9-906DC40EBC27}" destId="{2E27E2A8-B5CC-46D7-AAB8-5253FE150C47}" srcOrd="0" destOrd="0" presId="urn:microsoft.com/office/officeart/2005/8/layout/vList2"/>
    <dgm:cxn modelId="{ABEBCEED-13DB-4E1B-9A00-F91602155E6F}" srcId="{EFF1167F-9156-412B-A96D-A03656393028}" destId="{0562DB95-C8DF-4801-9A3E-6307A134FAE1}" srcOrd="6" destOrd="0" parTransId="{E88B3CFA-4ADF-4B19-AEE9-F086AAD0A697}" sibTransId="{21557ECC-899C-478E-9B3A-D1DEFA71D940}"/>
    <dgm:cxn modelId="{301DBDF1-7895-4EFE-9022-C910247CC4B4}" srcId="{EFF1167F-9156-412B-A96D-A03656393028}" destId="{EBDABC7D-D382-480E-90F9-906DC40EBC27}" srcOrd="2" destOrd="0" parTransId="{613FE41D-D587-4866-BB7E-306A0349C783}" sibTransId="{8218D982-F9C2-4CF8-88B4-D8CF31631C33}"/>
    <dgm:cxn modelId="{57C6C103-234B-4E12-ACCC-C8B59DE43BA3}" type="presParOf" srcId="{B98C275D-F439-464D-9B6E-EF6A92838DDA}" destId="{02D27B60-B76F-47C7-A51A-12B3755173BB}" srcOrd="0" destOrd="0" presId="urn:microsoft.com/office/officeart/2005/8/layout/vList2"/>
    <dgm:cxn modelId="{11457C23-B85F-4A88-824B-A06F9EEC4646}" type="presParOf" srcId="{B98C275D-F439-464D-9B6E-EF6A92838DDA}" destId="{E9E170E9-F891-47E8-B82B-DE5485949FAF}" srcOrd="1" destOrd="0" presId="urn:microsoft.com/office/officeart/2005/8/layout/vList2"/>
    <dgm:cxn modelId="{3EAD2096-1291-4D1E-B072-DB1EA4E6E0C7}" type="presParOf" srcId="{B98C275D-F439-464D-9B6E-EF6A92838DDA}" destId="{CCB0718D-EB50-4234-BE80-F501830BBD17}" srcOrd="2" destOrd="0" presId="urn:microsoft.com/office/officeart/2005/8/layout/vList2"/>
    <dgm:cxn modelId="{B5EFEAE0-651E-4A59-BA9D-631070DFE169}" type="presParOf" srcId="{B98C275D-F439-464D-9B6E-EF6A92838DDA}" destId="{223C48D8-DB89-4ECA-9801-78FA89C3685B}" srcOrd="3" destOrd="0" presId="urn:microsoft.com/office/officeart/2005/8/layout/vList2"/>
    <dgm:cxn modelId="{EF4C3754-D768-4119-B053-31DEE199FE2D}" type="presParOf" srcId="{B98C275D-F439-464D-9B6E-EF6A92838DDA}" destId="{2E27E2A8-B5CC-46D7-AAB8-5253FE150C47}" srcOrd="4" destOrd="0" presId="urn:microsoft.com/office/officeart/2005/8/layout/vList2"/>
    <dgm:cxn modelId="{F6BA70CA-9DC6-4153-AADB-368E5F44EDDD}" type="presParOf" srcId="{B98C275D-F439-464D-9B6E-EF6A92838DDA}" destId="{7A39F3C9-73E5-447C-8B12-DA37B4AE7380}" srcOrd="5" destOrd="0" presId="urn:microsoft.com/office/officeart/2005/8/layout/vList2"/>
    <dgm:cxn modelId="{AA3D407D-4F9C-496B-995C-F3910D1FD489}" type="presParOf" srcId="{B98C275D-F439-464D-9B6E-EF6A92838DDA}" destId="{D0C5DB19-1117-4FBB-9A42-6C74A55E8E8D}" srcOrd="6" destOrd="0" presId="urn:microsoft.com/office/officeart/2005/8/layout/vList2"/>
    <dgm:cxn modelId="{94F914BA-8A2F-4B34-831B-8ABA47BAEBDC}" type="presParOf" srcId="{B98C275D-F439-464D-9B6E-EF6A92838DDA}" destId="{FD2C8594-88BD-45D5-8745-30F6D7C75A40}" srcOrd="7" destOrd="0" presId="urn:microsoft.com/office/officeart/2005/8/layout/vList2"/>
    <dgm:cxn modelId="{05043353-A2BD-46E3-AE68-58DD4C362694}" type="presParOf" srcId="{B98C275D-F439-464D-9B6E-EF6A92838DDA}" destId="{9EE86077-0AB9-450C-BA89-77E3AC28CE93}" srcOrd="8" destOrd="0" presId="urn:microsoft.com/office/officeart/2005/8/layout/vList2"/>
    <dgm:cxn modelId="{6BB865F8-4B07-4E9D-A8B5-10FDA57BC344}" type="presParOf" srcId="{B98C275D-F439-464D-9B6E-EF6A92838DDA}" destId="{FE7DD311-FD32-4450-B500-E4307B97AEAD}" srcOrd="9" destOrd="0" presId="urn:microsoft.com/office/officeart/2005/8/layout/vList2"/>
    <dgm:cxn modelId="{BEF341D2-7761-4C88-93C3-0F4BC5B4D0DE}" type="presParOf" srcId="{B98C275D-F439-464D-9B6E-EF6A92838DDA}" destId="{8467877B-41D5-4D5E-B1E8-FAC2832FE1DE}" srcOrd="10" destOrd="0" presId="urn:microsoft.com/office/officeart/2005/8/layout/vList2"/>
    <dgm:cxn modelId="{ECAB872A-457E-409A-B3EA-728D5B7C0AC9}" type="presParOf" srcId="{B98C275D-F439-464D-9B6E-EF6A92838DDA}" destId="{179A8A8F-B4D2-4E18-B36B-0281254C0B87}" srcOrd="11" destOrd="0" presId="urn:microsoft.com/office/officeart/2005/8/layout/vList2"/>
    <dgm:cxn modelId="{C3E44EDF-1864-40A5-B41E-B21012F07146}" type="presParOf" srcId="{B98C275D-F439-464D-9B6E-EF6A92838DDA}" destId="{C12C56A6-A569-4389-83BE-3DFB9A5EA042}" srcOrd="12" destOrd="0" presId="urn:microsoft.com/office/officeart/2005/8/layout/vList2"/>
    <dgm:cxn modelId="{27975EED-AC1A-434E-A226-67D2531EC70E}" type="presParOf" srcId="{B98C275D-F439-464D-9B6E-EF6A92838DDA}" destId="{00BABF40-1C18-4782-82EB-6E35343E2DFA}" srcOrd="13" destOrd="0" presId="urn:microsoft.com/office/officeart/2005/8/layout/vList2"/>
    <dgm:cxn modelId="{3492A46D-3F71-4AB6-A708-225C61138E09}" type="presParOf" srcId="{B98C275D-F439-464D-9B6E-EF6A92838DDA}" destId="{B13517B4-A915-438B-AD03-0F4D607C952F}"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E7FD88-B9E6-40CF-8C7A-F2CB4E6C3101}">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396B55-D524-44CD-ABAE-D43F50A85133}">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DD9370-F43A-4E77-9CD8-F5387D33E807}">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dirty="0"/>
            <a:t>Automated Backups (point-in-time </a:t>
          </a:r>
          <a:r>
            <a:rPr lang="en-US" sz="1900" kern="1200" dirty="0"/>
            <a:t>recovery).</a:t>
          </a:r>
        </a:p>
      </dsp:txBody>
      <dsp:txXfrm>
        <a:off x="1059754" y="4307"/>
        <a:ext cx="5304469" cy="917536"/>
      </dsp:txXfrm>
    </dsp:sp>
    <dsp:sp modelId="{1902B477-8212-4B8E-9073-08C16F1F6E5C}">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7D9889-32F7-49B9-830F-75B7BAB234F3}">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B11244-A13C-4C28-A71A-EAA0B623B370}">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dirty="0"/>
            <a:t>Multi-AZ Deployment</a:t>
          </a:r>
          <a:r>
            <a:rPr lang="en-US" sz="1900" kern="1200" dirty="0"/>
            <a:t> for HA.</a:t>
          </a:r>
        </a:p>
      </dsp:txBody>
      <dsp:txXfrm>
        <a:off x="1059754" y="1151227"/>
        <a:ext cx="5304469" cy="917536"/>
      </dsp:txXfrm>
    </dsp:sp>
    <dsp:sp modelId="{DCCDE3B7-F111-4103-A877-F8559573BA31}">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7424E8-39A0-45D0-9452-D3E3D2C18D66}">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D3C8B1-7C8E-42DA-AFDD-9DF1C0E7E045}">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a:t>Read Replicas</a:t>
          </a:r>
          <a:r>
            <a:rPr lang="en-US" sz="1900" kern="1200"/>
            <a:t> for scaling reads.</a:t>
          </a:r>
        </a:p>
      </dsp:txBody>
      <dsp:txXfrm>
        <a:off x="1059754" y="2298147"/>
        <a:ext cx="5304469" cy="917536"/>
      </dsp:txXfrm>
    </dsp:sp>
    <dsp:sp modelId="{20672487-C698-47D4-8AAC-7CBD36AD71A3}">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499E4-C2BD-44BC-9ACD-9FC1A5EECC1E}">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88D4FD-9A08-417D-B503-03D36FA061F8}">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a:t>Encryption</a:t>
          </a:r>
          <a:r>
            <a:rPr lang="en-US" sz="1900" kern="1200"/>
            <a:t> (at rest &amp; in transit).</a:t>
          </a:r>
        </a:p>
      </dsp:txBody>
      <dsp:txXfrm>
        <a:off x="1059754" y="3445068"/>
        <a:ext cx="5304469" cy="917536"/>
      </dsp:txXfrm>
    </dsp:sp>
    <dsp:sp modelId="{C76477E8-A018-4AEC-816A-6003BC343662}">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5164E9-D02E-4666-A210-CD0627DDAC47}">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187674-2934-4BCC-8598-7529E8842D9B}">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kern="1200"/>
            <a:t>Monitoring</a:t>
          </a:r>
          <a:r>
            <a:rPr lang="en-US" sz="1900" kern="1200"/>
            <a:t> with CloudWatch.</a:t>
          </a:r>
        </a:p>
      </dsp:txBody>
      <dsp:txXfrm>
        <a:off x="1059754" y="4591988"/>
        <a:ext cx="5304469" cy="917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27B60-B76F-47C7-A51A-12B3755173BB}">
      <dsp:nvSpPr>
        <dsp:cNvPr id="0" name=""/>
        <dsp:cNvSpPr/>
      </dsp:nvSpPr>
      <dsp:spPr>
        <a:xfrm>
          <a:off x="0" y="481355"/>
          <a:ext cx="6364224" cy="51597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Fully managed NoSQL database service</a:t>
          </a:r>
          <a:endParaRPr lang="en-US" sz="2100" kern="1200"/>
        </a:p>
      </dsp:txBody>
      <dsp:txXfrm>
        <a:off x="25188" y="506543"/>
        <a:ext cx="6313848" cy="465594"/>
      </dsp:txXfrm>
    </dsp:sp>
    <dsp:sp modelId="{CCB0718D-EB50-4234-BE80-F501830BBD17}">
      <dsp:nvSpPr>
        <dsp:cNvPr id="0" name=""/>
        <dsp:cNvSpPr/>
      </dsp:nvSpPr>
      <dsp:spPr>
        <a:xfrm>
          <a:off x="0" y="1057805"/>
          <a:ext cx="6364224" cy="515970"/>
        </a:xfrm>
        <a:prstGeom prst="roundRect">
          <a:avLst/>
        </a:prstGeom>
        <a:solidFill>
          <a:schemeClr val="accent5">
            <a:hueOff val="-1736021"/>
            <a:satOff val="-118"/>
            <a:lumOff val="2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Key-Value &amp; Document data model</a:t>
          </a:r>
          <a:endParaRPr lang="en-US" sz="2100" kern="1200"/>
        </a:p>
      </dsp:txBody>
      <dsp:txXfrm>
        <a:off x="25188" y="1082993"/>
        <a:ext cx="6313848" cy="465594"/>
      </dsp:txXfrm>
    </dsp:sp>
    <dsp:sp modelId="{2E27E2A8-B5CC-46D7-AAB8-5253FE150C47}">
      <dsp:nvSpPr>
        <dsp:cNvPr id="0" name=""/>
        <dsp:cNvSpPr/>
      </dsp:nvSpPr>
      <dsp:spPr>
        <a:xfrm>
          <a:off x="0" y="1634255"/>
          <a:ext cx="6364224" cy="515970"/>
        </a:xfrm>
        <a:prstGeom prst="roundRect">
          <a:avLst/>
        </a:prstGeom>
        <a:solidFill>
          <a:schemeClr val="accent5">
            <a:hueOff val="-3472043"/>
            <a:satOff val="-236"/>
            <a:lumOff val="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Serverless – no infrastructure management</a:t>
          </a:r>
          <a:endParaRPr lang="en-US" sz="2100" kern="1200"/>
        </a:p>
      </dsp:txBody>
      <dsp:txXfrm>
        <a:off x="25188" y="1659443"/>
        <a:ext cx="6313848" cy="465594"/>
      </dsp:txXfrm>
    </dsp:sp>
    <dsp:sp modelId="{D0C5DB19-1117-4FBB-9A42-6C74A55E8E8D}">
      <dsp:nvSpPr>
        <dsp:cNvPr id="0" name=""/>
        <dsp:cNvSpPr/>
      </dsp:nvSpPr>
      <dsp:spPr>
        <a:xfrm>
          <a:off x="0" y="2210706"/>
          <a:ext cx="6364224" cy="515970"/>
        </a:xfrm>
        <a:prstGeom prst="roundRect">
          <a:avLst/>
        </a:prstGeom>
        <a:solidFill>
          <a:schemeClr val="accent5">
            <a:hueOff val="-5208064"/>
            <a:satOff val="-354"/>
            <a:lumOff val="8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Scales to millions of requests per second</a:t>
          </a:r>
          <a:endParaRPr lang="en-US" sz="2100" kern="1200"/>
        </a:p>
      </dsp:txBody>
      <dsp:txXfrm>
        <a:off x="25188" y="2235894"/>
        <a:ext cx="6313848" cy="465594"/>
      </dsp:txXfrm>
    </dsp:sp>
    <dsp:sp modelId="{9EE86077-0AB9-450C-BA89-77E3AC28CE93}">
      <dsp:nvSpPr>
        <dsp:cNvPr id="0" name=""/>
        <dsp:cNvSpPr/>
      </dsp:nvSpPr>
      <dsp:spPr>
        <a:xfrm>
          <a:off x="0" y="2787156"/>
          <a:ext cx="6364224" cy="515970"/>
        </a:xfrm>
        <a:prstGeom prst="roundRect">
          <a:avLst/>
        </a:prstGeom>
        <a:solidFill>
          <a:schemeClr val="accent5">
            <a:hueOff val="-6944086"/>
            <a:satOff val="-472"/>
            <a:lumOff val="1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Low latency (single-digit ms)</a:t>
          </a:r>
          <a:endParaRPr lang="en-US" sz="2100" kern="1200"/>
        </a:p>
      </dsp:txBody>
      <dsp:txXfrm>
        <a:off x="25188" y="2812344"/>
        <a:ext cx="6313848" cy="465594"/>
      </dsp:txXfrm>
    </dsp:sp>
    <dsp:sp modelId="{8467877B-41D5-4D5E-B1E8-FAC2832FE1DE}">
      <dsp:nvSpPr>
        <dsp:cNvPr id="0" name=""/>
        <dsp:cNvSpPr/>
      </dsp:nvSpPr>
      <dsp:spPr>
        <a:xfrm>
          <a:off x="0" y="3363606"/>
          <a:ext cx="6364224" cy="515970"/>
        </a:xfrm>
        <a:prstGeom prst="roundRect">
          <a:avLst/>
        </a:prstGeom>
        <a:solidFill>
          <a:schemeClr val="accent5">
            <a:hueOff val="-8680107"/>
            <a:satOff val="-590"/>
            <a:lumOff val="14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Built-in replication across AZs for HA</a:t>
          </a:r>
          <a:endParaRPr lang="en-US" sz="2100" kern="1200"/>
        </a:p>
      </dsp:txBody>
      <dsp:txXfrm>
        <a:off x="25188" y="3388794"/>
        <a:ext cx="6313848" cy="465594"/>
      </dsp:txXfrm>
    </dsp:sp>
    <dsp:sp modelId="{C12C56A6-A569-4389-83BE-3DFB9A5EA042}">
      <dsp:nvSpPr>
        <dsp:cNvPr id="0" name=""/>
        <dsp:cNvSpPr/>
      </dsp:nvSpPr>
      <dsp:spPr>
        <a:xfrm>
          <a:off x="0" y="3940056"/>
          <a:ext cx="6364224" cy="515970"/>
        </a:xfrm>
        <a:prstGeom prst="roundRect">
          <a:avLst/>
        </a:prstGeom>
        <a:solidFill>
          <a:schemeClr val="accent5">
            <a:hueOff val="-10416129"/>
            <a:satOff val="-708"/>
            <a:lumOff val="16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Supports On-Demand &amp; Provisioned capacity modes</a:t>
          </a:r>
          <a:endParaRPr lang="en-US" sz="2100" kern="1200"/>
        </a:p>
      </dsp:txBody>
      <dsp:txXfrm>
        <a:off x="25188" y="3965244"/>
        <a:ext cx="6313848" cy="465594"/>
      </dsp:txXfrm>
    </dsp:sp>
    <dsp:sp modelId="{B13517B4-A915-438B-AD03-0F4D607C952F}">
      <dsp:nvSpPr>
        <dsp:cNvPr id="0" name=""/>
        <dsp:cNvSpPr/>
      </dsp:nvSpPr>
      <dsp:spPr>
        <a:xfrm>
          <a:off x="0" y="4516506"/>
          <a:ext cx="6364224" cy="51597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0" kern="1200" baseline="0"/>
            <a:t>Integrated with IAM, Streams, Lambda</a:t>
          </a:r>
          <a:endParaRPr lang="en-US" sz="2100" kern="1200"/>
        </a:p>
      </dsp:txBody>
      <dsp:txXfrm>
        <a:off x="25188" y="4541694"/>
        <a:ext cx="6313848" cy="46559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932E55-6A1F-4962-B0B5-701C895AB686}" type="datetimeFigureOut">
              <a:rPr lang="en-IN" smtClean="0"/>
              <a:t>19-09-2025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A5B81D-974B-4888-AC1E-5E8DBE19A6D1}" type="slidenum">
              <a:rPr lang="en-IN" smtClean="0"/>
              <a:t>‹#›</a:t>
            </a:fld>
            <a:endParaRPr lang="en-IN"/>
          </a:p>
        </p:txBody>
      </p:sp>
    </p:spTree>
    <p:extLst>
      <p:ext uri="{BB962C8B-B14F-4D97-AF65-F5344CB8AC3E}">
        <p14:creationId xmlns:p14="http://schemas.microsoft.com/office/powerpoint/2010/main" val="1397583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Amazon RDS — Relational Database Service. In traditional environments, managing a database is very manual — you need to install the software, manage hardware, patch it, set up backups, and make it highly available. All of this takes time and skilled resources.</a:t>
            </a:r>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1</a:t>
            </a:fld>
            <a:endParaRPr lang="en-IN"/>
          </a:p>
        </p:txBody>
      </p:sp>
    </p:spTree>
    <p:extLst>
      <p:ext uri="{BB962C8B-B14F-4D97-AF65-F5344CB8AC3E}">
        <p14:creationId xmlns:p14="http://schemas.microsoft.com/office/powerpoint/2010/main" val="592583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AWS provides a wide range of database services because not every workload fits into one type of database. Let’s break them down category-wise.”</a:t>
            </a:r>
          </a:p>
          <a:p>
            <a:r>
              <a:rPr lang="en-IN" b="1" dirty="0"/>
              <a:t>Relational Databases (SQL)</a:t>
            </a:r>
            <a:endParaRPr lang="en-IN" dirty="0"/>
          </a:p>
          <a:p>
            <a:pPr lvl="1"/>
            <a:r>
              <a:rPr lang="en-IN" i="1" dirty="0"/>
              <a:t>Amazon RDS</a:t>
            </a:r>
            <a:r>
              <a:rPr lang="en-IN" dirty="0"/>
              <a:t> → fully managed service supporting engines like MySQL, PostgreSQL, MariaDB, Oracle, and SQL Server.</a:t>
            </a:r>
          </a:p>
          <a:p>
            <a:pPr lvl="1"/>
            <a:r>
              <a:rPr lang="en-IN" i="1" dirty="0"/>
              <a:t>Amazon Aurora</a:t>
            </a:r>
            <a:r>
              <a:rPr lang="en-IN" dirty="0"/>
              <a:t> → AWS’s cloud-native relational DB, MySQL and PostgreSQL compatible, designed for high performance.</a:t>
            </a:r>
          </a:p>
          <a:p>
            <a:r>
              <a:rPr lang="en-IN" b="1" dirty="0"/>
              <a:t>NoSQL Databases</a:t>
            </a:r>
            <a:endParaRPr lang="en-IN" dirty="0"/>
          </a:p>
          <a:p>
            <a:pPr lvl="1"/>
            <a:r>
              <a:rPr lang="en-IN" i="1" dirty="0"/>
              <a:t>DynamoDB</a:t>
            </a:r>
            <a:r>
              <a:rPr lang="en-IN" dirty="0"/>
              <a:t> → fully managed key-value and document store, serverless, and scales automatically.</a:t>
            </a:r>
          </a:p>
          <a:p>
            <a:pPr lvl="1"/>
            <a:r>
              <a:rPr lang="en-IN" i="1" dirty="0" err="1"/>
              <a:t>DocumentDB</a:t>
            </a:r>
            <a:r>
              <a:rPr lang="en-IN" dirty="0"/>
              <a:t> → managed document database, compatible with MongoDB.</a:t>
            </a:r>
          </a:p>
          <a:p>
            <a:pPr lvl="1"/>
            <a:r>
              <a:rPr lang="en-IN" i="1" dirty="0" err="1"/>
              <a:t>Keyspaces</a:t>
            </a:r>
            <a:r>
              <a:rPr lang="en-IN" dirty="0"/>
              <a:t> → wide-column database, compatible with Apache Cassandra.</a:t>
            </a:r>
          </a:p>
          <a:p>
            <a:r>
              <a:rPr lang="en-IN" b="1" dirty="0"/>
              <a:t>In-Memory Databases</a:t>
            </a:r>
            <a:endParaRPr lang="en-IN" dirty="0"/>
          </a:p>
          <a:p>
            <a:pPr lvl="1"/>
            <a:r>
              <a:rPr lang="en-IN" i="1" dirty="0" err="1"/>
              <a:t>ElastiCache</a:t>
            </a:r>
            <a:r>
              <a:rPr lang="en-IN" dirty="0"/>
              <a:t> → in-memory caching service, supports Redis and Memcached, improves application performance by reducing DB load.</a:t>
            </a:r>
          </a:p>
          <a:p>
            <a:r>
              <a:rPr lang="en-IN" b="1" dirty="0"/>
              <a:t>Analytics / Data Warehousing</a:t>
            </a:r>
            <a:endParaRPr lang="en-IN" dirty="0"/>
          </a:p>
          <a:p>
            <a:pPr lvl="1"/>
            <a:r>
              <a:rPr lang="en-IN" i="1" dirty="0"/>
              <a:t>Redshift</a:t>
            </a:r>
            <a:r>
              <a:rPr lang="en-IN" dirty="0"/>
              <a:t> → AWS’s data warehouse solution for analytics and BI (business intelligence).</a:t>
            </a:r>
          </a:p>
          <a:p>
            <a:r>
              <a:rPr lang="en-IN" b="1" dirty="0"/>
              <a:t>Graph Database</a:t>
            </a:r>
            <a:endParaRPr lang="en-IN" dirty="0"/>
          </a:p>
          <a:p>
            <a:pPr lvl="1"/>
            <a:r>
              <a:rPr lang="en-IN" i="1" dirty="0"/>
              <a:t>Neptune</a:t>
            </a:r>
            <a:r>
              <a:rPr lang="en-IN" dirty="0"/>
              <a:t> → optimized for storing and querying highly connected data, like social networks or fraud detection.</a:t>
            </a:r>
          </a:p>
          <a:p>
            <a:r>
              <a:rPr lang="en-IN" b="1" dirty="0"/>
              <a:t>Ledger Database</a:t>
            </a:r>
            <a:endParaRPr lang="en-IN" dirty="0"/>
          </a:p>
          <a:p>
            <a:pPr lvl="1"/>
            <a:r>
              <a:rPr lang="en-IN" i="1" dirty="0"/>
              <a:t>QLDB</a:t>
            </a:r>
            <a:r>
              <a:rPr lang="en-IN" dirty="0"/>
              <a:t> → immutable, cryptographically verifiable transaction log. Good for auditing and compliance use cases.</a:t>
            </a:r>
          </a:p>
          <a:p>
            <a:r>
              <a:rPr lang="en-IN" b="1" dirty="0"/>
              <a:t>Time-Series Database</a:t>
            </a:r>
            <a:endParaRPr lang="en-IN" dirty="0"/>
          </a:p>
          <a:p>
            <a:pPr lvl="1"/>
            <a:r>
              <a:rPr lang="en-IN" i="1" dirty="0"/>
              <a:t>Timestream</a:t>
            </a:r>
            <a:r>
              <a:rPr lang="en-IN" dirty="0"/>
              <a:t> → purpose-built for time-stamped data like IoT sensor data or monitoring metrics</a:t>
            </a:r>
          </a:p>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2</a:t>
            </a:fld>
            <a:endParaRPr lang="en-IN"/>
          </a:p>
        </p:txBody>
      </p:sp>
    </p:spTree>
    <p:extLst>
      <p:ext uri="{BB962C8B-B14F-4D97-AF65-F5344CB8AC3E}">
        <p14:creationId xmlns:p14="http://schemas.microsoft.com/office/powerpoint/2010/main" val="2103159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 explanatory slide</a:t>
            </a:r>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3</a:t>
            </a:fld>
            <a:endParaRPr lang="en-IN"/>
          </a:p>
        </p:txBody>
      </p:sp>
    </p:spTree>
    <p:extLst>
      <p:ext uri="{BB962C8B-B14F-4D97-AF65-F5344CB8AC3E}">
        <p14:creationId xmlns:p14="http://schemas.microsoft.com/office/powerpoint/2010/main" val="3494124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RDS stands for Relational Database Service. It is a </a:t>
            </a:r>
            <a:r>
              <a:rPr lang="en-US" b="1" dirty="0"/>
              <a:t>fully managed relational database solution</a:t>
            </a:r>
            <a:r>
              <a:rPr lang="en-US" dirty="0"/>
              <a:t> on AWS. Normally, when we run a database on-premises or on a VM, we need to worry about provisioning the server, installing the database engine, applying patches, backups, monitoring, and scaling. RDS simplifies all of this by managing it for us.”</a:t>
            </a:r>
          </a:p>
          <a:p>
            <a:endParaRPr lang="en-US" dirty="0"/>
          </a:p>
          <a:p>
            <a:r>
              <a:rPr lang="en-US" dirty="0"/>
              <a:t>👉 “It supports many popular relational database engines such as </a:t>
            </a:r>
            <a:r>
              <a:rPr lang="en-US" b="1" dirty="0"/>
              <a:t>MySQL, PostgreSQL, MariaDB, Oracle, SQL Server, and Amazon Aurora</a:t>
            </a:r>
            <a:r>
              <a:rPr lang="en-US" dirty="0"/>
              <a:t>. This gives flexibility depending on the workload and licensing requirements.”</a:t>
            </a:r>
          </a:p>
          <a:p>
            <a:r>
              <a:rPr lang="en-US" dirty="0"/>
              <a:t>👉 “RDS also provides built-in </a:t>
            </a:r>
            <a:r>
              <a:rPr lang="en-US" b="1" dirty="0"/>
              <a:t>automated backups, disaster recovery using Multi-AZ deployments, and easy scaling</a:t>
            </a:r>
            <a:r>
              <a:rPr lang="en-US" dirty="0"/>
              <a:t> for storage and compute. For example, if your database needs more capacity, you can scale without downtime.”</a:t>
            </a:r>
          </a:p>
          <a:p>
            <a:r>
              <a:rPr lang="en-US" dirty="0"/>
              <a:t>👉 “On the security side, RDS integrates with </a:t>
            </a:r>
            <a:r>
              <a:rPr lang="en-US" b="1" dirty="0"/>
              <a:t>VPC for network isolation, IAM for access control, and encryption at rest and in transit</a:t>
            </a:r>
            <a:r>
              <a:rPr lang="en-US" dirty="0"/>
              <a:t>.”</a:t>
            </a:r>
          </a:p>
          <a:p>
            <a:r>
              <a:rPr lang="en-US" dirty="0"/>
              <a:t>👉 “Overall, RDS is widely used because it lets developers </a:t>
            </a:r>
            <a:r>
              <a:rPr lang="en-US" b="1" dirty="0"/>
              <a:t>focus on applications</a:t>
            </a:r>
            <a:r>
              <a:rPr lang="en-US" dirty="0"/>
              <a:t> instead of spending time managing database infrastructure.”</a:t>
            </a:r>
          </a:p>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4</a:t>
            </a:fld>
            <a:endParaRPr lang="en-IN"/>
          </a:p>
        </p:txBody>
      </p:sp>
    </p:spTree>
    <p:extLst>
      <p:ext uri="{BB962C8B-B14F-4D97-AF65-F5344CB8AC3E}">
        <p14:creationId xmlns:p14="http://schemas.microsoft.com/office/powerpoint/2010/main" val="3756388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Automated Backups (Point-in-time Recovery)</a:t>
            </a:r>
          </a:p>
          <a:p>
            <a:r>
              <a:rPr lang="en-US" i="1" dirty="0"/>
              <a:t>“Amazon RDS automatically takes daily backups of your database and allows point-in-time recovery. This means if your application or user accidentally deletes some data, you can restore the database to any second within your backup retention window — for example, roll back to how the DB looked at 2:35 PM yesterday.”</a:t>
            </a:r>
            <a:endParaRPr lang="en-US" dirty="0"/>
          </a:p>
          <a:p>
            <a:br>
              <a:rPr lang="en-US" dirty="0"/>
            </a:br>
            <a:r>
              <a:rPr lang="en-US" b="1" dirty="0"/>
              <a:t>Multi-AZ Deployment for High Availability (HA)</a:t>
            </a:r>
          </a:p>
          <a:p>
            <a:r>
              <a:rPr lang="en-US" i="1" dirty="0"/>
              <a:t>“Multi-AZ means your database is deployed in two different Availability Zones within a region. The primary DB serves traffic, and a synchronous standby copy is maintained in another AZ. If the primary DB fails due to hardware or network issues, RDS automatically fails over to the standby — ensuring minimal downtime and high availability.”</a:t>
            </a:r>
            <a:endParaRPr lang="en-US" dirty="0"/>
          </a:p>
          <a:p>
            <a:endParaRPr lang="en-US" dirty="0"/>
          </a:p>
          <a:p>
            <a:r>
              <a:rPr lang="en-US" b="1" dirty="0"/>
              <a:t>Read Replicas for Scaling Reads</a:t>
            </a:r>
          </a:p>
          <a:p>
            <a:r>
              <a:rPr lang="en-US" i="1" dirty="0"/>
              <a:t>“Read replicas are separate copies of your database that handle read-only traffic. They are asynchronous, so you can offload heavy SELECT queries to them. This improves performance for applications with high read workloads — like reporting dashboards or analytics — while the primary database continues to handle writes.”</a:t>
            </a:r>
            <a:endParaRPr lang="en-US" dirty="0"/>
          </a:p>
          <a:p>
            <a:br>
              <a:rPr lang="en-US" dirty="0"/>
            </a:br>
            <a:r>
              <a:rPr lang="en-US" b="1" dirty="0"/>
              <a:t>Encryption (At Rest &amp; In Transit)</a:t>
            </a:r>
          </a:p>
          <a:p>
            <a:r>
              <a:rPr lang="en-US" i="1" dirty="0"/>
              <a:t>“RDS provides built-in encryption options. You can enable </a:t>
            </a:r>
            <a:r>
              <a:rPr lang="en-US" b="1" i="1" dirty="0"/>
              <a:t>encryption at rest</a:t>
            </a:r>
            <a:r>
              <a:rPr lang="en-US" i="1" dirty="0"/>
              <a:t> using AWS KMS keys to secure your data on disk, snapshots, and backups. For data in transit, RDS supports SSL connections, so applications can securely connect to the database without exposing plain-text traffic over the network.”</a:t>
            </a:r>
            <a:endParaRPr lang="en-US" dirty="0"/>
          </a:p>
          <a:p>
            <a:endParaRPr lang="en-US" dirty="0"/>
          </a:p>
          <a:p>
            <a:r>
              <a:rPr lang="en-US" b="1" dirty="0"/>
              <a:t>Monitoring with CloudWatch</a:t>
            </a:r>
          </a:p>
          <a:p>
            <a:r>
              <a:rPr lang="en-US" i="1" dirty="0"/>
              <a:t>“Amazon RDS integrates with CloudWatch, so you can monitor metrics such as CPU utilization, storage space, connections, and read/write latency. You can set up alarms for thresholds — for example, if CPU goes above 80% for 5 minutes, trigger an alert. This helps you proactively maintain performance and availability.”</a:t>
            </a:r>
            <a:endParaRPr lang="en-US" dirty="0"/>
          </a:p>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5</a:t>
            </a:fld>
            <a:endParaRPr lang="en-IN"/>
          </a:p>
        </p:txBody>
      </p:sp>
    </p:spTree>
    <p:extLst>
      <p:ext uri="{BB962C8B-B14F-4D97-AF65-F5344CB8AC3E}">
        <p14:creationId xmlns:p14="http://schemas.microsoft.com/office/powerpoint/2010/main" val="158708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section on </a:t>
            </a:r>
            <a:r>
              <a:rPr lang="en-US" b="1" dirty="0"/>
              <a:t>Amazon DynamoDB</a:t>
            </a:r>
            <a:r>
              <a:rPr lang="en-US" dirty="0"/>
              <a:t>. In this part, we’ll learn about AWS’s fully managed NoSQL database service</a:t>
            </a:r>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6</a:t>
            </a:fld>
            <a:endParaRPr lang="en-IN"/>
          </a:p>
        </p:txBody>
      </p:sp>
    </p:spTree>
    <p:extLst>
      <p:ext uri="{BB962C8B-B14F-4D97-AF65-F5344CB8AC3E}">
        <p14:creationId xmlns:p14="http://schemas.microsoft.com/office/powerpoint/2010/main" val="2997319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DynamoDB is Amazon’s </a:t>
            </a:r>
            <a:r>
              <a:rPr lang="en-IN" b="1" dirty="0"/>
              <a:t>NoSQL database service</a:t>
            </a:r>
            <a:r>
              <a:rPr lang="en-IN" dirty="0"/>
              <a:t> – unlike RDS (SQL), DynamoDB is schema-less. Two main models: </a:t>
            </a:r>
            <a:r>
              <a:rPr lang="en-IN" b="1" dirty="0"/>
              <a:t>key-value</a:t>
            </a:r>
            <a:r>
              <a:rPr lang="en-IN" dirty="0"/>
              <a:t> (simple lookups) and </a:t>
            </a:r>
            <a:r>
              <a:rPr lang="en-IN" b="1" dirty="0"/>
              <a:t>document</a:t>
            </a:r>
            <a:r>
              <a:rPr lang="en-IN" dirty="0"/>
              <a:t> (JSON-like storage).</a:t>
            </a:r>
          </a:p>
          <a:p>
            <a:r>
              <a:rPr lang="en-IN" dirty="0"/>
              <a:t>It’s </a:t>
            </a:r>
            <a:r>
              <a:rPr lang="en-IN" b="1" dirty="0"/>
              <a:t>fully managed and serverless</a:t>
            </a:r>
            <a:r>
              <a:rPr lang="en-IN" dirty="0"/>
              <a:t>, meaning AWS takes care of patching, scaling, replication, and availability. </a:t>
            </a:r>
          </a:p>
          <a:p>
            <a:r>
              <a:rPr lang="en-IN" dirty="0"/>
              <a:t>Provides </a:t>
            </a:r>
            <a:r>
              <a:rPr lang="en-IN" b="1" dirty="0"/>
              <a:t>extreme scalability</a:t>
            </a:r>
            <a:r>
              <a:rPr lang="en-IN" dirty="0"/>
              <a:t> – large enterprises run millions of reads/writes per second on it.</a:t>
            </a:r>
          </a:p>
          <a:p>
            <a:r>
              <a:rPr lang="en-IN" dirty="0"/>
              <a:t>Consistently delivers </a:t>
            </a:r>
            <a:r>
              <a:rPr lang="en-IN" b="1" dirty="0"/>
              <a:t>single-digit millisecond latency</a:t>
            </a:r>
            <a:r>
              <a:rPr lang="en-IN" dirty="0"/>
              <a:t>.</a:t>
            </a:r>
          </a:p>
          <a:p>
            <a:r>
              <a:rPr lang="en-IN" dirty="0"/>
              <a:t>Data is </a:t>
            </a:r>
            <a:r>
              <a:rPr lang="en-IN" b="1" dirty="0"/>
              <a:t>replicated across multiple AZs</a:t>
            </a:r>
            <a:r>
              <a:rPr lang="en-IN" dirty="0"/>
              <a:t> automatically for durability and high availability.</a:t>
            </a:r>
          </a:p>
          <a:p>
            <a:endParaRPr lang="en-IN" dirty="0"/>
          </a:p>
          <a:p>
            <a:r>
              <a:rPr lang="en-IN" dirty="0"/>
              <a:t>Billing:</a:t>
            </a:r>
          </a:p>
          <a:p>
            <a:endParaRPr lang="en-IN" b="1" dirty="0"/>
          </a:p>
          <a:p>
            <a:r>
              <a:rPr lang="en-IN" b="1" dirty="0"/>
              <a:t>Provisioned capacity</a:t>
            </a:r>
            <a:r>
              <a:rPr lang="en-IN" dirty="0"/>
              <a:t> (set RCU/WCU) → predictable workloads</a:t>
            </a:r>
          </a:p>
          <a:p>
            <a:r>
              <a:rPr lang="en-IN" b="1" dirty="0"/>
              <a:t>On-demand</a:t>
            </a:r>
            <a:r>
              <a:rPr lang="en-IN" dirty="0"/>
              <a:t> → pay-per-request → best for unpredictable workloads</a:t>
            </a:r>
          </a:p>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7</a:t>
            </a:fld>
            <a:endParaRPr lang="en-IN"/>
          </a:p>
        </p:txBody>
      </p:sp>
    </p:spTree>
    <p:extLst>
      <p:ext uri="{BB962C8B-B14F-4D97-AF65-F5344CB8AC3E}">
        <p14:creationId xmlns:p14="http://schemas.microsoft.com/office/powerpoint/2010/main" val="1702610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8</a:t>
            </a:fld>
            <a:endParaRPr lang="en-IN"/>
          </a:p>
        </p:txBody>
      </p:sp>
    </p:spTree>
    <p:extLst>
      <p:ext uri="{BB962C8B-B14F-4D97-AF65-F5344CB8AC3E}">
        <p14:creationId xmlns:p14="http://schemas.microsoft.com/office/powerpoint/2010/main" val="2107976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A5B81D-974B-4888-AC1E-5E8DBE19A6D1}" type="slidenum">
              <a:rPr lang="en-IN" smtClean="0"/>
              <a:t>9</a:t>
            </a:fld>
            <a:endParaRPr lang="en-IN"/>
          </a:p>
        </p:txBody>
      </p:sp>
    </p:spTree>
    <p:extLst>
      <p:ext uri="{BB962C8B-B14F-4D97-AF65-F5344CB8AC3E}">
        <p14:creationId xmlns:p14="http://schemas.microsoft.com/office/powerpoint/2010/main" val="2304460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924AA-1EE2-1ACC-FEC2-9C84D42E49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AFA11A-96EA-BB30-2CA5-E89C417B20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8BE9BA-3CEB-821A-BC60-F866B49CCA80}"/>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1F340FE0-EE24-0038-2918-0FB43196A7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4DCE4-70FF-6F0C-4A91-4D4DA7AB0005}"/>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558946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EF975-0E46-6652-134E-66784D1291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F08796-0B89-91F5-45A6-1E5E333356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6A4FBA-A7D2-0C6E-C975-C7E65C10FB1C}"/>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F900D225-3939-FAAE-7425-A1FAA19AA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BC1667-8D67-01E6-E44E-6C8A8BDF6172}"/>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122769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C5B1-CC0D-31C4-0BDA-499123A5E2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CAC3F8-ED06-1914-8AED-EBE4EB049D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E18737-3353-9366-711A-457DBE50C2B7}"/>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02A3A856-9A08-9FDB-5A17-45DFECFAC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D11881-7D0C-2BA5-2BF7-037913BA8F4F}"/>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3664677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E84D-D2AD-ECDC-173D-D3EF87359F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E28BA7-75D1-048D-5D98-EC1334F64D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E697B4-A5D2-010D-DFE3-54F0D46E5A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91ECA2-193B-645A-74D0-6B0161E1F65B}"/>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6" name="Footer Placeholder 5">
            <a:extLst>
              <a:ext uri="{FF2B5EF4-FFF2-40B4-BE49-F238E27FC236}">
                <a16:creationId xmlns:a16="http://schemas.microsoft.com/office/drawing/2014/main" id="{BE5CDA28-CC9C-4B98-6769-A0A10B962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3CB29B-194E-E346-65B9-D9ED31544FBB}"/>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1421960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E7D0-43DD-20AE-7E11-9CFD76D0E3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584030-C3AC-09F4-A917-05209C7BA2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D1D7A1-3069-F042-36E3-49F9B6B5A5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12CC9E-0CC8-CDC4-C06E-CDB17A585D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B5D161-491D-92A0-9996-E5EDF8C302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AAABCF-3808-4B2C-AAE6-60187D38E4AE}"/>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8" name="Footer Placeholder 7">
            <a:extLst>
              <a:ext uri="{FF2B5EF4-FFF2-40B4-BE49-F238E27FC236}">
                <a16:creationId xmlns:a16="http://schemas.microsoft.com/office/drawing/2014/main" id="{45665B31-4D21-04CA-1E24-0275632AEE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D4A397-6F2C-D9F0-F30F-0207C3C7B4EE}"/>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181363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B9A3-A706-A7C5-3C80-ECB45BB95B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751255-01B9-16FD-AC09-E6BC46AE4366}"/>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4" name="Footer Placeholder 3">
            <a:extLst>
              <a:ext uri="{FF2B5EF4-FFF2-40B4-BE49-F238E27FC236}">
                <a16:creationId xmlns:a16="http://schemas.microsoft.com/office/drawing/2014/main" id="{43C6EDB4-18B7-E5A8-075F-8F30681A7F3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F210CC-FD44-8DF9-2B09-AE355591B7F6}"/>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2326144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04195-B89E-A8A0-7EB0-A8ED379590EC}"/>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3" name="Footer Placeholder 2">
            <a:extLst>
              <a:ext uri="{FF2B5EF4-FFF2-40B4-BE49-F238E27FC236}">
                <a16:creationId xmlns:a16="http://schemas.microsoft.com/office/drawing/2014/main" id="{5C4DF784-2E9B-872D-F5FF-E46BD19732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162BF9-C4B9-D1FA-4DB3-2B48AE5666FC}"/>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2022436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EADF-6E98-F148-F26E-80F113D5A9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F6D177-5910-5791-BB48-6DBBB0CB72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427263-9CA4-CCD0-981C-E397ED73C7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9F2365-CD55-052F-D462-67EE8C5CF244}"/>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6" name="Footer Placeholder 5">
            <a:extLst>
              <a:ext uri="{FF2B5EF4-FFF2-40B4-BE49-F238E27FC236}">
                <a16:creationId xmlns:a16="http://schemas.microsoft.com/office/drawing/2014/main" id="{58B07083-CA09-B7C9-0066-7A187E1FEF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845A6B-D803-5A03-9888-3055BC261BDC}"/>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576127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01F0E-F563-7BD2-6976-9DA23F81D8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18AEFF-6ADF-6BEB-B953-391014338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F0C9D6-5047-8E5A-4D60-0D9FC03440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06C03F-5290-29A2-7D65-C0CBB6218050}"/>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6" name="Footer Placeholder 5">
            <a:extLst>
              <a:ext uri="{FF2B5EF4-FFF2-40B4-BE49-F238E27FC236}">
                <a16:creationId xmlns:a16="http://schemas.microsoft.com/office/drawing/2014/main" id="{6D757695-1A4B-AD11-B2CC-63D21C0091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DF65F-0CC1-F375-EB33-3517AF557897}"/>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1356070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6590A-D96A-026F-D192-6D2F6F3B7B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267F53-739A-6E6B-25D6-7D573C4146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096362-FBAB-1837-498D-CF6D0490C1A5}"/>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1D27FD32-31F6-1198-AD11-A6BC91CF5D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12F8D3-8582-3A73-329B-EF16634A116B}"/>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3070036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F11933-8E8A-7A78-85DA-0B9062BFA5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913500-EE26-B3B7-3911-FAA8846E25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F527AF-B4AF-B492-2576-5C9DCD96BC73}"/>
              </a:ext>
            </a:extLst>
          </p:cNvPr>
          <p:cNvSpPr>
            <a:spLocks noGrp="1"/>
          </p:cNvSpPr>
          <p:nvPr>
            <p:ph type="dt" sz="half" idx="10"/>
          </p:nvPr>
        </p:nvSpPr>
        <p:spPr/>
        <p:txBody>
          <a:body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C242A020-AFC9-C977-FD6A-5468C85509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91EC5E-B36F-7C35-84D1-28684B94B2E6}"/>
              </a:ext>
            </a:extLst>
          </p:cNvPr>
          <p:cNvSpPr>
            <a:spLocks noGrp="1"/>
          </p:cNvSpPr>
          <p:nvPr>
            <p:ph type="sldNum" sz="quarter" idx="12"/>
          </p:nvPr>
        </p:nvSpPr>
        <p:spPr/>
        <p:txBody>
          <a:bodyPr/>
          <a:lstStyle/>
          <a:p>
            <a:fld id="{69BF477F-0571-4DEE-B1DC-41C75309BEBF}" type="slidenum">
              <a:rPr lang="en-IN" smtClean="0"/>
              <a:t>‹#›</a:t>
            </a:fld>
            <a:endParaRPr lang="en-IN"/>
          </a:p>
        </p:txBody>
      </p:sp>
    </p:spTree>
    <p:extLst>
      <p:ext uri="{BB962C8B-B14F-4D97-AF65-F5344CB8AC3E}">
        <p14:creationId xmlns:p14="http://schemas.microsoft.com/office/powerpoint/2010/main" val="51532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DF3DB-826D-1F0E-6667-1F9EE9B4C1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B2314A-CE05-B0E6-9FEC-9675E5667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DBEFA6-CADB-0B0B-CB2C-593A8EC60B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266F91-56F7-4D94-8B60-0B78D5D045B1}" type="datetimeFigureOut">
              <a:rPr lang="en-IN" smtClean="0"/>
              <a:t>19-09-2025</a:t>
            </a:fld>
            <a:endParaRPr lang="en-IN"/>
          </a:p>
        </p:txBody>
      </p:sp>
      <p:sp>
        <p:nvSpPr>
          <p:cNvPr id="5" name="Footer Placeholder 4">
            <a:extLst>
              <a:ext uri="{FF2B5EF4-FFF2-40B4-BE49-F238E27FC236}">
                <a16:creationId xmlns:a16="http://schemas.microsoft.com/office/drawing/2014/main" id="{55BEA18F-8660-C282-9B87-5B9A42699F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0C19A56-B085-96DE-367E-0FF892F02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BF477F-0571-4DEE-B1DC-41C75309BEBF}" type="slidenum">
              <a:rPr lang="en-IN" smtClean="0"/>
              <a:t>‹#›</a:t>
            </a:fld>
            <a:endParaRPr lang="en-IN"/>
          </a:p>
        </p:txBody>
      </p:sp>
    </p:spTree>
    <p:extLst>
      <p:ext uri="{BB962C8B-B14F-4D97-AF65-F5344CB8AC3E}">
        <p14:creationId xmlns:p14="http://schemas.microsoft.com/office/powerpoint/2010/main" val="1262282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304A4-58D7-54DE-5056-D4BBF70582E1}"/>
              </a:ext>
            </a:extLst>
          </p:cNvPr>
          <p:cNvSpPr>
            <a:spLocks noGrp="1"/>
          </p:cNvSpPr>
          <p:nvPr>
            <p:ph type="ctrTitle"/>
          </p:nvPr>
        </p:nvSpPr>
        <p:spPr/>
        <p:txBody>
          <a:bodyPr/>
          <a:lstStyle/>
          <a:p>
            <a:r>
              <a:rPr lang="en-IN" dirty="0"/>
              <a:t>Introduction to AWS Databases</a:t>
            </a:r>
          </a:p>
        </p:txBody>
      </p:sp>
    </p:spTree>
    <p:extLst>
      <p:ext uri="{BB962C8B-B14F-4D97-AF65-F5344CB8AC3E}">
        <p14:creationId xmlns:p14="http://schemas.microsoft.com/office/powerpoint/2010/main" val="2535530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0051FC-3C62-0567-AAE3-7B75483A9EA4}"/>
              </a:ext>
            </a:extLst>
          </p:cNvPr>
          <p:cNvSpPr>
            <a:spLocks noGrp="1"/>
          </p:cNvSpPr>
          <p:nvPr>
            <p:ph type="title"/>
          </p:nvPr>
        </p:nvSpPr>
        <p:spPr>
          <a:xfrm>
            <a:off x="838200" y="557188"/>
            <a:ext cx="10515600" cy="1133499"/>
          </a:xfrm>
        </p:spPr>
        <p:txBody>
          <a:bodyPr>
            <a:normAutofit/>
          </a:bodyPr>
          <a:lstStyle/>
          <a:p>
            <a:pPr algn="ctr"/>
            <a:r>
              <a:rPr lang="en-US" sz="5200" dirty="0"/>
              <a:t>AWS database services</a:t>
            </a:r>
            <a:endParaRPr lang="en-IN" sz="5200" dirty="0"/>
          </a:p>
        </p:txBody>
      </p:sp>
      <p:graphicFrame>
        <p:nvGraphicFramePr>
          <p:cNvPr id="7" name="Content Placeholder 6">
            <a:extLst>
              <a:ext uri="{FF2B5EF4-FFF2-40B4-BE49-F238E27FC236}">
                <a16:creationId xmlns:a16="http://schemas.microsoft.com/office/drawing/2014/main" id="{ADF47D84-9721-E4AF-12B0-1806DDEAD921}"/>
              </a:ext>
            </a:extLst>
          </p:cNvPr>
          <p:cNvGraphicFramePr>
            <a:graphicFrameLocks noGrp="1"/>
          </p:cNvGraphicFramePr>
          <p:nvPr>
            <p:ph idx="1"/>
            <p:extLst>
              <p:ext uri="{D42A27DB-BD31-4B8C-83A1-F6EECF244321}">
                <p14:modId xmlns:p14="http://schemas.microsoft.com/office/powerpoint/2010/main" val="881226769"/>
              </p:ext>
            </p:extLst>
          </p:nvPr>
        </p:nvGraphicFramePr>
        <p:xfrm>
          <a:off x="838200" y="1845103"/>
          <a:ext cx="10515602" cy="4319942"/>
        </p:xfrm>
        <a:graphic>
          <a:graphicData uri="http://schemas.openxmlformats.org/drawingml/2006/table">
            <a:tbl>
              <a:tblPr>
                <a:noFill/>
              </a:tblPr>
              <a:tblGrid>
                <a:gridCol w="3920449">
                  <a:extLst>
                    <a:ext uri="{9D8B030D-6E8A-4147-A177-3AD203B41FA5}">
                      <a16:colId xmlns:a16="http://schemas.microsoft.com/office/drawing/2014/main" val="399874273"/>
                    </a:ext>
                  </a:extLst>
                </a:gridCol>
                <a:gridCol w="2496507">
                  <a:extLst>
                    <a:ext uri="{9D8B030D-6E8A-4147-A177-3AD203B41FA5}">
                      <a16:colId xmlns:a16="http://schemas.microsoft.com/office/drawing/2014/main" val="3120319545"/>
                    </a:ext>
                  </a:extLst>
                </a:gridCol>
                <a:gridCol w="4098646">
                  <a:extLst>
                    <a:ext uri="{9D8B030D-6E8A-4147-A177-3AD203B41FA5}">
                      <a16:colId xmlns:a16="http://schemas.microsoft.com/office/drawing/2014/main" val="1538787699"/>
                    </a:ext>
                  </a:extLst>
                </a:gridCol>
              </a:tblGrid>
              <a:tr h="392722">
                <a:tc>
                  <a:txBody>
                    <a:bodyPr/>
                    <a:lstStyle/>
                    <a:p>
                      <a:pPr>
                        <a:buNone/>
                      </a:pPr>
                      <a:r>
                        <a:rPr lang="en-IN" sz="1600" b="1" cap="none" spc="0">
                          <a:solidFill>
                            <a:schemeClr val="tx1"/>
                          </a:solidFill>
                        </a:rPr>
                        <a:t>Category</a:t>
                      </a:r>
                      <a:endParaRPr lang="en-IN" sz="1600" cap="none" spc="0">
                        <a:solidFill>
                          <a:schemeClr val="tx1"/>
                        </a:solidFill>
                      </a:endParaRPr>
                    </a:p>
                  </a:txBody>
                  <a:tcPr marL="0" marR="106922" marT="53460" marB="5346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tc>
                  <a:txBody>
                    <a:bodyPr/>
                    <a:lstStyle/>
                    <a:p>
                      <a:pPr>
                        <a:buNone/>
                      </a:pPr>
                      <a:r>
                        <a:rPr lang="en-IN" sz="1600" b="1" cap="none" spc="0">
                          <a:solidFill>
                            <a:schemeClr val="tx1"/>
                          </a:solidFill>
                        </a:rPr>
                        <a:t>Service</a:t>
                      </a:r>
                      <a:endParaRPr lang="en-IN" sz="1600" cap="none" spc="0">
                        <a:solidFill>
                          <a:schemeClr val="tx1"/>
                        </a:solidFill>
                      </a:endParaRPr>
                    </a:p>
                  </a:txBody>
                  <a:tcPr marL="0" marR="106922" marT="53460" marB="5346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tc>
                  <a:txBody>
                    <a:bodyPr/>
                    <a:lstStyle/>
                    <a:p>
                      <a:pPr>
                        <a:buNone/>
                      </a:pPr>
                      <a:r>
                        <a:rPr lang="en-IN" sz="1600" b="1" cap="none" spc="0">
                          <a:solidFill>
                            <a:schemeClr val="tx1"/>
                          </a:solidFill>
                        </a:rPr>
                        <a:t>Type</a:t>
                      </a:r>
                      <a:endParaRPr lang="en-IN" sz="1600" cap="none" spc="0">
                        <a:solidFill>
                          <a:schemeClr val="tx1"/>
                        </a:solidFill>
                      </a:endParaRPr>
                    </a:p>
                  </a:txBody>
                  <a:tcPr marL="0" marR="106922" marT="53460" marB="5346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extLst>
                  <a:ext uri="{0D108BD9-81ED-4DB2-BD59-A6C34878D82A}">
                    <a16:rowId xmlns:a16="http://schemas.microsoft.com/office/drawing/2014/main" val="1153878993"/>
                  </a:ext>
                </a:extLst>
              </a:tr>
              <a:tr h="392722">
                <a:tc>
                  <a:txBody>
                    <a:bodyPr/>
                    <a:lstStyle/>
                    <a:p>
                      <a:pPr>
                        <a:buNone/>
                      </a:pPr>
                      <a:r>
                        <a:rPr lang="en-IN" sz="1600" b="1" cap="none" spc="0">
                          <a:solidFill>
                            <a:schemeClr val="tx1"/>
                          </a:solidFill>
                        </a:rPr>
                        <a:t>Relational (SQL)</a:t>
                      </a: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Amazon RDS</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Managed Relational DB</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30496801"/>
                  </a:ext>
                </a:extLst>
              </a:tr>
              <a:tr h="392722">
                <a:tc>
                  <a:txBody>
                    <a:bodyPr/>
                    <a:lstStyle/>
                    <a:p>
                      <a:pPr>
                        <a:buNone/>
                      </a:pP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Amazon Aurora</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Cloud-native Relational</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19672210"/>
                  </a:ext>
                </a:extLst>
              </a:tr>
              <a:tr h="392722">
                <a:tc>
                  <a:txBody>
                    <a:bodyPr/>
                    <a:lstStyle/>
                    <a:p>
                      <a:pPr>
                        <a:buNone/>
                      </a:pPr>
                      <a:r>
                        <a:rPr lang="en-IN" sz="1600" b="1" cap="none" spc="0">
                          <a:solidFill>
                            <a:schemeClr val="tx1"/>
                          </a:solidFill>
                        </a:rPr>
                        <a:t>NoSQL</a:t>
                      </a: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DynamoDB</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Key-Value / Document</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05304774"/>
                  </a:ext>
                </a:extLst>
              </a:tr>
              <a:tr h="392722">
                <a:tc>
                  <a:txBody>
                    <a:bodyPr/>
                    <a:lstStyle/>
                    <a:p>
                      <a:pPr>
                        <a:buNone/>
                      </a:pP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DocumentDB</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Document DB (MongoDB compatible)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15095021"/>
                  </a:ext>
                </a:extLst>
              </a:tr>
              <a:tr h="392722">
                <a:tc>
                  <a:txBody>
                    <a:bodyPr/>
                    <a:lstStyle/>
                    <a:p>
                      <a:pPr>
                        <a:buNone/>
                      </a:pP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err="1">
                          <a:solidFill>
                            <a:schemeClr val="tx1"/>
                          </a:solidFill>
                        </a:rPr>
                        <a:t>Keyspaces</a:t>
                      </a:r>
                      <a:endParaRPr lang="en-IN" sz="1600" cap="none" spc="0" dirty="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Wide Column DB (Cassandra compatible)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63813980"/>
                  </a:ext>
                </a:extLst>
              </a:tr>
              <a:tr h="392722">
                <a:tc>
                  <a:txBody>
                    <a:bodyPr/>
                    <a:lstStyle/>
                    <a:p>
                      <a:pPr>
                        <a:buNone/>
                      </a:pPr>
                      <a:r>
                        <a:rPr lang="en-IN" sz="1600" b="1" cap="none" spc="0" dirty="0">
                          <a:solidFill>
                            <a:schemeClr val="tx1"/>
                          </a:solidFill>
                        </a:rPr>
                        <a:t>In-Memory</a:t>
                      </a:r>
                      <a:endParaRPr lang="en-IN" sz="1600" cap="none" spc="0" dirty="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ElastiCache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In-Memory Cache (Redis, Memcached)</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40492783"/>
                  </a:ext>
                </a:extLst>
              </a:tr>
              <a:tr h="392722">
                <a:tc>
                  <a:txBody>
                    <a:bodyPr/>
                    <a:lstStyle/>
                    <a:p>
                      <a:pPr>
                        <a:buNone/>
                      </a:pPr>
                      <a:r>
                        <a:rPr lang="en-IN" sz="1600" b="1" cap="none" spc="0" dirty="0">
                          <a:solidFill>
                            <a:schemeClr val="tx1"/>
                          </a:solidFill>
                        </a:rPr>
                        <a:t>Analytics / Warehousing</a:t>
                      </a:r>
                      <a:endParaRPr lang="en-IN" sz="1600" cap="none" spc="0" dirty="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Redshift</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Data Warehouse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27316693"/>
                  </a:ext>
                </a:extLst>
              </a:tr>
              <a:tr h="392722">
                <a:tc>
                  <a:txBody>
                    <a:bodyPr/>
                    <a:lstStyle/>
                    <a:p>
                      <a:pPr>
                        <a:buNone/>
                      </a:pPr>
                      <a:r>
                        <a:rPr lang="en-IN" sz="1600" b="1" cap="none" spc="0">
                          <a:solidFill>
                            <a:schemeClr val="tx1"/>
                          </a:solidFill>
                        </a:rPr>
                        <a:t>Graph</a:t>
                      </a: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Neptune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Graph Database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21671758"/>
                  </a:ext>
                </a:extLst>
              </a:tr>
              <a:tr h="392722">
                <a:tc>
                  <a:txBody>
                    <a:bodyPr/>
                    <a:lstStyle/>
                    <a:p>
                      <a:pPr>
                        <a:buNone/>
                      </a:pPr>
                      <a:r>
                        <a:rPr lang="en-IN" sz="1600" b="1" cap="none" spc="0">
                          <a:solidFill>
                            <a:schemeClr val="tx1"/>
                          </a:solidFill>
                        </a:rPr>
                        <a:t>Ledger</a:t>
                      </a: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QLDB</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Ledger Database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5239243"/>
                  </a:ext>
                </a:extLst>
              </a:tr>
              <a:tr h="392722">
                <a:tc>
                  <a:txBody>
                    <a:bodyPr/>
                    <a:lstStyle/>
                    <a:p>
                      <a:pPr>
                        <a:buNone/>
                      </a:pPr>
                      <a:r>
                        <a:rPr lang="en-IN" sz="1600" b="1" cap="none" spc="0">
                          <a:solidFill>
                            <a:schemeClr val="tx1"/>
                          </a:solidFill>
                        </a:rPr>
                        <a:t>Time-Series</a:t>
                      </a:r>
                      <a:endParaRPr lang="en-IN" sz="1600" cap="none" spc="0">
                        <a:solidFill>
                          <a:schemeClr val="tx1"/>
                        </a:solidFill>
                      </a:endParaRP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a:solidFill>
                            <a:schemeClr val="tx1"/>
                          </a:solidFill>
                        </a:rPr>
                        <a:t>Timestream</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600" cap="none" spc="0" dirty="0">
                          <a:solidFill>
                            <a:schemeClr val="tx1"/>
                          </a:solidFill>
                        </a:rPr>
                        <a:t>Time-Series Database</a:t>
                      </a:r>
                    </a:p>
                  </a:txBody>
                  <a:tcPr marL="0" marR="106922" marT="53460" marB="5346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78405243"/>
                  </a:ext>
                </a:extLst>
              </a:tr>
            </a:tbl>
          </a:graphicData>
        </a:graphic>
      </p:graphicFrame>
    </p:spTree>
    <p:extLst>
      <p:ext uri="{BB962C8B-B14F-4D97-AF65-F5344CB8AC3E}">
        <p14:creationId xmlns:p14="http://schemas.microsoft.com/office/powerpoint/2010/main" val="4070465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283E7-D8EC-D426-F06F-BFBB7BE5D162}"/>
              </a:ext>
            </a:extLst>
          </p:cNvPr>
          <p:cNvSpPr>
            <a:spLocks noGrp="1"/>
          </p:cNvSpPr>
          <p:nvPr>
            <p:ph type="title"/>
          </p:nvPr>
        </p:nvSpPr>
        <p:spPr>
          <a:xfrm>
            <a:off x="838200" y="100954"/>
            <a:ext cx="10515600" cy="620015"/>
          </a:xfrm>
        </p:spPr>
        <p:txBody>
          <a:bodyPr>
            <a:normAutofit fontScale="90000"/>
          </a:bodyPr>
          <a:lstStyle/>
          <a:p>
            <a:pPr algn="ctr"/>
            <a:r>
              <a:rPr lang="en-US" dirty="0"/>
              <a:t>Traditional vs Cloud-Hosted vs Managed</a:t>
            </a:r>
            <a:endParaRPr lang="en-IN" dirty="0"/>
          </a:p>
        </p:txBody>
      </p:sp>
      <p:graphicFrame>
        <p:nvGraphicFramePr>
          <p:cNvPr id="8" name="Table 7">
            <a:extLst>
              <a:ext uri="{FF2B5EF4-FFF2-40B4-BE49-F238E27FC236}">
                <a16:creationId xmlns:a16="http://schemas.microsoft.com/office/drawing/2014/main" id="{72A23815-4EE5-2295-28C5-413EA45B9939}"/>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54598120"/>
              </p:ext>
            </p:extLst>
          </p:nvPr>
        </p:nvGraphicFramePr>
        <p:xfrm>
          <a:off x="187336" y="1271347"/>
          <a:ext cx="3217851" cy="4689835"/>
        </p:xfrm>
        <a:graphic>
          <a:graphicData uri="http://schemas.openxmlformats.org/drawingml/2006/table">
            <a:tbl>
              <a:tblPr bandRow="1">
                <a:tableStyleId>{5C22544A-7EE6-4342-B048-85BDC9FD1C3A}</a:tableStyleId>
              </a:tblPr>
              <a:tblGrid>
                <a:gridCol w="3217851">
                  <a:extLst>
                    <a:ext uri="{9D8B030D-6E8A-4147-A177-3AD203B41FA5}">
                      <a16:colId xmlns:a16="http://schemas.microsoft.com/office/drawing/2014/main" val="700910346"/>
                    </a:ext>
                  </a:extLst>
                </a:gridCol>
              </a:tblGrid>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Application optimization</a:t>
                      </a:r>
                    </a:p>
                  </a:txBody>
                  <a:tcPr anchor="ctr">
                    <a:solidFill>
                      <a:schemeClr val="tx1">
                        <a:lumMod val="65000"/>
                        <a:lumOff val="35000"/>
                      </a:schemeClr>
                    </a:solidFill>
                  </a:tcPr>
                </a:tc>
                <a:extLst>
                  <a:ext uri="{0D108BD9-81ED-4DB2-BD59-A6C34878D82A}">
                    <a16:rowId xmlns:a16="http://schemas.microsoft.com/office/drawing/2014/main" val="3823034508"/>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Scaling</a:t>
                      </a:r>
                    </a:p>
                  </a:txBody>
                  <a:tcPr anchor="ctr">
                    <a:solidFill>
                      <a:schemeClr val="tx1">
                        <a:lumMod val="65000"/>
                        <a:lumOff val="35000"/>
                      </a:schemeClr>
                    </a:solidFill>
                  </a:tcPr>
                </a:tc>
                <a:extLst>
                  <a:ext uri="{0D108BD9-81ED-4DB2-BD59-A6C34878D82A}">
                    <a16:rowId xmlns:a16="http://schemas.microsoft.com/office/drawing/2014/main" val="1176857389"/>
                  </a:ext>
                </a:extLst>
              </a:tr>
              <a:tr h="432765">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High availability</a:t>
                      </a:r>
                    </a:p>
                  </a:txBody>
                  <a:tcPr anchor="ctr">
                    <a:solidFill>
                      <a:schemeClr val="tx1">
                        <a:lumMod val="65000"/>
                        <a:lumOff val="35000"/>
                      </a:schemeClr>
                    </a:solidFill>
                  </a:tcPr>
                </a:tc>
                <a:extLst>
                  <a:ext uri="{0D108BD9-81ED-4DB2-BD59-A6C34878D82A}">
                    <a16:rowId xmlns:a16="http://schemas.microsoft.com/office/drawing/2014/main" val="3231154821"/>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backups</a:t>
                      </a:r>
                    </a:p>
                  </a:txBody>
                  <a:tcPr anchor="ctr">
                    <a:solidFill>
                      <a:schemeClr val="tx1">
                        <a:lumMod val="65000"/>
                        <a:lumOff val="35000"/>
                      </a:schemeClr>
                    </a:solidFill>
                  </a:tcPr>
                </a:tc>
                <a:extLst>
                  <a:ext uri="{0D108BD9-81ED-4DB2-BD59-A6C34878D82A}">
                    <a16:rowId xmlns:a16="http://schemas.microsoft.com/office/drawing/2014/main" val="2154604692"/>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a:t>
                      </a:r>
                      <a:r>
                        <a:rPr lang="en-US" baseline="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software patches</a:t>
                      </a: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solidFill>
                      <a:schemeClr val="tx1">
                        <a:lumMod val="65000"/>
                        <a:lumOff val="35000"/>
                      </a:schemeClr>
                    </a:solidFill>
                  </a:tcPr>
                </a:tc>
                <a:extLst>
                  <a:ext uri="{0D108BD9-81ED-4DB2-BD59-A6C34878D82A}">
                    <a16:rowId xmlns:a16="http://schemas.microsoft.com/office/drawing/2014/main" val="453278401"/>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software installs</a:t>
                      </a:r>
                    </a:p>
                  </a:txBody>
                  <a:tcPr anchor="ctr">
                    <a:solidFill>
                      <a:schemeClr val="tx1">
                        <a:lumMod val="65000"/>
                        <a:lumOff val="35000"/>
                      </a:schemeClr>
                    </a:solidFill>
                  </a:tcPr>
                </a:tc>
                <a:extLst>
                  <a:ext uri="{0D108BD9-81ED-4DB2-BD59-A6C34878D82A}">
                    <a16:rowId xmlns:a16="http://schemas.microsoft.com/office/drawing/2014/main" val="1060203005"/>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Operating system (OS) patches</a:t>
                      </a:r>
                    </a:p>
                  </a:txBody>
                  <a:tcPr anchor="ctr">
                    <a:solidFill>
                      <a:schemeClr val="tx1">
                        <a:lumMod val="65000"/>
                        <a:lumOff val="35000"/>
                      </a:schemeClr>
                    </a:solidFill>
                  </a:tcPr>
                </a:tc>
                <a:extLst>
                  <a:ext uri="{0D108BD9-81ED-4DB2-BD59-A6C34878D82A}">
                    <a16:rowId xmlns:a16="http://schemas.microsoft.com/office/drawing/2014/main" val="1214635321"/>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a:txBody>
                  <a:tcPr anchor="ctr">
                    <a:solidFill>
                      <a:schemeClr val="tx1">
                        <a:lumMod val="65000"/>
                        <a:lumOff val="35000"/>
                      </a:schemeClr>
                    </a:solidFill>
                  </a:tcPr>
                </a:tc>
                <a:extLst>
                  <a:ext uri="{0D108BD9-81ED-4DB2-BD59-A6C34878D82A}">
                    <a16:rowId xmlns:a16="http://schemas.microsoft.com/office/drawing/2014/main" val="3203636683"/>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a:txBody>
                  <a:tcPr anchor="ctr">
                    <a:solidFill>
                      <a:schemeClr val="tx1">
                        <a:lumMod val="65000"/>
                        <a:lumOff val="35000"/>
                      </a:schemeClr>
                    </a:solidFill>
                  </a:tcPr>
                </a:tc>
                <a:extLst>
                  <a:ext uri="{0D108BD9-81ED-4DB2-BD59-A6C34878D82A}">
                    <a16:rowId xmlns:a16="http://schemas.microsoft.com/office/drawing/2014/main" val="2601193532"/>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a:txBody>
                  <a:tcPr anchor="ctr">
                    <a:solidFill>
                      <a:schemeClr val="tx1">
                        <a:lumMod val="65000"/>
                        <a:lumOff val="35000"/>
                      </a:schemeClr>
                    </a:solidFill>
                  </a:tcPr>
                </a:tc>
                <a:extLst>
                  <a:ext uri="{0D108BD9-81ED-4DB2-BD59-A6C34878D82A}">
                    <a16:rowId xmlns:a16="http://schemas.microsoft.com/office/drawing/2014/main" val="21556069"/>
                  </a:ext>
                </a:extLst>
              </a:tr>
              <a:tr h="42570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network</a:t>
                      </a:r>
                    </a:p>
                  </a:txBody>
                  <a:tcPr anchor="ctr">
                    <a:solidFill>
                      <a:schemeClr val="tx1">
                        <a:lumMod val="65000"/>
                        <a:lumOff val="35000"/>
                      </a:schemeClr>
                    </a:solidFill>
                  </a:tcPr>
                </a:tc>
                <a:extLst>
                  <a:ext uri="{0D108BD9-81ED-4DB2-BD59-A6C34878D82A}">
                    <a16:rowId xmlns:a16="http://schemas.microsoft.com/office/drawing/2014/main" val="2960649243"/>
                  </a:ext>
                </a:extLst>
              </a:tr>
            </a:tbl>
          </a:graphicData>
        </a:graphic>
      </p:graphicFrame>
      <p:graphicFrame>
        <p:nvGraphicFramePr>
          <p:cNvPr id="9" name="Table 8">
            <a:extLst>
              <a:ext uri="{FF2B5EF4-FFF2-40B4-BE49-F238E27FC236}">
                <a16:creationId xmlns:a16="http://schemas.microsoft.com/office/drawing/2014/main" id="{B528B3A3-3E22-97DC-D63E-9231540DFA88}"/>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2797388855"/>
              </p:ext>
            </p:extLst>
          </p:nvPr>
        </p:nvGraphicFramePr>
        <p:xfrm>
          <a:off x="4381412" y="1297298"/>
          <a:ext cx="3654757" cy="4663888"/>
        </p:xfrm>
        <a:graphic>
          <a:graphicData uri="http://schemas.openxmlformats.org/drawingml/2006/table">
            <a:tbl>
              <a:tblPr bandRow="1">
                <a:tableStyleId>{5C22544A-7EE6-4342-B048-85BDC9FD1C3A}</a:tableStyleId>
              </a:tblPr>
              <a:tblGrid>
                <a:gridCol w="3654757">
                  <a:extLst>
                    <a:ext uri="{9D8B030D-6E8A-4147-A177-3AD203B41FA5}">
                      <a16:colId xmlns:a16="http://schemas.microsoft.com/office/drawing/2014/main" val="700910346"/>
                    </a:ext>
                  </a:extLst>
                </a:gridCol>
              </a:tblGrid>
              <a:tr h="397697">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Application optimization</a:t>
                      </a:r>
                    </a:p>
                  </a:txBody>
                  <a:tcPr anchor="ctr">
                    <a:solidFill>
                      <a:schemeClr val="tx1">
                        <a:lumMod val="75000"/>
                        <a:lumOff val="25000"/>
                      </a:schemeClr>
                    </a:solidFill>
                  </a:tcPr>
                </a:tc>
                <a:extLst>
                  <a:ext uri="{0D108BD9-81ED-4DB2-BD59-A6C34878D82A}">
                    <a16:rowId xmlns:a16="http://schemas.microsoft.com/office/drawing/2014/main" val="3823034508"/>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Scaling</a:t>
                      </a:r>
                    </a:p>
                  </a:txBody>
                  <a:tcPr anchor="ctr">
                    <a:solidFill>
                      <a:schemeClr val="tx1">
                        <a:lumMod val="75000"/>
                        <a:lumOff val="25000"/>
                      </a:schemeClr>
                    </a:solidFill>
                  </a:tcPr>
                </a:tc>
                <a:extLst>
                  <a:ext uri="{0D108BD9-81ED-4DB2-BD59-A6C34878D82A}">
                    <a16:rowId xmlns:a16="http://schemas.microsoft.com/office/drawing/2014/main" val="1176857389"/>
                  </a:ext>
                </a:extLst>
              </a:tr>
              <a:tr h="432974">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High availability</a:t>
                      </a:r>
                    </a:p>
                  </a:txBody>
                  <a:tcPr anchor="ctr">
                    <a:solidFill>
                      <a:schemeClr val="tx1">
                        <a:lumMod val="75000"/>
                        <a:lumOff val="25000"/>
                      </a:schemeClr>
                    </a:solidFill>
                  </a:tcPr>
                </a:tc>
                <a:extLst>
                  <a:ext uri="{0D108BD9-81ED-4DB2-BD59-A6C34878D82A}">
                    <a16:rowId xmlns:a16="http://schemas.microsoft.com/office/drawing/2014/main" val="3231154821"/>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backups</a:t>
                      </a:r>
                    </a:p>
                  </a:txBody>
                  <a:tcPr anchor="ctr">
                    <a:solidFill>
                      <a:schemeClr val="tx1">
                        <a:lumMod val="75000"/>
                        <a:lumOff val="25000"/>
                      </a:schemeClr>
                    </a:solidFill>
                  </a:tcPr>
                </a:tc>
                <a:extLst>
                  <a:ext uri="{0D108BD9-81ED-4DB2-BD59-A6C34878D82A}">
                    <a16:rowId xmlns:a16="http://schemas.microsoft.com/office/drawing/2014/main" val="2154604692"/>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a:t>
                      </a:r>
                      <a:r>
                        <a:rPr lang="en-US" baseline="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software patches</a:t>
                      </a: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solidFill>
                      <a:schemeClr val="tx1">
                        <a:lumMod val="75000"/>
                        <a:lumOff val="25000"/>
                      </a:schemeClr>
                    </a:solidFill>
                  </a:tcPr>
                </a:tc>
                <a:extLst>
                  <a:ext uri="{0D108BD9-81ED-4DB2-BD59-A6C34878D82A}">
                    <a16:rowId xmlns:a16="http://schemas.microsoft.com/office/drawing/2014/main" val="453278401"/>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software installs</a:t>
                      </a:r>
                    </a:p>
                  </a:txBody>
                  <a:tcPr anchor="ctr">
                    <a:solidFill>
                      <a:schemeClr val="tx1">
                        <a:lumMod val="75000"/>
                        <a:lumOff val="25000"/>
                      </a:schemeClr>
                    </a:solidFill>
                  </a:tcPr>
                </a:tc>
                <a:extLst>
                  <a:ext uri="{0D108BD9-81ED-4DB2-BD59-A6C34878D82A}">
                    <a16:rowId xmlns:a16="http://schemas.microsoft.com/office/drawing/2014/main" val="1060203005"/>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Operating system (OS) patches</a:t>
                      </a:r>
                    </a:p>
                  </a:txBody>
                  <a:tcPr anchor="ctr">
                    <a:solidFill>
                      <a:schemeClr val="tx1">
                        <a:lumMod val="75000"/>
                        <a:lumOff val="25000"/>
                      </a:schemeClr>
                    </a:solidFill>
                  </a:tcPr>
                </a:tc>
                <a:extLst>
                  <a:ext uri="{0D108BD9-81ED-4DB2-BD59-A6C34878D82A}">
                    <a16:rowId xmlns:a16="http://schemas.microsoft.com/office/drawing/2014/main" val="1214635321"/>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a:txBody>
                  <a:tcPr anchor="ctr">
                    <a:solidFill>
                      <a:schemeClr val="tx2">
                        <a:lumMod val="75000"/>
                        <a:lumOff val="25000"/>
                      </a:schemeClr>
                    </a:solidFill>
                  </a:tcPr>
                </a:tc>
                <a:extLst>
                  <a:ext uri="{0D108BD9-81ED-4DB2-BD59-A6C34878D82A}">
                    <a16:rowId xmlns:a16="http://schemas.microsoft.com/office/drawing/2014/main" val="3203636683"/>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a:txBody>
                  <a:tcPr anchor="ctr">
                    <a:solidFill>
                      <a:schemeClr val="tx2">
                        <a:lumMod val="75000"/>
                        <a:lumOff val="25000"/>
                      </a:schemeClr>
                    </a:solidFill>
                  </a:tcPr>
                </a:tc>
                <a:extLst>
                  <a:ext uri="{0D108BD9-81ED-4DB2-BD59-A6C34878D82A}">
                    <a16:rowId xmlns:a16="http://schemas.microsoft.com/office/drawing/2014/main" val="2601193532"/>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a:txBody>
                  <a:tcPr anchor="ctr">
                    <a:solidFill>
                      <a:schemeClr val="tx2">
                        <a:lumMod val="75000"/>
                        <a:lumOff val="25000"/>
                      </a:schemeClr>
                    </a:solidFill>
                  </a:tcPr>
                </a:tc>
                <a:extLst>
                  <a:ext uri="{0D108BD9-81ED-4DB2-BD59-A6C34878D82A}">
                    <a16:rowId xmlns:a16="http://schemas.microsoft.com/office/drawing/2014/main" val="21556069"/>
                  </a:ext>
                </a:extLst>
              </a:tr>
              <a:tr h="425913">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network</a:t>
                      </a:r>
                    </a:p>
                  </a:txBody>
                  <a:tcPr anchor="ctr">
                    <a:solidFill>
                      <a:schemeClr val="tx2">
                        <a:lumMod val="75000"/>
                        <a:lumOff val="25000"/>
                      </a:schemeClr>
                    </a:solidFill>
                  </a:tcPr>
                </a:tc>
                <a:extLst>
                  <a:ext uri="{0D108BD9-81ED-4DB2-BD59-A6C34878D82A}">
                    <a16:rowId xmlns:a16="http://schemas.microsoft.com/office/drawing/2014/main" val="2960649243"/>
                  </a:ext>
                </a:extLst>
              </a:tr>
            </a:tbl>
          </a:graphicData>
        </a:graphic>
      </p:graphicFrame>
      <p:graphicFrame>
        <p:nvGraphicFramePr>
          <p:cNvPr id="10" name="Table 9">
            <a:extLst>
              <a:ext uri="{FF2B5EF4-FFF2-40B4-BE49-F238E27FC236}">
                <a16:creationId xmlns:a16="http://schemas.microsoft.com/office/drawing/2014/main" id="{69E735CC-F428-2AA8-FBEB-797976F684C8}"/>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555704270"/>
              </p:ext>
            </p:extLst>
          </p:nvPr>
        </p:nvGraphicFramePr>
        <p:xfrm>
          <a:off x="8586788" y="1297298"/>
          <a:ext cx="3417876" cy="4663880"/>
        </p:xfrm>
        <a:graphic>
          <a:graphicData uri="http://schemas.openxmlformats.org/drawingml/2006/table">
            <a:tbl>
              <a:tblPr bandRow="1">
                <a:tableStyleId>{5C22544A-7EE6-4342-B048-85BDC9FD1C3A}</a:tableStyleId>
              </a:tblPr>
              <a:tblGrid>
                <a:gridCol w="3417876">
                  <a:extLst>
                    <a:ext uri="{9D8B030D-6E8A-4147-A177-3AD203B41FA5}">
                      <a16:colId xmlns:a16="http://schemas.microsoft.com/office/drawing/2014/main" val="700910346"/>
                    </a:ext>
                  </a:extLst>
                </a:gridCol>
              </a:tblGrid>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Application optimization</a:t>
                      </a:r>
                    </a:p>
                  </a:txBody>
                  <a:tcPr anchor="ctr">
                    <a:solidFill>
                      <a:schemeClr val="tx1">
                        <a:lumMod val="75000"/>
                        <a:lumOff val="25000"/>
                      </a:schemeClr>
                    </a:solidFill>
                  </a:tcPr>
                </a:tc>
                <a:extLst>
                  <a:ext uri="{0D108BD9-81ED-4DB2-BD59-A6C34878D82A}">
                    <a16:rowId xmlns:a16="http://schemas.microsoft.com/office/drawing/2014/main" val="3823034508"/>
                  </a:ext>
                </a:extLst>
              </a:tr>
              <a:tr h="423351">
                <a:tc>
                  <a:txBody>
                    <a:bodyPr/>
                    <a:lstStyle/>
                    <a:p>
                      <a:pPr marL="0" algn="ctr" defTabSz="914400" rtl="0" eaLnBrk="1" latinLnBrk="0" hangingPunct="1"/>
                      <a:r>
                        <a:rPr lang="en-US" sz="1800" kern="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Scaling</a:t>
                      </a:r>
                    </a:p>
                  </a:txBody>
                  <a:tcPr anchor="ctr">
                    <a:solidFill>
                      <a:schemeClr val="tx2">
                        <a:lumMod val="75000"/>
                        <a:lumOff val="25000"/>
                      </a:schemeClr>
                    </a:solidFill>
                  </a:tcPr>
                </a:tc>
                <a:extLst>
                  <a:ext uri="{0D108BD9-81ED-4DB2-BD59-A6C34878D82A}">
                    <a16:rowId xmlns:a16="http://schemas.microsoft.com/office/drawing/2014/main" val="1176857389"/>
                  </a:ext>
                </a:extLst>
              </a:tr>
              <a:tr h="430370">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High availability</a:t>
                      </a:r>
                    </a:p>
                  </a:txBody>
                  <a:tcPr anchor="ctr">
                    <a:solidFill>
                      <a:schemeClr val="tx2">
                        <a:lumMod val="75000"/>
                        <a:lumOff val="25000"/>
                      </a:schemeClr>
                    </a:solidFill>
                  </a:tcPr>
                </a:tc>
                <a:extLst>
                  <a:ext uri="{0D108BD9-81ED-4DB2-BD59-A6C34878D82A}">
                    <a16:rowId xmlns:a16="http://schemas.microsoft.com/office/drawing/2014/main" val="3231154821"/>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backups</a:t>
                      </a:r>
                    </a:p>
                  </a:txBody>
                  <a:tcPr anchor="ctr">
                    <a:solidFill>
                      <a:schemeClr val="tx2">
                        <a:lumMod val="75000"/>
                        <a:lumOff val="25000"/>
                      </a:schemeClr>
                    </a:solidFill>
                  </a:tcPr>
                </a:tc>
                <a:extLst>
                  <a:ext uri="{0D108BD9-81ED-4DB2-BD59-A6C34878D82A}">
                    <a16:rowId xmlns:a16="http://schemas.microsoft.com/office/drawing/2014/main" val="2154604692"/>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a:t>
                      </a:r>
                      <a:r>
                        <a:rPr lang="en-US" baseline="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software patches</a:t>
                      </a: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solidFill>
                      <a:schemeClr val="tx2">
                        <a:lumMod val="75000"/>
                        <a:lumOff val="25000"/>
                      </a:schemeClr>
                    </a:solidFill>
                  </a:tcPr>
                </a:tc>
                <a:extLst>
                  <a:ext uri="{0D108BD9-81ED-4DB2-BD59-A6C34878D82A}">
                    <a16:rowId xmlns:a16="http://schemas.microsoft.com/office/drawing/2014/main" val="453278401"/>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 software installs</a:t>
                      </a:r>
                    </a:p>
                  </a:txBody>
                  <a:tcPr anchor="ctr">
                    <a:solidFill>
                      <a:schemeClr val="tx2">
                        <a:lumMod val="75000"/>
                        <a:lumOff val="25000"/>
                      </a:schemeClr>
                    </a:solidFill>
                  </a:tcPr>
                </a:tc>
                <a:extLst>
                  <a:ext uri="{0D108BD9-81ED-4DB2-BD59-A6C34878D82A}">
                    <a16:rowId xmlns:a16="http://schemas.microsoft.com/office/drawing/2014/main" val="1060203005"/>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Operating system (OS) patches</a:t>
                      </a:r>
                    </a:p>
                  </a:txBody>
                  <a:tcPr anchor="ctr">
                    <a:solidFill>
                      <a:schemeClr val="tx2">
                        <a:lumMod val="75000"/>
                        <a:lumOff val="25000"/>
                      </a:schemeClr>
                    </a:solidFill>
                  </a:tcPr>
                </a:tc>
                <a:extLst>
                  <a:ext uri="{0D108BD9-81ED-4DB2-BD59-A6C34878D82A}">
                    <a16:rowId xmlns:a16="http://schemas.microsoft.com/office/drawing/2014/main" val="1214635321"/>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installation</a:t>
                      </a:r>
                    </a:p>
                  </a:txBody>
                  <a:tcPr anchor="ctr">
                    <a:solidFill>
                      <a:schemeClr val="tx2">
                        <a:lumMod val="75000"/>
                        <a:lumOff val="25000"/>
                      </a:schemeClr>
                    </a:solidFill>
                  </a:tcPr>
                </a:tc>
                <a:extLst>
                  <a:ext uri="{0D108BD9-81ED-4DB2-BD59-A6C34878D82A}">
                    <a16:rowId xmlns:a16="http://schemas.microsoft.com/office/drawing/2014/main" val="3203636683"/>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 maintenance</a:t>
                      </a:r>
                    </a:p>
                  </a:txBody>
                  <a:tcPr anchor="ctr">
                    <a:solidFill>
                      <a:schemeClr val="tx2">
                        <a:lumMod val="75000"/>
                        <a:lumOff val="25000"/>
                      </a:schemeClr>
                    </a:solidFill>
                  </a:tcPr>
                </a:tc>
                <a:extLst>
                  <a:ext uri="{0D108BD9-81ED-4DB2-BD59-A6C34878D82A}">
                    <a16:rowId xmlns:a16="http://schemas.microsoft.com/office/drawing/2014/main" val="2601193532"/>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Rack and stack</a:t>
                      </a:r>
                    </a:p>
                  </a:txBody>
                  <a:tcPr anchor="ctr">
                    <a:solidFill>
                      <a:schemeClr val="tx2">
                        <a:lumMod val="75000"/>
                        <a:lumOff val="25000"/>
                      </a:schemeClr>
                    </a:solidFill>
                  </a:tcPr>
                </a:tc>
                <a:extLst>
                  <a:ext uri="{0D108BD9-81ED-4DB2-BD59-A6C34878D82A}">
                    <a16:rowId xmlns:a16="http://schemas.microsoft.com/office/drawing/2014/main" val="21556069"/>
                  </a:ext>
                </a:extLst>
              </a:tr>
              <a:tr h="423351">
                <a:tc>
                  <a:txBody>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 HVAC, network</a:t>
                      </a:r>
                    </a:p>
                  </a:txBody>
                  <a:tcPr anchor="ctr">
                    <a:solidFill>
                      <a:schemeClr val="tx2">
                        <a:lumMod val="75000"/>
                        <a:lumOff val="25000"/>
                      </a:schemeClr>
                    </a:solidFill>
                  </a:tcPr>
                </a:tc>
                <a:extLst>
                  <a:ext uri="{0D108BD9-81ED-4DB2-BD59-A6C34878D82A}">
                    <a16:rowId xmlns:a16="http://schemas.microsoft.com/office/drawing/2014/main" val="2960649243"/>
                  </a:ext>
                </a:extLst>
              </a:tr>
            </a:tbl>
          </a:graphicData>
        </a:graphic>
      </p:graphicFrame>
      <p:sp>
        <p:nvSpPr>
          <p:cNvPr id="12" name="TextBox 11">
            <a:extLst>
              <a:ext uri="{FF2B5EF4-FFF2-40B4-BE49-F238E27FC236}">
                <a16:creationId xmlns:a16="http://schemas.microsoft.com/office/drawing/2014/main" id="{2E870FCE-0A42-1FC1-0174-D51F962EF965}"/>
              </a:ext>
            </a:extLst>
          </p:cNvPr>
          <p:cNvSpPr txBox="1"/>
          <p:nvPr/>
        </p:nvSpPr>
        <p:spPr>
          <a:xfrm>
            <a:off x="2689622" y="6308209"/>
            <a:ext cx="6093618" cy="369332"/>
          </a:xfrm>
          <a:prstGeom prst="rect">
            <a:avLst/>
          </a:prstGeom>
          <a:noFill/>
        </p:spPr>
        <p:txBody>
          <a:bodyPr wrap="square">
            <a:spAutoFit/>
          </a:bodyPr>
          <a:lstStyle/>
          <a:p>
            <a:r>
              <a:rPr lang="en-US" dirty="0"/>
              <a:t>             Customer                         AWS </a:t>
            </a:r>
            <a:endParaRPr lang="en-IN" dirty="0"/>
          </a:p>
        </p:txBody>
      </p:sp>
      <p:pic>
        <p:nvPicPr>
          <p:cNvPr id="14" name="Picture 13">
            <a:extLst>
              <a:ext uri="{FF2B5EF4-FFF2-40B4-BE49-F238E27FC236}">
                <a16:creationId xmlns:a16="http://schemas.microsoft.com/office/drawing/2014/main" id="{C78F73F5-51D3-80D9-B66E-019D95B0CDD8}"/>
              </a:ext>
            </a:extLst>
          </p:cNvPr>
          <p:cNvPicPr>
            <a:picLocks noChangeAspect="1"/>
          </p:cNvPicPr>
          <p:nvPr/>
        </p:nvPicPr>
        <p:blipFill>
          <a:blip r:embed="rId3"/>
          <a:stretch>
            <a:fillRect/>
          </a:stretch>
        </p:blipFill>
        <p:spPr>
          <a:xfrm>
            <a:off x="2853073" y="6258983"/>
            <a:ext cx="504701" cy="487510"/>
          </a:xfrm>
          <a:prstGeom prst="rect">
            <a:avLst/>
          </a:prstGeom>
        </p:spPr>
      </p:pic>
      <p:pic>
        <p:nvPicPr>
          <p:cNvPr id="16" name="Picture 15">
            <a:extLst>
              <a:ext uri="{FF2B5EF4-FFF2-40B4-BE49-F238E27FC236}">
                <a16:creationId xmlns:a16="http://schemas.microsoft.com/office/drawing/2014/main" id="{F1DC8511-9125-6E98-79E8-69E4F1548EBD}"/>
              </a:ext>
            </a:extLst>
          </p:cNvPr>
          <p:cNvPicPr>
            <a:picLocks noChangeAspect="1"/>
          </p:cNvPicPr>
          <p:nvPr/>
        </p:nvPicPr>
        <p:blipFill>
          <a:blip r:embed="rId4"/>
          <a:stretch>
            <a:fillRect/>
          </a:stretch>
        </p:blipFill>
        <p:spPr>
          <a:xfrm>
            <a:off x="4787769" y="6235098"/>
            <a:ext cx="504701" cy="511395"/>
          </a:xfrm>
          <a:prstGeom prst="rect">
            <a:avLst/>
          </a:prstGeom>
        </p:spPr>
      </p:pic>
    </p:spTree>
    <p:extLst>
      <p:ext uri="{BB962C8B-B14F-4D97-AF65-F5344CB8AC3E}">
        <p14:creationId xmlns:p14="http://schemas.microsoft.com/office/powerpoint/2010/main" val="353479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6DA0B3-0AC4-18F4-D458-10C9C0AF1360}"/>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Relational databases</a:t>
            </a:r>
            <a:endParaRPr lang="en-IN" sz="5600">
              <a:solidFill>
                <a:srgbClr val="FFFFFF"/>
              </a:solidFill>
            </a:endParaRPr>
          </a:p>
        </p:txBody>
      </p:sp>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4" name="Rectangle 1">
            <a:extLst>
              <a:ext uri="{FF2B5EF4-FFF2-40B4-BE49-F238E27FC236}">
                <a16:creationId xmlns:a16="http://schemas.microsoft.com/office/drawing/2014/main" id="{D14CB7E7-9C3B-14CA-3F71-B0ED996F4B27}"/>
              </a:ext>
            </a:extLst>
          </p:cNvPr>
          <p:cNvSpPr>
            <a:spLocks noGrp="1" noChangeArrowheads="1"/>
          </p:cNvSpPr>
          <p:nvPr>
            <p:ph idx="1"/>
          </p:nvPr>
        </p:nvSpPr>
        <p:spPr bwMode="auto">
          <a:xfrm>
            <a:off x="6297233" y="518400"/>
            <a:ext cx="4771607" cy="58379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R="0" lvl="0" fontAlgn="base">
              <a:spcAft>
                <a:spcPct val="0"/>
              </a:spcAft>
              <a:buClrTx/>
              <a:buSzTx/>
              <a:tabLst/>
            </a:pPr>
            <a:r>
              <a:rPr lang="en-US" altLang="en-US" sz="2000" dirty="0">
                <a:solidFill>
                  <a:schemeClr val="tx1">
                    <a:alpha val="80000"/>
                  </a:schemeClr>
                </a:solidFill>
              </a:rPr>
              <a:t>Fully managed relational database service.</a:t>
            </a:r>
          </a:p>
          <a:p>
            <a:pPr marR="0" lvl="0" fontAlgn="base">
              <a:spcAft>
                <a:spcPct val="0"/>
              </a:spcAft>
              <a:buClrTx/>
              <a:buSzTx/>
              <a:tabLst/>
            </a:pPr>
            <a:r>
              <a:rPr lang="en-US" altLang="en-US" sz="2000" dirty="0">
                <a:solidFill>
                  <a:schemeClr val="tx1">
                    <a:alpha val="80000"/>
                  </a:schemeClr>
                </a:solidFill>
              </a:rPr>
              <a:t>Supports multiple engines: MySQL, PostgreSQL, MariaDB, Oracle, SQL Server, Aurora.</a:t>
            </a:r>
          </a:p>
          <a:p>
            <a:pPr marR="0" lvl="0" fontAlgn="base">
              <a:spcAft>
                <a:spcPct val="0"/>
              </a:spcAft>
              <a:buClrTx/>
              <a:buSzTx/>
              <a:tabLst/>
            </a:pPr>
            <a:r>
              <a:rPr lang="en-US" altLang="en-US" sz="2000" dirty="0">
                <a:solidFill>
                  <a:schemeClr val="tx1">
                    <a:alpha val="80000"/>
                  </a:schemeClr>
                </a:solidFill>
              </a:rPr>
              <a:t>Automates common tasks: provisioning, patching, backup, recovery.</a:t>
            </a:r>
          </a:p>
          <a:p>
            <a:pPr marR="0" lvl="0" fontAlgn="base">
              <a:spcAft>
                <a:spcPct val="0"/>
              </a:spcAft>
              <a:buClrTx/>
              <a:buSzTx/>
              <a:tabLst/>
            </a:pPr>
            <a:r>
              <a:rPr lang="en-US" altLang="en-US" sz="2000" dirty="0">
                <a:solidFill>
                  <a:schemeClr val="tx1">
                    <a:alpha val="80000"/>
                  </a:schemeClr>
                </a:solidFill>
              </a:rPr>
              <a:t>Scales storage and compute easily.</a:t>
            </a:r>
          </a:p>
          <a:p>
            <a:pPr marR="0" lvl="0" fontAlgn="base">
              <a:spcAft>
                <a:spcPct val="0"/>
              </a:spcAft>
              <a:buClrTx/>
              <a:buSzTx/>
              <a:tabLst/>
            </a:pPr>
            <a:r>
              <a:rPr lang="en-US" altLang="en-US" sz="2000" dirty="0">
                <a:solidFill>
                  <a:schemeClr val="tx1">
                    <a:alpha val="80000"/>
                  </a:schemeClr>
                </a:solidFill>
              </a:rPr>
              <a:t>Pay-as-you-go pricing</a:t>
            </a:r>
          </a:p>
          <a:p>
            <a:pPr marL="0" marR="0" lvl="0" indent="0" defTabSz="914400" rtl="0" eaLnBrk="0" fontAlgn="base" latinLnBrk="0" hangingPunct="0">
              <a:spcBef>
                <a:spcPct val="0"/>
              </a:spcBef>
              <a:spcAft>
                <a:spcPct val="0"/>
              </a:spcAft>
              <a:buClrTx/>
              <a:buSzTx/>
              <a:buFontTx/>
              <a:buChar char="•"/>
              <a:tabLst/>
            </a:pPr>
            <a:endParaRPr kumimoji="0" lang="en-US" altLang="en-US" sz="2000" b="0" i="0" u="none" strike="noStrike" cap="none" normalizeH="0" baseline="0" dirty="0">
              <a:ln>
                <a:noFill/>
              </a:ln>
              <a:solidFill>
                <a:schemeClr val="tx1">
                  <a:alpha val="80000"/>
                </a:schemeClr>
              </a:solidFill>
              <a:effectLst/>
              <a:latin typeface="Arial" panose="020B0604020202020204" pitchFamily="34" charset="0"/>
            </a:endParaRPr>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9" name="Straight Connector 1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01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4EC4E4-D143-CCA6-6951-A6ED2DBC1A62}"/>
              </a:ext>
            </a:extLst>
          </p:cNvPr>
          <p:cNvSpPr>
            <a:spLocks noGrp="1"/>
          </p:cNvSpPr>
          <p:nvPr>
            <p:ph type="title"/>
          </p:nvPr>
        </p:nvSpPr>
        <p:spPr>
          <a:xfrm>
            <a:off x="621792" y="1161288"/>
            <a:ext cx="3602736" cy="4526280"/>
          </a:xfrm>
        </p:spPr>
        <p:txBody>
          <a:bodyPr>
            <a:normAutofit/>
          </a:bodyPr>
          <a:lstStyle/>
          <a:p>
            <a:r>
              <a:rPr lang="en-US" sz="4000"/>
              <a:t>Advanced features </a:t>
            </a:r>
            <a:endParaRPr lang="en-IN"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76076684-ED99-1927-D20F-88CFC880579D}"/>
              </a:ext>
            </a:extLst>
          </p:cNvPr>
          <p:cNvGraphicFramePr>
            <a:graphicFrameLocks noGrp="1"/>
          </p:cNvGraphicFramePr>
          <p:nvPr>
            <p:ph idx="1"/>
            <p:extLst>
              <p:ext uri="{D42A27DB-BD31-4B8C-83A1-F6EECF244321}">
                <p14:modId xmlns:p14="http://schemas.microsoft.com/office/powerpoint/2010/main" val="3311393184"/>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1309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0FD47-BA62-17F5-EA1C-E0CA4F42D589}"/>
              </a:ext>
            </a:extLst>
          </p:cNvPr>
          <p:cNvSpPr>
            <a:spLocks noGrp="1"/>
          </p:cNvSpPr>
          <p:nvPr>
            <p:ph type="title"/>
          </p:nvPr>
        </p:nvSpPr>
        <p:spPr/>
        <p:txBody>
          <a:bodyPr/>
          <a:lstStyle/>
          <a:p>
            <a:pPr algn="ctr"/>
            <a:r>
              <a:rPr lang="en-US"/>
              <a:t>Amazon DynamoDB</a:t>
            </a:r>
            <a:endParaRPr lang="en-IN" dirty="0"/>
          </a:p>
        </p:txBody>
      </p:sp>
    </p:spTree>
    <p:extLst>
      <p:ext uri="{BB962C8B-B14F-4D97-AF65-F5344CB8AC3E}">
        <p14:creationId xmlns:p14="http://schemas.microsoft.com/office/powerpoint/2010/main" val="8142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325F81-69D0-799E-089B-A7B521173EE3}"/>
              </a:ext>
            </a:extLst>
          </p:cNvPr>
          <p:cNvSpPr>
            <a:spLocks noGrp="1"/>
          </p:cNvSpPr>
          <p:nvPr>
            <p:ph type="title"/>
          </p:nvPr>
        </p:nvSpPr>
        <p:spPr>
          <a:xfrm>
            <a:off x="621792" y="1161288"/>
            <a:ext cx="3602736" cy="4526280"/>
          </a:xfrm>
        </p:spPr>
        <p:txBody>
          <a:bodyPr>
            <a:normAutofit/>
          </a:bodyPr>
          <a:lstStyle/>
          <a:p>
            <a:r>
              <a:rPr lang="en-US" sz="4000"/>
              <a:t>Features of Amazon DynamoDB</a:t>
            </a:r>
            <a:endParaRPr lang="en-IN" sz="4000"/>
          </a:p>
        </p:txBody>
      </p:sp>
      <p:sp>
        <p:nvSpPr>
          <p:cNvPr id="16" name="Rectangle 1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4EAD71AB-55E1-CC1B-EB36-47F1ADC87BBB}"/>
              </a:ext>
            </a:extLst>
          </p:cNvPr>
          <p:cNvGraphicFramePr>
            <a:graphicFrameLocks noGrp="1"/>
          </p:cNvGraphicFramePr>
          <p:nvPr>
            <p:ph idx="1"/>
            <p:extLst>
              <p:ext uri="{D42A27DB-BD31-4B8C-83A1-F6EECF244321}">
                <p14:modId xmlns:p14="http://schemas.microsoft.com/office/powerpoint/2010/main" val="305042742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1244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FEACBA-ABCB-2D9A-4814-0D7615422D4D}"/>
              </a:ext>
            </a:extLst>
          </p:cNvPr>
          <p:cNvSpPr>
            <a:spLocks noGrp="1"/>
          </p:cNvSpPr>
          <p:nvPr>
            <p:ph type="title"/>
          </p:nvPr>
        </p:nvSpPr>
        <p:spPr>
          <a:xfrm>
            <a:off x="1245072" y="1289765"/>
            <a:ext cx="3651101" cy="4270963"/>
          </a:xfrm>
        </p:spPr>
        <p:txBody>
          <a:bodyPr anchor="ctr">
            <a:normAutofit/>
          </a:bodyPr>
          <a:lstStyle/>
          <a:p>
            <a:pPr algn="ctr"/>
            <a:r>
              <a:rPr lang="en-IN" sz="4800">
                <a:solidFill>
                  <a:srgbClr val="FFFFFF"/>
                </a:solidFill>
              </a:rPr>
              <a:t>DynamoDB Core Components</a:t>
            </a:r>
          </a:p>
        </p:txBody>
      </p:sp>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4" name="Rectangle 1">
            <a:extLst>
              <a:ext uri="{FF2B5EF4-FFF2-40B4-BE49-F238E27FC236}">
                <a16:creationId xmlns:a16="http://schemas.microsoft.com/office/drawing/2014/main" id="{33315A9C-1B6E-D00D-DE68-8BC3A210185F}"/>
              </a:ext>
            </a:extLst>
          </p:cNvPr>
          <p:cNvSpPr>
            <a:spLocks noGrp="1" noChangeArrowheads="1"/>
          </p:cNvSpPr>
          <p:nvPr>
            <p:ph idx="1"/>
          </p:nvPr>
        </p:nvSpPr>
        <p:spPr bwMode="auto">
          <a:xfrm>
            <a:off x="6297233" y="518400"/>
            <a:ext cx="4771607" cy="58379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Table</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Primary container for items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Item</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A single record (row) in a table</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Attribute</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Data fields in an item (columns)</a:t>
            </a:r>
          </a:p>
          <a:p>
            <a:pPr marL="0" marR="0" lvl="0" indent="0" defTabSz="914400" rtl="0" eaLnBrk="0" fontAlgn="base" latinLnBrk="0" hangingPunct="0">
              <a:spcBef>
                <a:spcPct val="0"/>
              </a:spcBef>
              <a:spcAft>
                <a:spcPts val="600"/>
              </a:spcAft>
              <a:buClrTx/>
              <a:buSzTx/>
              <a:buFontTx/>
              <a:buChar char="•"/>
              <a:tabLst/>
            </a:pPr>
            <a:endParaRPr kumimoji="0" lang="en-US" altLang="en-US" sz="1700" b="1"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Primary Key</a:t>
            </a:r>
            <a:endParaRPr kumimoji="0" lang="en-US" altLang="en-US" sz="17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Partition Key</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(hash key) – distributes data across partitions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Sort Key</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(optional, range key) – allows multiple items with same partition key</a:t>
            </a:r>
          </a:p>
          <a:p>
            <a:pPr marL="0" marR="0" lvl="0" indent="0" defTabSz="914400" rtl="0" eaLnBrk="0" fontAlgn="base" latinLnBrk="0" hangingPunct="0">
              <a:spcBef>
                <a:spcPct val="0"/>
              </a:spcBef>
              <a:spcAft>
                <a:spcPts val="600"/>
              </a:spcAft>
              <a:buClrTx/>
              <a:buSzTx/>
              <a:buFontTx/>
              <a:buChar char="•"/>
              <a:tabLst/>
            </a:pPr>
            <a:endParaRPr kumimoji="0" lang="en-US" altLang="en-US" sz="1700" b="1"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Secondary Indexes</a:t>
            </a:r>
            <a:endParaRPr kumimoji="0" lang="en-US" altLang="en-US" sz="17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Global Secondary Index (GSI)</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query on non-primary key attributes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Local Secondary Index (LSI)</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alternative sort key within same partition key</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solidFill>
                  <a:schemeClr val="tx1">
                    <a:alpha val="80000"/>
                  </a:schemeClr>
                </a:solidFill>
                <a:effectLst/>
                <a:latin typeface="Arial" panose="020B0604020202020204" pitchFamily="34" charset="0"/>
              </a:rPr>
              <a:t>Capacity Modes</a:t>
            </a:r>
            <a:r>
              <a:rPr kumimoji="0" lang="en-US" altLang="en-US" sz="1700" b="0" i="0" u="none" strike="noStrike" cap="none" normalizeH="0" baseline="0" dirty="0">
                <a:ln>
                  <a:noFill/>
                </a:ln>
                <a:solidFill>
                  <a:schemeClr val="tx1">
                    <a:alpha val="80000"/>
                  </a:schemeClr>
                </a:solidFill>
                <a:effectLst/>
                <a:latin typeface="Arial" panose="020B0604020202020204" pitchFamily="34" charset="0"/>
              </a:rPr>
              <a:t> – Provisioned vs On-Demand</a:t>
            </a:r>
          </a:p>
          <a:p>
            <a:pPr marL="0" marR="0" lvl="0" indent="0" defTabSz="914400" rtl="0" eaLnBrk="0" fontAlgn="base" latinLnBrk="0" hangingPunct="0">
              <a:spcBef>
                <a:spcPct val="0"/>
              </a:spcBef>
              <a:spcAft>
                <a:spcPts val="600"/>
              </a:spcAft>
              <a:buClrTx/>
              <a:buSzTx/>
              <a:buFontTx/>
              <a:buChar char="•"/>
              <a:tabLst/>
            </a:pPr>
            <a:endParaRPr kumimoji="0" lang="en-US" altLang="en-US" sz="1700" b="0" i="0" u="none" strike="noStrike" cap="none" normalizeH="0" baseline="0" dirty="0">
              <a:ln>
                <a:noFill/>
              </a:ln>
              <a:solidFill>
                <a:schemeClr val="tx1">
                  <a:alpha val="80000"/>
                </a:schemeClr>
              </a:solidFill>
              <a:effectLst/>
              <a:latin typeface="Arial" panose="020B0604020202020204" pitchFamily="34" charset="0"/>
            </a:endParaRPr>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9" name="Straight Connector 1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981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464F-1B0C-E7A4-13CB-39ED5F430B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0D131F-A33E-2E27-F164-0B712F84758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25201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1299</Words>
  <Application>Microsoft Office PowerPoint</Application>
  <PresentationFormat>Widescreen</PresentationFormat>
  <Paragraphs>160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Amazon Ember</vt:lpstr>
      <vt:lpstr>Aptos</vt:lpstr>
      <vt:lpstr>Aptos Display</vt:lpstr>
      <vt:lpstr>Arial</vt:lpstr>
      <vt:lpstr>Calibri</vt:lpstr>
      <vt:lpstr>Office Theme</vt:lpstr>
      <vt:lpstr>Introduction to AWS Databases</vt:lpstr>
      <vt:lpstr>AWS database services</vt:lpstr>
      <vt:lpstr>Traditional vs Cloud-Hosted vs Managed</vt:lpstr>
      <vt:lpstr>Relational databases</vt:lpstr>
      <vt:lpstr>Advanced features </vt:lpstr>
      <vt:lpstr>Amazon DynamoDB</vt:lpstr>
      <vt:lpstr>Features of Amazon DynamoDB</vt:lpstr>
      <vt:lpstr>DynamoDB Core Components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57</cp:revision>
  <dcterms:created xsi:type="dcterms:W3CDTF">2025-09-19T10:04:22Z</dcterms:created>
  <dcterms:modified xsi:type="dcterms:W3CDTF">2025-09-19T16:46:55Z</dcterms:modified>
</cp:coreProperties>
</file>