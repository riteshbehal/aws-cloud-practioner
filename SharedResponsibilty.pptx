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EB9B-7CCD-BBA8-B704-5D62B5515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A3525-2FF5-C395-A675-F0D401751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57419-89AF-9A4C-FF12-0A9D025C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DED6B-ED58-B5CC-75A0-727F6EF3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40BC7-13CF-22E8-9802-C4DBFFD9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0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8100-2B51-72F4-C495-BA62146C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FD19-45CC-8F2E-33DA-8E9831B47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03D8D-6CD4-8549-9086-898377F3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A7276-E457-D6F2-0EA5-0BA64A83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4E11-A112-1889-9FF2-D6BA6326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2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E1CC-3FD8-CB09-FEB8-8D73E652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766CE-1AEB-AB3D-9F01-9AA6CD5D3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8930-8BF7-DC68-6D2C-005C8401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C343D-1CE7-FFF4-A617-1D683EF2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01F97-5206-FADC-A2D0-ECCAAE9F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35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727F-6DA5-8D21-AD3A-2487F39A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A87A0-311E-54D7-1BF9-36853F425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BCE24-375C-C32E-EFCA-E050B6870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6215D-9B8B-51EB-3DD6-CBA5AC6C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ED8DD-545F-7941-BEBF-6AAA308E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4E888-0A8E-E8A2-EBA6-DBAAC8E0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90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91C4-E3A6-D45A-E9B7-CE9397A9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4AD6A-C9D5-768A-E87B-A0C73AB5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FA295-DA39-B8E7-44BE-CC4FE032E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C566F-C8C4-822C-9882-139862801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DA46E-F3D4-1640-A6D9-CE3332AB2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876E0-CE02-87F0-90E2-1BB6DC04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0B844-F0D7-5536-52B0-099843FE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C5054-35E7-7B5F-6105-761D356B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21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18A8-4422-7F37-865F-9314DDBD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1E9CE-BC40-DB59-E05F-D587D49E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9356F-2A2B-6886-474C-9CEA426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57929-9A71-9957-DF13-8FC01665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0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B70FE-F52C-AAAF-7234-A7DAD7DC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68312-E623-D779-62CF-81AC9C7F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9D063-39F0-8F22-3FB4-1B1AE935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0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D98F-5A3D-F171-4FAB-8B077AFC8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B3E3B-7DE6-EFCD-A8D5-10EFD6C0A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E22AC-ADD8-3672-3A87-9FAE3F8EF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21DEA-B2ED-18D9-B94E-CF9A9B07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3D25E-3FA5-137C-A5F2-36FFF3EE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59B4-4EF9-A432-1D22-BBF62E33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1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41E0-F035-7968-F9D6-9A6CCA9C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07F92-E144-53D7-55A0-A09B27CE7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B4EAA-6FC3-9ECC-F94C-DBA1580AA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17C0F-4570-4371-437B-362B0E0F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98CA2-D28C-5108-A7FD-DC6B8678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3F371-612F-3EE3-4AB6-393A8C86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4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CA1C-0C71-1D31-B4E6-6EE54605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16F28-1126-13CA-F48B-4E3515665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23E40-1881-F722-021B-EF0F8CC6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E30D1-45D0-D267-5D9F-15380E57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0FBC7-E498-1DFE-4DC6-509AD6B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BE30E-3D72-DC5A-E305-B9C35BD1E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5E12-E890-0DC7-DD25-FA6CEEADA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8FA33-0772-6C9A-8911-8B526586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99CD9-CFFD-34C9-A032-FDF07F50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0B63-651C-A6CE-4DFB-D6A6D806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59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DA796-1937-7291-44D2-EAD449BD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DEC7-AAE2-478A-58A0-8E1B605F2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549F0-F3B9-B577-6A28-06A584E67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359A7-D2EC-4347-923A-622016295D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544AD-B7B4-3149-73CB-5B5EC9144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F6C4F-796D-3768-6049-64D800858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181FB-BD3F-4263-A989-049A87272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7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921E5-FFC9-CCF3-4289-22BA1AC7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230" y="3423023"/>
            <a:ext cx="6631807" cy="1297115"/>
          </a:xfrm>
        </p:spPr>
        <p:txBody>
          <a:bodyPr anchor="t">
            <a:noAutofit/>
          </a:bodyPr>
          <a:lstStyle/>
          <a:p>
            <a:pPr algn="l"/>
            <a:r>
              <a:rPr lang="en-IN" sz="4400" dirty="0">
                <a:solidFill>
                  <a:schemeClr val="tx2"/>
                </a:solidFill>
              </a:rPr>
              <a:t>Shared Responsibility Model</a:t>
            </a:r>
            <a:br>
              <a:rPr lang="en-IN" sz="4400" dirty="0">
                <a:solidFill>
                  <a:schemeClr val="tx2"/>
                </a:solidFill>
              </a:rPr>
            </a:br>
            <a:endParaRPr lang="en-IN" sz="4400" dirty="0">
              <a:solidFill>
                <a:schemeClr val="tx2"/>
              </a:solidFill>
            </a:endParaRPr>
          </a:p>
        </p:txBody>
      </p:sp>
      <p:pic>
        <p:nvPicPr>
          <p:cNvPr id="6" name="Graphic 5" descr="Group">
            <a:extLst>
              <a:ext uri="{FF2B5EF4-FFF2-40B4-BE49-F238E27FC236}">
                <a16:creationId xmlns:a16="http://schemas.microsoft.com/office/drawing/2014/main" id="{11A70039-944B-ABD9-9CCA-DE333E814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801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Content Placeholder 26" descr="A diagram of software and software&#10;&#10;AI-generated content may be incorrect.">
            <a:extLst>
              <a:ext uri="{FF2B5EF4-FFF2-40B4-BE49-F238E27FC236}">
                <a16:creationId xmlns:a16="http://schemas.microsoft.com/office/drawing/2014/main" id="{35420B8E-CD44-4014-D831-0024ADE29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55" y="457200"/>
            <a:ext cx="1085589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0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DC805-E1D1-99D9-D8BF-4434E0C28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AWS is Responsible for: “Security </a:t>
            </a:r>
            <a:r>
              <a:rPr lang="en-US" sz="4000" i="1" dirty="0">
                <a:solidFill>
                  <a:srgbClr val="FFFFFF"/>
                </a:solidFill>
              </a:rPr>
              <a:t>of</a:t>
            </a:r>
            <a:r>
              <a:rPr lang="en-US" sz="4000" dirty="0">
                <a:solidFill>
                  <a:srgbClr val="FFFFFF"/>
                </a:solidFill>
              </a:rPr>
              <a:t> the Cloud”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0FBB-A21E-106B-BD9E-B2C18D5F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manages and secures the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 that runs all the services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offered in the AWS Cloud.</a:t>
            </a:r>
          </a:p>
          <a:p>
            <a:pPr marL="0" indent="0">
              <a:buNone/>
            </a:pPr>
            <a:endParaRPr lang="en-US" sz="1800" b="1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Responsibilities: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security of data centers (guards, access control, surveillance)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Hardware, network, and facility infrastructure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devices and networking equipment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Virtualization layer (like hypervisors)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service components (for services like RDS, DynamoDB, Lambda, etc.)</a:t>
            </a:r>
          </a:p>
          <a:p>
            <a:pPr marL="0" indent="0">
              <a:buNone/>
            </a:pPr>
            <a:endParaRPr lang="en-US" sz="1800" b="1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ensures that EC2 servers, data centers, and network devices are patched, redundant, and secure.</a:t>
            </a:r>
          </a:p>
          <a:p>
            <a:endParaRPr lang="en-IN" sz="18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43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F8864-9A12-AEB2-28E7-AA148908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Customer is Responsible for: “Security </a:t>
            </a:r>
            <a:r>
              <a:rPr lang="en-US" sz="4000" i="1" dirty="0">
                <a:solidFill>
                  <a:srgbClr val="FFFFFF"/>
                </a:solidFill>
              </a:rPr>
              <a:t>in</a:t>
            </a:r>
            <a:r>
              <a:rPr lang="en-US" sz="4000" dirty="0">
                <a:solidFill>
                  <a:srgbClr val="FFFFFF"/>
                </a:solidFill>
              </a:rPr>
              <a:t> the Cloud”</a:t>
            </a:r>
            <a:endParaRPr lang="en-IN" sz="4000" dirty="0">
              <a:solidFill>
                <a:srgbClr val="FFFFFF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8A89-71CC-F5AA-5C37-DE3BE361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Autofit/>
          </a:bodyPr>
          <a:lstStyle/>
          <a:p>
            <a:endParaRPr lang="en-US" sz="1800" b="1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manage and secure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everything you put on or configure within AWS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Responsibilities: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Configuring access (IAM users, roles, and permissions)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OS patches, firewall rules, and antivirus (for EC2 instances)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Encrypting your data (at rest and in transit)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application code and data security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up network controls (Security Groups, NACLs, etc.)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with laws and governance (e.g., GDPR, HIPAA)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run a web app on EC2, AWS secures the server hardware, but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must patch the OS, configure IAM</a:t>
            </a:r>
            <a:endParaRPr lang="en-IN" sz="18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96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13D5D-3375-7F96-773E-D21F91A9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Responsibility Varies by Service Type</a:t>
            </a:r>
            <a:br>
              <a:rPr lang="en-US" sz="4800" b="1" dirty="0"/>
            </a:br>
            <a:endParaRPr lang="en-IN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F23F30-046C-7511-D263-7FAEC0AD0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974201"/>
              </p:ext>
            </p:extLst>
          </p:nvPr>
        </p:nvGraphicFramePr>
        <p:xfrm>
          <a:off x="904602" y="3087346"/>
          <a:ext cx="10378441" cy="3070251"/>
        </p:xfrm>
        <a:graphic>
          <a:graphicData uri="http://schemas.openxmlformats.org/drawingml/2006/table">
            <a:tbl>
              <a:tblPr/>
              <a:tblGrid>
                <a:gridCol w="3138861">
                  <a:extLst>
                    <a:ext uri="{9D8B030D-6E8A-4147-A177-3AD203B41FA5}">
                      <a16:colId xmlns:a16="http://schemas.microsoft.com/office/drawing/2014/main" val="586443593"/>
                    </a:ext>
                  </a:extLst>
                </a:gridCol>
                <a:gridCol w="3876285">
                  <a:extLst>
                    <a:ext uri="{9D8B030D-6E8A-4147-A177-3AD203B41FA5}">
                      <a16:colId xmlns:a16="http://schemas.microsoft.com/office/drawing/2014/main" val="4257835321"/>
                    </a:ext>
                  </a:extLst>
                </a:gridCol>
                <a:gridCol w="3363295">
                  <a:extLst>
                    <a:ext uri="{9D8B030D-6E8A-4147-A177-3AD203B41FA5}">
                      <a16:colId xmlns:a16="http://schemas.microsoft.com/office/drawing/2014/main" val="2825302498"/>
                    </a:ext>
                  </a:extLst>
                </a:gridCol>
              </a:tblGrid>
              <a:tr h="50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Service Type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Who Manages More?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Examples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802457"/>
                  </a:ext>
                </a:extLst>
              </a:tr>
              <a:tr h="854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Infrastructure (IaaS)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Customer has more control &amp; responsibility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EC2, VPC, EBS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72633"/>
                  </a:ext>
                </a:extLst>
              </a:tr>
              <a:tr h="854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Platform (PaaS)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AWS manages infrastructure &amp; runtime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RDS, Elastic Beanstalk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23220"/>
                  </a:ext>
                </a:extLst>
              </a:tr>
              <a:tr h="854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/>
                        <a:t>Software (SaaS)</a:t>
                      </a:r>
                      <a:endParaRPr lang="en-IN" sz="2300"/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AWS manages almost everything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WorkMail, Chime</a:t>
                      </a:r>
                    </a:p>
                  </a:txBody>
                  <a:tcPr marL="115423" marR="115423" marT="57711" marB="57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75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01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277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Shared Responsibility Model </vt:lpstr>
      <vt:lpstr>PowerPoint Presentation</vt:lpstr>
      <vt:lpstr>AWS is Responsible for: “Security of the Cloud” </vt:lpstr>
      <vt:lpstr>Customer is Responsible for: “Security in the Cloud”</vt:lpstr>
      <vt:lpstr>Responsibility Varies by Service Type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26</cp:revision>
  <dcterms:created xsi:type="dcterms:W3CDTF">2025-10-18T03:17:05Z</dcterms:created>
  <dcterms:modified xsi:type="dcterms:W3CDTF">2025-10-19T06:58:26Z</dcterms:modified>
</cp:coreProperties>
</file>