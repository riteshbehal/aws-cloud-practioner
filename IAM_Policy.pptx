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9" d="100"/>
          <a:sy n="99" d="100"/>
        </p:scale>
        <p:origin x="102" y="2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4" Type="http://schemas.openxmlformats.org/officeDocument/2006/relationships/image" Target="../media/image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9D5DC7-9F35-4E37-820B-D3574EC21736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1B505DCB-0206-48AE-A50B-7A6F84E34E1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A </a:t>
          </a:r>
          <a:r>
            <a:rPr lang="en-US" b="1" i="0" baseline="0"/>
            <a:t>policy</a:t>
          </a:r>
          <a:r>
            <a:rPr lang="en-US" b="0" i="0" baseline="0"/>
            <a:t> is a JSON document that defines </a:t>
          </a:r>
          <a:r>
            <a:rPr lang="en-US" b="1" i="0" baseline="0"/>
            <a:t>permissions</a:t>
          </a:r>
          <a:r>
            <a:rPr lang="en-US" b="0" i="0" baseline="0"/>
            <a:t>.</a:t>
          </a:r>
          <a:endParaRPr lang="en-US"/>
        </a:p>
      </dgm:t>
    </dgm:pt>
    <dgm:pt modelId="{24CBC696-3D44-4053-A6B9-9271C801C9C7}" type="parTrans" cxnId="{B624B452-939F-4833-8674-6BE26AE4A87A}">
      <dgm:prSet/>
      <dgm:spPr/>
      <dgm:t>
        <a:bodyPr/>
        <a:lstStyle/>
        <a:p>
          <a:endParaRPr lang="en-US"/>
        </a:p>
      </dgm:t>
    </dgm:pt>
    <dgm:pt modelId="{46A441DD-43AC-43D3-94D4-F5F6602F257D}" type="sibTrans" cxnId="{B624B452-939F-4833-8674-6BE26AE4A87A}">
      <dgm:prSet/>
      <dgm:spPr/>
      <dgm:t>
        <a:bodyPr/>
        <a:lstStyle/>
        <a:p>
          <a:endParaRPr lang="en-US"/>
        </a:p>
      </dgm:t>
    </dgm:pt>
    <dgm:pt modelId="{4A28A131-F6D8-4B29-93A4-CDECAA33E8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0" i="0" baseline="0"/>
            <a:t>It specifies </a:t>
          </a:r>
          <a:r>
            <a:rPr lang="en-US" b="1" i="0" baseline="0"/>
            <a:t>who</a:t>
          </a:r>
          <a:r>
            <a:rPr lang="en-US" b="0" i="0" baseline="0"/>
            <a:t> can do </a:t>
          </a:r>
          <a:r>
            <a:rPr lang="en-US" b="1" i="0" baseline="0"/>
            <a:t>what</a:t>
          </a:r>
          <a:r>
            <a:rPr lang="en-US" b="0" i="0" baseline="0"/>
            <a:t>, on </a:t>
          </a:r>
          <a:r>
            <a:rPr lang="en-US" b="1" i="0" baseline="0"/>
            <a:t>which resources</a:t>
          </a:r>
          <a:r>
            <a:rPr lang="en-US" b="0" i="0" baseline="0"/>
            <a:t>, under </a:t>
          </a:r>
          <a:r>
            <a:rPr lang="en-US" b="1" i="0" baseline="0"/>
            <a:t>what conditions</a:t>
          </a:r>
          <a:r>
            <a:rPr lang="en-US" b="0" i="0" baseline="0"/>
            <a:t>.</a:t>
          </a:r>
          <a:endParaRPr lang="en-US"/>
        </a:p>
      </dgm:t>
    </dgm:pt>
    <dgm:pt modelId="{8B84C563-FFA4-4DB8-AC09-121286FC3D8C}" type="parTrans" cxnId="{2E568866-9EBF-42DF-BABB-C7308C57530A}">
      <dgm:prSet/>
      <dgm:spPr/>
      <dgm:t>
        <a:bodyPr/>
        <a:lstStyle/>
        <a:p>
          <a:endParaRPr lang="en-US"/>
        </a:p>
      </dgm:t>
    </dgm:pt>
    <dgm:pt modelId="{F22178CE-194F-4DCB-9A4A-43A1872B2C25}" type="sibTrans" cxnId="{2E568866-9EBF-42DF-BABB-C7308C57530A}">
      <dgm:prSet/>
      <dgm:spPr/>
      <dgm:t>
        <a:bodyPr/>
        <a:lstStyle/>
        <a:p>
          <a:endParaRPr lang="en-US"/>
        </a:p>
      </dgm:t>
    </dgm:pt>
    <dgm:pt modelId="{5B772C18-F15D-42AA-8E89-960A4B3DEA8B}" type="pres">
      <dgm:prSet presAssocID="{839D5DC7-9F35-4E37-820B-D3574EC21736}" presName="root" presStyleCnt="0">
        <dgm:presLayoutVars>
          <dgm:dir/>
          <dgm:resizeHandles val="exact"/>
        </dgm:presLayoutVars>
      </dgm:prSet>
      <dgm:spPr/>
    </dgm:pt>
    <dgm:pt modelId="{7A77BEB5-1220-4613-A03D-344363FBFD56}" type="pres">
      <dgm:prSet presAssocID="{1B505DCB-0206-48AE-A50B-7A6F84E34E13}" presName="compNode" presStyleCnt="0"/>
      <dgm:spPr/>
    </dgm:pt>
    <dgm:pt modelId="{82EA6020-804B-4386-8FB6-762DB37045DF}" type="pres">
      <dgm:prSet presAssocID="{1B505DCB-0206-48AE-A50B-7A6F84E34E13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7C0F2332-FA48-456A-9BD2-C1DA1E1FDC0E}" type="pres">
      <dgm:prSet presAssocID="{1B505DCB-0206-48AE-A50B-7A6F84E34E13}" presName="spaceRect" presStyleCnt="0"/>
      <dgm:spPr/>
    </dgm:pt>
    <dgm:pt modelId="{AE8635C3-7911-470C-B3A5-5B3F36676813}" type="pres">
      <dgm:prSet presAssocID="{1B505DCB-0206-48AE-A50B-7A6F84E34E13}" presName="textRect" presStyleLbl="revTx" presStyleIdx="0" presStyleCnt="2">
        <dgm:presLayoutVars>
          <dgm:chMax val="1"/>
          <dgm:chPref val="1"/>
        </dgm:presLayoutVars>
      </dgm:prSet>
      <dgm:spPr/>
    </dgm:pt>
    <dgm:pt modelId="{2590F444-D9E6-4100-931C-EE2C622D8F82}" type="pres">
      <dgm:prSet presAssocID="{46A441DD-43AC-43D3-94D4-F5F6602F257D}" presName="sibTrans" presStyleCnt="0"/>
      <dgm:spPr/>
    </dgm:pt>
    <dgm:pt modelId="{6FB6D4C1-FF5B-46FA-8A51-0B07E86B0BEA}" type="pres">
      <dgm:prSet presAssocID="{4A28A131-F6D8-4B29-93A4-CDECAA33E8B0}" presName="compNode" presStyleCnt="0"/>
      <dgm:spPr/>
    </dgm:pt>
    <dgm:pt modelId="{260F0D7C-997E-42C6-B85F-B18F9AF7A089}" type="pres">
      <dgm:prSet presAssocID="{4A28A131-F6D8-4B29-93A4-CDECAA33E8B0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DFF1ABEA-9952-475E-A805-5A28DD7CB8A7}" type="pres">
      <dgm:prSet presAssocID="{4A28A131-F6D8-4B29-93A4-CDECAA33E8B0}" presName="spaceRect" presStyleCnt="0"/>
      <dgm:spPr/>
    </dgm:pt>
    <dgm:pt modelId="{60278969-378E-4E87-BAB9-8C81EA14F215}" type="pres">
      <dgm:prSet presAssocID="{4A28A131-F6D8-4B29-93A4-CDECAA33E8B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2E568866-9EBF-42DF-BABB-C7308C57530A}" srcId="{839D5DC7-9F35-4E37-820B-D3574EC21736}" destId="{4A28A131-F6D8-4B29-93A4-CDECAA33E8B0}" srcOrd="1" destOrd="0" parTransId="{8B84C563-FFA4-4DB8-AC09-121286FC3D8C}" sibTransId="{F22178CE-194F-4DCB-9A4A-43A1872B2C25}"/>
    <dgm:cxn modelId="{B624B452-939F-4833-8674-6BE26AE4A87A}" srcId="{839D5DC7-9F35-4E37-820B-D3574EC21736}" destId="{1B505DCB-0206-48AE-A50B-7A6F84E34E13}" srcOrd="0" destOrd="0" parTransId="{24CBC696-3D44-4053-A6B9-9271C801C9C7}" sibTransId="{46A441DD-43AC-43D3-94D4-F5F6602F257D}"/>
    <dgm:cxn modelId="{57E3839E-9575-4047-873E-D01F2B713CF2}" type="presOf" srcId="{839D5DC7-9F35-4E37-820B-D3574EC21736}" destId="{5B772C18-F15D-42AA-8E89-960A4B3DEA8B}" srcOrd="0" destOrd="0" presId="urn:microsoft.com/office/officeart/2018/2/layout/IconLabelList"/>
    <dgm:cxn modelId="{9470A5C8-1A2C-41FB-9F68-91F7903A36BC}" type="presOf" srcId="{4A28A131-F6D8-4B29-93A4-CDECAA33E8B0}" destId="{60278969-378E-4E87-BAB9-8C81EA14F215}" srcOrd="0" destOrd="0" presId="urn:microsoft.com/office/officeart/2018/2/layout/IconLabelList"/>
    <dgm:cxn modelId="{05089DF3-94FB-4DEA-A442-823ACAE6F2A4}" type="presOf" srcId="{1B505DCB-0206-48AE-A50B-7A6F84E34E13}" destId="{AE8635C3-7911-470C-B3A5-5B3F36676813}" srcOrd="0" destOrd="0" presId="urn:microsoft.com/office/officeart/2018/2/layout/IconLabelList"/>
    <dgm:cxn modelId="{7BFAC8C1-6D7F-4807-8ED4-51DF9BCF10A3}" type="presParOf" srcId="{5B772C18-F15D-42AA-8E89-960A4B3DEA8B}" destId="{7A77BEB5-1220-4613-A03D-344363FBFD56}" srcOrd="0" destOrd="0" presId="urn:microsoft.com/office/officeart/2018/2/layout/IconLabelList"/>
    <dgm:cxn modelId="{B5B42B5F-3C6B-43FA-BE74-E00B8D32B3EF}" type="presParOf" srcId="{7A77BEB5-1220-4613-A03D-344363FBFD56}" destId="{82EA6020-804B-4386-8FB6-762DB37045DF}" srcOrd="0" destOrd="0" presId="urn:microsoft.com/office/officeart/2018/2/layout/IconLabelList"/>
    <dgm:cxn modelId="{38A5612F-29B2-42C7-8269-8371407649BC}" type="presParOf" srcId="{7A77BEB5-1220-4613-A03D-344363FBFD56}" destId="{7C0F2332-FA48-456A-9BD2-C1DA1E1FDC0E}" srcOrd="1" destOrd="0" presId="urn:microsoft.com/office/officeart/2018/2/layout/IconLabelList"/>
    <dgm:cxn modelId="{881BEA82-D43F-4CF2-925B-B114A7A0A53B}" type="presParOf" srcId="{7A77BEB5-1220-4613-A03D-344363FBFD56}" destId="{AE8635C3-7911-470C-B3A5-5B3F36676813}" srcOrd="2" destOrd="0" presId="urn:microsoft.com/office/officeart/2018/2/layout/IconLabelList"/>
    <dgm:cxn modelId="{39A4E05A-55C9-4AE7-B0FB-581FACE223BA}" type="presParOf" srcId="{5B772C18-F15D-42AA-8E89-960A4B3DEA8B}" destId="{2590F444-D9E6-4100-931C-EE2C622D8F82}" srcOrd="1" destOrd="0" presId="urn:microsoft.com/office/officeart/2018/2/layout/IconLabelList"/>
    <dgm:cxn modelId="{16E09C74-3EA9-4D16-9BA5-88B94FD32A16}" type="presParOf" srcId="{5B772C18-F15D-42AA-8E89-960A4B3DEA8B}" destId="{6FB6D4C1-FF5B-46FA-8A51-0B07E86B0BEA}" srcOrd="2" destOrd="0" presId="urn:microsoft.com/office/officeart/2018/2/layout/IconLabelList"/>
    <dgm:cxn modelId="{2596A413-D5D7-45CD-8376-DE8AC60CD240}" type="presParOf" srcId="{6FB6D4C1-FF5B-46FA-8A51-0B07E86B0BEA}" destId="{260F0D7C-997E-42C6-B85F-B18F9AF7A089}" srcOrd="0" destOrd="0" presId="urn:microsoft.com/office/officeart/2018/2/layout/IconLabelList"/>
    <dgm:cxn modelId="{91C59B41-336F-4DBB-AF9D-D5A5E55A1C72}" type="presParOf" srcId="{6FB6D4C1-FF5B-46FA-8A51-0B07E86B0BEA}" destId="{DFF1ABEA-9952-475E-A805-5A28DD7CB8A7}" srcOrd="1" destOrd="0" presId="urn:microsoft.com/office/officeart/2018/2/layout/IconLabelList"/>
    <dgm:cxn modelId="{20719C74-FA88-434E-B802-105C1DFEA253}" type="presParOf" srcId="{6FB6D4C1-FF5B-46FA-8A51-0B07E86B0BEA}" destId="{60278969-378E-4E87-BAB9-8C81EA14F215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3E82D40-3D15-4159-915D-863E282E0EB6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/>
      <dgm:spPr/>
      <dgm:t>
        <a:bodyPr/>
        <a:lstStyle/>
        <a:p>
          <a:endParaRPr lang="en-US"/>
        </a:p>
      </dgm:t>
    </dgm:pt>
    <dgm:pt modelId="{338A68A0-AF60-4DD2-9FCE-1434C38349AC}">
      <dgm:prSet/>
      <dgm:spPr/>
      <dgm:t>
        <a:bodyPr/>
        <a:lstStyle/>
        <a:p>
          <a:r>
            <a:rPr lang="en-US" b="1" i="0" baseline="0"/>
            <a:t>Version:</a:t>
          </a:r>
          <a:r>
            <a:rPr lang="en-US" b="0" i="0" baseline="0"/>
            <a:t> Defines policy language version.</a:t>
          </a:r>
          <a:endParaRPr lang="en-US"/>
        </a:p>
      </dgm:t>
    </dgm:pt>
    <dgm:pt modelId="{3ADED33B-DF80-46A6-842E-CF8C6F332ACE}" type="parTrans" cxnId="{A324DEA9-90F0-4D74-A9A9-0EF18D9FDC07}">
      <dgm:prSet/>
      <dgm:spPr/>
      <dgm:t>
        <a:bodyPr/>
        <a:lstStyle/>
        <a:p>
          <a:endParaRPr lang="en-US"/>
        </a:p>
      </dgm:t>
    </dgm:pt>
    <dgm:pt modelId="{FBB060D9-8412-4E68-8F76-55F7C739C85F}" type="sibTrans" cxnId="{A324DEA9-90F0-4D74-A9A9-0EF18D9FDC07}">
      <dgm:prSet/>
      <dgm:spPr/>
      <dgm:t>
        <a:bodyPr/>
        <a:lstStyle/>
        <a:p>
          <a:endParaRPr lang="en-US"/>
        </a:p>
      </dgm:t>
    </dgm:pt>
    <dgm:pt modelId="{AC641F94-748C-40CD-80A4-820DB8EB4342}">
      <dgm:prSet/>
      <dgm:spPr/>
      <dgm:t>
        <a:bodyPr/>
        <a:lstStyle/>
        <a:p>
          <a:r>
            <a:rPr lang="en-US" b="1" i="0" baseline="0"/>
            <a:t>Statement:</a:t>
          </a:r>
          <a:r>
            <a:rPr lang="en-US" b="0" i="0" baseline="0"/>
            <a:t> Main block containing permissions.</a:t>
          </a:r>
          <a:endParaRPr lang="en-US"/>
        </a:p>
      </dgm:t>
    </dgm:pt>
    <dgm:pt modelId="{69938699-3F62-464E-BC7B-25F61D2D7654}" type="parTrans" cxnId="{A61C30E4-137E-4F8B-8B73-DB93C04606FA}">
      <dgm:prSet/>
      <dgm:spPr/>
      <dgm:t>
        <a:bodyPr/>
        <a:lstStyle/>
        <a:p>
          <a:endParaRPr lang="en-US"/>
        </a:p>
      </dgm:t>
    </dgm:pt>
    <dgm:pt modelId="{127899E1-DF1D-4998-8D34-C1019BA35421}" type="sibTrans" cxnId="{A61C30E4-137E-4F8B-8B73-DB93C04606FA}">
      <dgm:prSet/>
      <dgm:spPr/>
      <dgm:t>
        <a:bodyPr/>
        <a:lstStyle/>
        <a:p>
          <a:endParaRPr lang="en-US"/>
        </a:p>
      </dgm:t>
    </dgm:pt>
    <dgm:pt modelId="{858F439B-4D64-4E97-840F-EDE6309FAD13}">
      <dgm:prSet/>
      <dgm:spPr/>
      <dgm:t>
        <a:bodyPr/>
        <a:lstStyle/>
        <a:p>
          <a:r>
            <a:rPr lang="en-US" b="1" i="0" baseline="0"/>
            <a:t>Effect:</a:t>
          </a:r>
          <a:r>
            <a:rPr lang="en-US" b="0" i="0" baseline="0"/>
            <a:t> Allow or Deny.</a:t>
          </a:r>
          <a:endParaRPr lang="en-US"/>
        </a:p>
      </dgm:t>
    </dgm:pt>
    <dgm:pt modelId="{C9AAADA8-2414-4588-A4DF-C54A4E9450E8}" type="parTrans" cxnId="{8AAE059D-2CE2-484C-A2C8-F5621B08465F}">
      <dgm:prSet/>
      <dgm:spPr/>
      <dgm:t>
        <a:bodyPr/>
        <a:lstStyle/>
        <a:p>
          <a:endParaRPr lang="en-US"/>
        </a:p>
      </dgm:t>
    </dgm:pt>
    <dgm:pt modelId="{7A63FEB7-AEA4-4D22-B5A6-78B13265A74D}" type="sibTrans" cxnId="{8AAE059D-2CE2-484C-A2C8-F5621B08465F}">
      <dgm:prSet/>
      <dgm:spPr/>
      <dgm:t>
        <a:bodyPr/>
        <a:lstStyle/>
        <a:p>
          <a:endParaRPr lang="en-US"/>
        </a:p>
      </dgm:t>
    </dgm:pt>
    <dgm:pt modelId="{CBB4B633-3574-44A2-A152-D596CF7220C8}">
      <dgm:prSet/>
      <dgm:spPr/>
      <dgm:t>
        <a:bodyPr/>
        <a:lstStyle/>
        <a:p>
          <a:r>
            <a:rPr lang="en-US" b="1" i="0" baseline="0"/>
            <a:t>Action:</a:t>
          </a:r>
          <a:r>
            <a:rPr lang="en-US" b="0" i="0" baseline="0"/>
            <a:t> AWS service operation(s).</a:t>
          </a:r>
          <a:endParaRPr lang="en-US"/>
        </a:p>
      </dgm:t>
    </dgm:pt>
    <dgm:pt modelId="{695FF7C6-3A73-4509-92C8-B1A7CE1724DB}" type="parTrans" cxnId="{FA54C973-CFE0-40E4-8DA3-E96046F5BCA4}">
      <dgm:prSet/>
      <dgm:spPr/>
      <dgm:t>
        <a:bodyPr/>
        <a:lstStyle/>
        <a:p>
          <a:endParaRPr lang="en-US"/>
        </a:p>
      </dgm:t>
    </dgm:pt>
    <dgm:pt modelId="{537FF0C0-02AE-4BD8-AA42-50190F3AF146}" type="sibTrans" cxnId="{FA54C973-CFE0-40E4-8DA3-E96046F5BCA4}">
      <dgm:prSet/>
      <dgm:spPr/>
      <dgm:t>
        <a:bodyPr/>
        <a:lstStyle/>
        <a:p>
          <a:endParaRPr lang="en-US"/>
        </a:p>
      </dgm:t>
    </dgm:pt>
    <dgm:pt modelId="{892CEB94-817C-4414-88AC-4B341D244F44}">
      <dgm:prSet/>
      <dgm:spPr/>
      <dgm:t>
        <a:bodyPr/>
        <a:lstStyle/>
        <a:p>
          <a:r>
            <a:rPr lang="en-US" b="1" i="0" baseline="0"/>
            <a:t>Resource:</a:t>
          </a:r>
          <a:r>
            <a:rPr lang="en-US" b="0" i="0" baseline="0"/>
            <a:t> AWS resource ARN(s).</a:t>
          </a:r>
          <a:endParaRPr lang="en-US"/>
        </a:p>
      </dgm:t>
    </dgm:pt>
    <dgm:pt modelId="{19720F67-F2A8-46C4-A0C9-468F7DCFE73E}" type="parTrans" cxnId="{FA1752CA-3E5B-48A2-B2D0-FD006C591F4F}">
      <dgm:prSet/>
      <dgm:spPr/>
      <dgm:t>
        <a:bodyPr/>
        <a:lstStyle/>
        <a:p>
          <a:endParaRPr lang="en-US"/>
        </a:p>
      </dgm:t>
    </dgm:pt>
    <dgm:pt modelId="{A7280F08-0EAD-44A6-86EB-27F6C47DE0B5}" type="sibTrans" cxnId="{FA1752CA-3E5B-48A2-B2D0-FD006C591F4F}">
      <dgm:prSet/>
      <dgm:spPr/>
      <dgm:t>
        <a:bodyPr/>
        <a:lstStyle/>
        <a:p>
          <a:endParaRPr lang="en-US"/>
        </a:p>
      </dgm:t>
    </dgm:pt>
    <dgm:pt modelId="{AB6E7068-AE3A-4E69-BCB2-086DD81BB75E}">
      <dgm:prSet/>
      <dgm:spPr/>
      <dgm:t>
        <a:bodyPr/>
        <a:lstStyle/>
        <a:p>
          <a:r>
            <a:rPr lang="en-US" b="1" i="0" baseline="0"/>
            <a:t>Condition (Optional):</a:t>
          </a:r>
          <a:r>
            <a:rPr lang="en-US" b="0" i="0" baseline="0"/>
            <a:t> Adds context-based control (e.g., IP, MFA, time).</a:t>
          </a:r>
          <a:endParaRPr lang="en-US"/>
        </a:p>
      </dgm:t>
    </dgm:pt>
    <dgm:pt modelId="{FD6AFD98-DF08-4F2E-AA7D-3AD36EA97885}" type="parTrans" cxnId="{029F0326-DAA9-4263-8D76-4F967EA0FF4F}">
      <dgm:prSet/>
      <dgm:spPr/>
      <dgm:t>
        <a:bodyPr/>
        <a:lstStyle/>
        <a:p>
          <a:endParaRPr lang="en-US"/>
        </a:p>
      </dgm:t>
    </dgm:pt>
    <dgm:pt modelId="{D97ACABB-8BD3-4E44-A34E-80F80264A843}" type="sibTrans" cxnId="{029F0326-DAA9-4263-8D76-4F967EA0FF4F}">
      <dgm:prSet/>
      <dgm:spPr/>
      <dgm:t>
        <a:bodyPr/>
        <a:lstStyle/>
        <a:p>
          <a:endParaRPr lang="en-US"/>
        </a:p>
      </dgm:t>
    </dgm:pt>
    <dgm:pt modelId="{94B216FD-3F7E-4BB4-A940-113454247E93}" type="pres">
      <dgm:prSet presAssocID="{43E82D40-3D15-4159-915D-863E282E0EB6}" presName="linear" presStyleCnt="0">
        <dgm:presLayoutVars>
          <dgm:animLvl val="lvl"/>
          <dgm:resizeHandles val="exact"/>
        </dgm:presLayoutVars>
      </dgm:prSet>
      <dgm:spPr/>
    </dgm:pt>
    <dgm:pt modelId="{19D2A379-FEBB-43D9-A345-CDBC66774B97}" type="pres">
      <dgm:prSet presAssocID="{338A68A0-AF60-4DD2-9FCE-1434C38349AC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B1D08A5F-0DFF-4119-88D9-48E21A6C3731}" type="pres">
      <dgm:prSet presAssocID="{FBB060D9-8412-4E68-8F76-55F7C739C85F}" presName="spacer" presStyleCnt="0"/>
      <dgm:spPr/>
    </dgm:pt>
    <dgm:pt modelId="{477423D5-1F07-44DF-946C-D824BB93A8F3}" type="pres">
      <dgm:prSet presAssocID="{AC641F94-748C-40CD-80A4-820DB8EB4342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C9F56E1-F01B-4C8A-A38F-BC69D2EBB8FD}" type="pres">
      <dgm:prSet presAssocID="{127899E1-DF1D-4998-8D34-C1019BA35421}" presName="spacer" presStyleCnt="0"/>
      <dgm:spPr/>
    </dgm:pt>
    <dgm:pt modelId="{C6F5E7FE-5FD2-4C54-87EB-AF8A48630007}" type="pres">
      <dgm:prSet presAssocID="{858F439B-4D64-4E97-840F-EDE6309FAD13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2621D321-CE8A-496B-8BB0-290024711C95}" type="pres">
      <dgm:prSet presAssocID="{7A63FEB7-AEA4-4D22-B5A6-78B13265A74D}" presName="spacer" presStyleCnt="0"/>
      <dgm:spPr/>
    </dgm:pt>
    <dgm:pt modelId="{AF898E9B-FB21-4F48-B3CA-55B1E89C2FDE}" type="pres">
      <dgm:prSet presAssocID="{CBB4B633-3574-44A2-A152-D596CF7220C8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BB78604D-8B42-4E5F-AE6B-C204038E35D2}" type="pres">
      <dgm:prSet presAssocID="{537FF0C0-02AE-4BD8-AA42-50190F3AF146}" presName="spacer" presStyleCnt="0"/>
      <dgm:spPr/>
    </dgm:pt>
    <dgm:pt modelId="{92C023B3-79D4-4DE6-B6CF-F2B06017BB12}" type="pres">
      <dgm:prSet presAssocID="{892CEB94-817C-4414-88AC-4B341D244F44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B4E9AA65-72C0-414D-90C0-EDC911763958}" type="pres">
      <dgm:prSet presAssocID="{A7280F08-0EAD-44A6-86EB-27F6C47DE0B5}" presName="spacer" presStyleCnt="0"/>
      <dgm:spPr/>
    </dgm:pt>
    <dgm:pt modelId="{B7CE3321-421D-4D19-B3E2-5C1287285803}" type="pres">
      <dgm:prSet presAssocID="{AB6E7068-AE3A-4E69-BCB2-086DD81BB75E}" presName="parentText" presStyleLbl="node1" presStyleIdx="5" presStyleCnt="6">
        <dgm:presLayoutVars>
          <dgm:chMax val="0"/>
          <dgm:bulletEnabled val="1"/>
        </dgm:presLayoutVars>
      </dgm:prSet>
      <dgm:spPr/>
    </dgm:pt>
  </dgm:ptLst>
  <dgm:cxnLst>
    <dgm:cxn modelId="{029F0326-DAA9-4263-8D76-4F967EA0FF4F}" srcId="{43E82D40-3D15-4159-915D-863E282E0EB6}" destId="{AB6E7068-AE3A-4E69-BCB2-086DD81BB75E}" srcOrd="5" destOrd="0" parTransId="{FD6AFD98-DF08-4F2E-AA7D-3AD36EA97885}" sibTransId="{D97ACABB-8BD3-4E44-A34E-80F80264A843}"/>
    <dgm:cxn modelId="{912CFC3C-3F27-463C-BFEE-DFC3F96C5E52}" type="presOf" srcId="{AC641F94-748C-40CD-80A4-820DB8EB4342}" destId="{477423D5-1F07-44DF-946C-D824BB93A8F3}" srcOrd="0" destOrd="0" presId="urn:microsoft.com/office/officeart/2005/8/layout/vList2"/>
    <dgm:cxn modelId="{D1103B5B-C05F-4733-851E-6B4288DA4D64}" type="presOf" srcId="{43E82D40-3D15-4159-915D-863E282E0EB6}" destId="{94B216FD-3F7E-4BB4-A940-113454247E93}" srcOrd="0" destOrd="0" presId="urn:microsoft.com/office/officeart/2005/8/layout/vList2"/>
    <dgm:cxn modelId="{0E291960-BF00-4E7F-A237-681BA00637D0}" type="presOf" srcId="{338A68A0-AF60-4DD2-9FCE-1434C38349AC}" destId="{19D2A379-FEBB-43D9-A345-CDBC66774B97}" srcOrd="0" destOrd="0" presId="urn:microsoft.com/office/officeart/2005/8/layout/vList2"/>
    <dgm:cxn modelId="{FA54C973-CFE0-40E4-8DA3-E96046F5BCA4}" srcId="{43E82D40-3D15-4159-915D-863E282E0EB6}" destId="{CBB4B633-3574-44A2-A152-D596CF7220C8}" srcOrd="3" destOrd="0" parTransId="{695FF7C6-3A73-4509-92C8-B1A7CE1724DB}" sibTransId="{537FF0C0-02AE-4BD8-AA42-50190F3AF146}"/>
    <dgm:cxn modelId="{8AAE059D-2CE2-484C-A2C8-F5621B08465F}" srcId="{43E82D40-3D15-4159-915D-863E282E0EB6}" destId="{858F439B-4D64-4E97-840F-EDE6309FAD13}" srcOrd="2" destOrd="0" parTransId="{C9AAADA8-2414-4588-A4DF-C54A4E9450E8}" sibTransId="{7A63FEB7-AEA4-4D22-B5A6-78B13265A74D}"/>
    <dgm:cxn modelId="{A324DEA9-90F0-4D74-A9A9-0EF18D9FDC07}" srcId="{43E82D40-3D15-4159-915D-863E282E0EB6}" destId="{338A68A0-AF60-4DD2-9FCE-1434C38349AC}" srcOrd="0" destOrd="0" parTransId="{3ADED33B-DF80-46A6-842E-CF8C6F332ACE}" sibTransId="{FBB060D9-8412-4E68-8F76-55F7C739C85F}"/>
    <dgm:cxn modelId="{88ADDAAE-7D28-4CC8-8A31-2C9F26D0A607}" type="presOf" srcId="{CBB4B633-3574-44A2-A152-D596CF7220C8}" destId="{AF898E9B-FB21-4F48-B3CA-55B1E89C2FDE}" srcOrd="0" destOrd="0" presId="urn:microsoft.com/office/officeart/2005/8/layout/vList2"/>
    <dgm:cxn modelId="{FA1752CA-3E5B-48A2-B2D0-FD006C591F4F}" srcId="{43E82D40-3D15-4159-915D-863E282E0EB6}" destId="{892CEB94-817C-4414-88AC-4B341D244F44}" srcOrd="4" destOrd="0" parTransId="{19720F67-F2A8-46C4-A0C9-468F7DCFE73E}" sibTransId="{A7280F08-0EAD-44A6-86EB-27F6C47DE0B5}"/>
    <dgm:cxn modelId="{942176D2-D6C5-490A-AEDA-6F19CBA57FB1}" type="presOf" srcId="{AB6E7068-AE3A-4E69-BCB2-086DD81BB75E}" destId="{B7CE3321-421D-4D19-B3E2-5C1287285803}" srcOrd="0" destOrd="0" presId="urn:microsoft.com/office/officeart/2005/8/layout/vList2"/>
    <dgm:cxn modelId="{919450D9-2593-493C-9F59-F176E7508173}" type="presOf" srcId="{858F439B-4D64-4E97-840F-EDE6309FAD13}" destId="{C6F5E7FE-5FD2-4C54-87EB-AF8A48630007}" srcOrd="0" destOrd="0" presId="urn:microsoft.com/office/officeart/2005/8/layout/vList2"/>
    <dgm:cxn modelId="{3CA36BE0-8C9D-4FD0-8537-BD3F097877EB}" type="presOf" srcId="{892CEB94-817C-4414-88AC-4B341D244F44}" destId="{92C023B3-79D4-4DE6-B6CF-F2B06017BB12}" srcOrd="0" destOrd="0" presId="urn:microsoft.com/office/officeart/2005/8/layout/vList2"/>
    <dgm:cxn modelId="{A61C30E4-137E-4F8B-8B73-DB93C04606FA}" srcId="{43E82D40-3D15-4159-915D-863E282E0EB6}" destId="{AC641F94-748C-40CD-80A4-820DB8EB4342}" srcOrd="1" destOrd="0" parTransId="{69938699-3F62-464E-BC7B-25F61D2D7654}" sibTransId="{127899E1-DF1D-4998-8D34-C1019BA35421}"/>
    <dgm:cxn modelId="{82A879F4-23E0-4D88-8663-D023171F68EE}" type="presParOf" srcId="{94B216FD-3F7E-4BB4-A940-113454247E93}" destId="{19D2A379-FEBB-43D9-A345-CDBC66774B97}" srcOrd="0" destOrd="0" presId="urn:microsoft.com/office/officeart/2005/8/layout/vList2"/>
    <dgm:cxn modelId="{E94EB8C1-5585-4C3E-A649-1687F84FE607}" type="presParOf" srcId="{94B216FD-3F7E-4BB4-A940-113454247E93}" destId="{B1D08A5F-0DFF-4119-88D9-48E21A6C3731}" srcOrd="1" destOrd="0" presId="urn:microsoft.com/office/officeart/2005/8/layout/vList2"/>
    <dgm:cxn modelId="{5B0C4E9C-3454-4C0E-954B-15FCE694D7EE}" type="presParOf" srcId="{94B216FD-3F7E-4BB4-A940-113454247E93}" destId="{477423D5-1F07-44DF-946C-D824BB93A8F3}" srcOrd="2" destOrd="0" presId="urn:microsoft.com/office/officeart/2005/8/layout/vList2"/>
    <dgm:cxn modelId="{9AF06F01-2FDE-4EFA-B6E1-29213A910562}" type="presParOf" srcId="{94B216FD-3F7E-4BB4-A940-113454247E93}" destId="{AC9F56E1-F01B-4C8A-A38F-BC69D2EBB8FD}" srcOrd="3" destOrd="0" presId="urn:microsoft.com/office/officeart/2005/8/layout/vList2"/>
    <dgm:cxn modelId="{56F33D2A-8DA0-421E-9D30-BE096587314A}" type="presParOf" srcId="{94B216FD-3F7E-4BB4-A940-113454247E93}" destId="{C6F5E7FE-5FD2-4C54-87EB-AF8A48630007}" srcOrd="4" destOrd="0" presId="urn:microsoft.com/office/officeart/2005/8/layout/vList2"/>
    <dgm:cxn modelId="{07FFC5BD-DC3C-4C5A-9B9A-8C9C12B59B57}" type="presParOf" srcId="{94B216FD-3F7E-4BB4-A940-113454247E93}" destId="{2621D321-CE8A-496B-8BB0-290024711C95}" srcOrd="5" destOrd="0" presId="urn:microsoft.com/office/officeart/2005/8/layout/vList2"/>
    <dgm:cxn modelId="{D8325DE0-B17E-483F-A3FC-5682153CA563}" type="presParOf" srcId="{94B216FD-3F7E-4BB4-A940-113454247E93}" destId="{AF898E9B-FB21-4F48-B3CA-55B1E89C2FDE}" srcOrd="6" destOrd="0" presId="urn:microsoft.com/office/officeart/2005/8/layout/vList2"/>
    <dgm:cxn modelId="{CA559D39-33EF-49B9-9988-7306396D6241}" type="presParOf" srcId="{94B216FD-3F7E-4BB4-A940-113454247E93}" destId="{BB78604D-8B42-4E5F-AE6B-C204038E35D2}" srcOrd="7" destOrd="0" presId="urn:microsoft.com/office/officeart/2005/8/layout/vList2"/>
    <dgm:cxn modelId="{E021BA86-EF4F-4D39-A685-30450A6B5378}" type="presParOf" srcId="{94B216FD-3F7E-4BB4-A940-113454247E93}" destId="{92C023B3-79D4-4DE6-B6CF-F2B06017BB12}" srcOrd="8" destOrd="0" presId="urn:microsoft.com/office/officeart/2005/8/layout/vList2"/>
    <dgm:cxn modelId="{8DF0F6C0-3ED4-400D-B5EF-510DA8467418}" type="presParOf" srcId="{94B216FD-3F7E-4BB4-A940-113454247E93}" destId="{B4E9AA65-72C0-414D-90C0-EDC911763958}" srcOrd="9" destOrd="0" presId="urn:microsoft.com/office/officeart/2005/8/layout/vList2"/>
    <dgm:cxn modelId="{ACDF1B47-590C-4963-B410-D684E7653999}" type="presParOf" srcId="{94B216FD-3F7E-4BB4-A940-113454247E93}" destId="{B7CE3321-421D-4D19-B3E2-5C1287285803}" srcOrd="1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EA6020-804B-4386-8FB6-762DB37045DF}">
      <dsp:nvSpPr>
        <dsp:cNvPr id="0" name=""/>
        <dsp:cNvSpPr/>
      </dsp:nvSpPr>
      <dsp:spPr>
        <a:xfrm>
          <a:off x="702483" y="930130"/>
          <a:ext cx="1022625" cy="102262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E8635C3-7911-470C-B3A5-5B3F36676813}">
      <dsp:nvSpPr>
        <dsp:cNvPr id="0" name=""/>
        <dsp:cNvSpPr/>
      </dsp:nvSpPr>
      <dsp:spPr>
        <a:xfrm>
          <a:off x="77546" y="2260486"/>
          <a:ext cx="227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A </a:t>
          </a:r>
          <a:r>
            <a:rPr lang="en-US" sz="1500" b="1" i="0" kern="1200" baseline="0"/>
            <a:t>policy</a:t>
          </a:r>
          <a:r>
            <a:rPr lang="en-US" sz="1500" b="0" i="0" kern="1200" baseline="0"/>
            <a:t> is a JSON document that defines </a:t>
          </a:r>
          <a:r>
            <a:rPr lang="en-US" sz="1500" b="1" i="0" kern="1200" baseline="0"/>
            <a:t>permissions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77546" y="2260486"/>
        <a:ext cx="2272500" cy="720000"/>
      </dsp:txXfrm>
    </dsp:sp>
    <dsp:sp modelId="{260F0D7C-997E-42C6-B85F-B18F9AF7A089}">
      <dsp:nvSpPr>
        <dsp:cNvPr id="0" name=""/>
        <dsp:cNvSpPr/>
      </dsp:nvSpPr>
      <dsp:spPr>
        <a:xfrm>
          <a:off x="3372671" y="930130"/>
          <a:ext cx="1022625" cy="102262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278969-378E-4E87-BAB9-8C81EA14F215}">
      <dsp:nvSpPr>
        <dsp:cNvPr id="0" name=""/>
        <dsp:cNvSpPr/>
      </dsp:nvSpPr>
      <dsp:spPr>
        <a:xfrm>
          <a:off x="2747733" y="2260486"/>
          <a:ext cx="227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b="0" i="0" kern="1200" baseline="0"/>
            <a:t>It specifies </a:t>
          </a:r>
          <a:r>
            <a:rPr lang="en-US" sz="1500" b="1" i="0" kern="1200" baseline="0"/>
            <a:t>who</a:t>
          </a:r>
          <a:r>
            <a:rPr lang="en-US" sz="1500" b="0" i="0" kern="1200" baseline="0"/>
            <a:t> can do </a:t>
          </a:r>
          <a:r>
            <a:rPr lang="en-US" sz="1500" b="1" i="0" kern="1200" baseline="0"/>
            <a:t>what</a:t>
          </a:r>
          <a:r>
            <a:rPr lang="en-US" sz="1500" b="0" i="0" kern="1200" baseline="0"/>
            <a:t>, on </a:t>
          </a:r>
          <a:r>
            <a:rPr lang="en-US" sz="1500" b="1" i="0" kern="1200" baseline="0"/>
            <a:t>which resources</a:t>
          </a:r>
          <a:r>
            <a:rPr lang="en-US" sz="1500" b="0" i="0" kern="1200" baseline="0"/>
            <a:t>, under </a:t>
          </a:r>
          <a:r>
            <a:rPr lang="en-US" sz="1500" b="1" i="0" kern="1200" baseline="0"/>
            <a:t>what conditions</a:t>
          </a:r>
          <a:r>
            <a:rPr lang="en-US" sz="1500" b="0" i="0" kern="1200" baseline="0"/>
            <a:t>.</a:t>
          </a:r>
          <a:endParaRPr lang="en-US" sz="1500" kern="1200"/>
        </a:p>
      </dsp:txBody>
      <dsp:txXfrm>
        <a:off x="2747733" y="2260486"/>
        <a:ext cx="227250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D2A379-FEBB-43D9-A345-CDBC66774B97}">
      <dsp:nvSpPr>
        <dsp:cNvPr id="0" name=""/>
        <dsp:cNvSpPr/>
      </dsp:nvSpPr>
      <dsp:spPr>
        <a:xfrm>
          <a:off x="0" y="85790"/>
          <a:ext cx="5257800" cy="838451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Version:</a:t>
          </a:r>
          <a:r>
            <a:rPr lang="en-US" sz="2100" b="0" i="0" kern="1200" baseline="0"/>
            <a:t> Defines policy language version.</a:t>
          </a:r>
          <a:endParaRPr lang="en-US" sz="2100" kern="1200"/>
        </a:p>
      </dsp:txBody>
      <dsp:txXfrm>
        <a:off x="40930" y="126720"/>
        <a:ext cx="5175940" cy="756591"/>
      </dsp:txXfrm>
    </dsp:sp>
    <dsp:sp modelId="{477423D5-1F07-44DF-946C-D824BB93A8F3}">
      <dsp:nvSpPr>
        <dsp:cNvPr id="0" name=""/>
        <dsp:cNvSpPr/>
      </dsp:nvSpPr>
      <dsp:spPr>
        <a:xfrm>
          <a:off x="0" y="984721"/>
          <a:ext cx="5257800" cy="838451"/>
        </a:xfrm>
        <a:prstGeom prst="roundRect">
          <a:avLst/>
        </a:prstGeom>
        <a:solidFill>
          <a:schemeClr val="accent5">
            <a:hueOff val="-2430430"/>
            <a:satOff val="-165"/>
            <a:lumOff val="3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Statement:</a:t>
          </a:r>
          <a:r>
            <a:rPr lang="en-US" sz="2100" b="0" i="0" kern="1200" baseline="0"/>
            <a:t> Main block containing permissions.</a:t>
          </a:r>
          <a:endParaRPr lang="en-US" sz="2100" kern="1200"/>
        </a:p>
      </dsp:txBody>
      <dsp:txXfrm>
        <a:off x="40930" y="1025651"/>
        <a:ext cx="5175940" cy="756591"/>
      </dsp:txXfrm>
    </dsp:sp>
    <dsp:sp modelId="{C6F5E7FE-5FD2-4C54-87EB-AF8A48630007}">
      <dsp:nvSpPr>
        <dsp:cNvPr id="0" name=""/>
        <dsp:cNvSpPr/>
      </dsp:nvSpPr>
      <dsp:spPr>
        <a:xfrm>
          <a:off x="0" y="1883652"/>
          <a:ext cx="5257800" cy="838451"/>
        </a:xfrm>
        <a:prstGeom prst="roundRect">
          <a:avLst/>
        </a:prstGeom>
        <a:solidFill>
          <a:schemeClr val="accent5">
            <a:hueOff val="-4860860"/>
            <a:satOff val="-330"/>
            <a:lumOff val="784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Effect:</a:t>
          </a:r>
          <a:r>
            <a:rPr lang="en-US" sz="2100" b="0" i="0" kern="1200" baseline="0"/>
            <a:t> Allow or Deny.</a:t>
          </a:r>
          <a:endParaRPr lang="en-US" sz="2100" kern="1200"/>
        </a:p>
      </dsp:txBody>
      <dsp:txXfrm>
        <a:off x="40930" y="1924582"/>
        <a:ext cx="5175940" cy="756591"/>
      </dsp:txXfrm>
    </dsp:sp>
    <dsp:sp modelId="{AF898E9B-FB21-4F48-B3CA-55B1E89C2FDE}">
      <dsp:nvSpPr>
        <dsp:cNvPr id="0" name=""/>
        <dsp:cNvSpPr/>
      </dsp:nvSpPr>
      <dsp:spPr>
        <a:xfrm>
          <a:off x="0" y="2782583"/>
          <a:ext cx="5257800" cy="838451"/>
        </a:xfrm>
        <a:prstGeom prst="roundRect">
          <a:avLst/>
        </a:prstGeom>
        <a:solidFill>
          <a:schemeClr val="accent5">
            <a:hueOff val="-7291290"/>
            <a:satOff val="-496"/>
            <a:lumOff val="1177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Action:</a:t>
          </a:r>
          <a:r>
            <a:rPr lang="en-US" sz="2100" b="0" i="0" kern="1200" baseline="0"/>
            <a:t> AWS service operation(s).</a:t>
          </a:r>
          <a:endParaRPr lang="en-US" sz="2100" kern="1200"/>
        </a:p>
      </dsp:txBody>
      <dsp:txXfrm>
        <a:off x="40930" y="2823513"/>
        <a:ext cx="5175940" cy="756591"/>
      </dsp:txXfrm>
    </dsp:sp>
    <dsp:sp modelId="{92C023B3-79D4-4DE6-B6CF-F2B06017BB12}">
      <dsp:nvSpPr>
        <dsp:cNvPr id="0" name=""/>
        <dsp:cNvSpPr/>
      </dsp:nvSpPr>
      <dsp:spPr>
        <a:xfrm>
          <a:off x="0" y="3681515"/>
          <a:ext cx="5257800" cy="838451"/>
        </a:xfrm>
        <a:prstGeom prst="roundRect">
          <a:avLst/>
        </a:prstGeom>
        <a:solidFill>
          <a:schemeClr val="accent5">
            <a:hueOff val="-9721720"/>
            <a:satOff val="-661"/>
            <a:lumOff val="156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Resource:</a:t>
          </a:r>
          <a:r>
            <a:rPr lang="en-US" sz="2100" b="0" i="0" kern="1200" baseline="0"/>
            <a:t> AWS resource ARN(s).</a:t>
          </a:r>
          <a:endParaRPr lang="en-US" sz="2100" kern="1200"/>
        </a:p>
      </dsp:txBody>
      <dsp:txXfrm>
        <a:off x="40930" y="3722445"/>
        <a:ext cx="5175940" cy="756591"/>
      </dsp:txXfrm>
    </dsp:sp>
    <dsp:sp modelId="{B7CE3321-421D-4D19-B3E2-5C1287285803}">
      <dsp:nvSpPr>
        <dsp:cNvPr id="0" name=""/>
        <dsp:cNvSpPr/>
      </dsp:nvSpPr>
      <dsp:spPr>
        <a:xfrm>
          <a:off x="0" y="4580446"/>
          <a:ext cx="5257800" cy="838451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i="0" kern="1200" baseline="0"/>
            <a:t>Condition (Optional):</a:t>
          </a:r>
          <a:r>
            <a:rPr lang="en-US" sz="2100" b="0" i="0" kern="1200" baseline="0"/>
            <a:t> Adds context-based control (e.g., IP, MFA, time).</a:t>
          </a:r>
          <a:endParaRPr lang="en-US" sz="2100" kern="1200"/>
        </a:p>
      </dsp:txBody>
      <dsp:txXfrm>
        <a:off x="40930" y="4621376"/>
        <a:ext cx="5175940" cy="75659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34ECEA-9357-9480-7EAE-3199683D77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CEC9F3-352E-F4C2-43E3-C7EF57EC2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F3E0EA-7A24-BE87-FFF7-978998EDE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403A3-BEFF-E7F3-61CD-24FC4EB8C2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3AA9DD-E176-D0FC-49A0-2A84D1967C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439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C486F-28F3-1CB8-E283-340F1E1AA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F2700-9CCB-F08B-33C8-04BB967736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A4A1A-6AA2-7814-B085-72C9E24BE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1CBD49-D5CC-3962-5C5B-F33A2FCFE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59E3D6-B809-4B34-9828-D7746A45E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1930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3F9E31-FA49-6988-CFCC-E45882518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99D3AE-DD42-DF7E-7A21-EB57824E74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4EE4025-3864-B0A9-AF1D-400ED351C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B99600-65C1-328C-7C74-EB8F18899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9A22EE-5E1E-6B16-62A4-FDCFCD7E1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978457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DA974-49B5-9110-4B6E-2278D85C30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1E5F3D-F7B4-B896-1233-BF26FF17AB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8DBFFF6-8D48-70D7-21A4-85577ABB43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3100BC-BD21-4F3F-D770-60BD5BB4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8BB03F-CE4E-795B-0F5B-877B44969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02BBD4-8CE0-5F29-1CF5-B840652E5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4264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B0404-5587-23CD-61FE-9B1FF43B0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240DFE-97E8-67D6-0AB2-B6A18F6819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A058674-E62F-B439-1B25-B89A4E43C9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2686DAF-E7F3-7A51-186D-F47E912758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2B76802-F987-E0EB-625F-9DAFEB8038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8D10E8-E008-2302-A502-42BC3B8DFD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CDDCC0-90DF-591C-0930-F5A9B7A6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8BCB548-5034-C129-7D39-451D9E8631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510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341A97-3087-5F7E-7A9A-048BD4E0F4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71F7BA-A8C2-6BD6-E035-2784AE8D05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F4D1682-4006-6AC6-B5EB-D347B01A87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A7B4AA-9D25-FDDB-7D6B-9D3A3E4FA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90222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00A2A72-6C6A-A7C5-3736-FD18DEB62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470DDB-7CDF-74D3-C1C9-8987B400AA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190C26-BCC1-D161-C1F4-F2BFAFE00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365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521174-03C8-111C-B825-3FCEE8EE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F51524-D3D3-F685-232D-545F6AC3BEE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F9D27-901C-7C6A-95AE-AAED32F639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ADC03D-8996-E922-4DC8-2E17EA5EE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E5C61B2-1DA1-01FF-A0A9-ECF5B2FCC9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64F286-A2E3-4600-9258-70C5056D8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0018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4B8052-ACA6-3889-AD62-BDF0E874F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34699-B5AF-1586-1122-584CA43100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66DD545-958D-2F3E-E1B8-285B58565A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A8AC13-F6F1-513D-1F97-16BE049CC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1B22F6-CA3F-DA4A-0A12-A57589D05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FDE7D5-7050-7900-1967-972C78548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6334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1974A7-A5EC-9301-73D9-07AEAF93B8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D9EB383-B26B-39C0-1591-F85162850C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6FD754-8C36-3C51-FF0C-89EA36318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2896B-0A37-ACAB-336B-E54022F2D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46E54-70F0-0459-01DC-EA69114BE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8472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FB3C20-5C5B-FC85-D3EF-04DA514A09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A32FD64-802F-980E-8CB7-B53DFDA29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57C4B7-0F1A-989B-2F7C-A03A64718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2A6955-F099-1CB0-A44C-00796E08C0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B7A882-32CF-E1DB-B3E2-88468A83A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9679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0294960-99A0-F5FA-A74F-4CBCC3D6F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763BF-2505-0D64-460A-AC4C309F2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37B2EE-FADA-90BD-C56E-150A37CDD8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53600D4-579C-4D18-B55E-DCC53CA086D9}" type="datetimeFigureOut">
              <a:rPr lang="en-IN" smtClean="0"/>
              <a:t>19-10-2025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9630E5-4A7C-A42B-9817-5D7B9431D5F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9A6060-141C-765C-0C31-D8E8DA16CF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90BE7CD-5CE1-4ED1-B1CA-AEDC083ED09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4452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41EA3A-5237-51B8-73F6-1F2C8DFC66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r>
              <a:rPr lang="en-IN" sz="4800" dirty="0">
                <a:solidFill>
                  <a:srgbClr val="FFFFFF"/>
                </a:solidFill>
              </a:rPr>
              <a:t>AWS IAM Policies &amp; Permission Types</a:t>
            </a:r>
          </a:p>
        </p:txBody>
      </p:sp>
    </p:spTree>
    <p:extLst>
      <p:ext uri="{BB962C8B-B14F-4D97-AF65-F5344CB8AC3E}">
        <p14:creationId xmlns:p14="http://schemas.microsoft.com/office/powerpoint/2010/main" val="42435605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>
            <a:extLst>
              <a:ext uri="{FF2B5EF4-FFF2-40B4-BE49-F238E27FC236}">
                <a16:creationId xmlns:a16="http://schemas.microsoft.com/office/drawing/2014/main" id="{10F24D38-B79E-44B4-830E-043F45D96D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FB93A5-6E20-D805-595F-D74A2BF00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20742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What is an IAM Policy?</a:t>
            </a:r>
            <a:endParaRPr lang="en-US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C469874-256B-45B3-A79C-7591B4BA1E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rgbClr val="FFFFFF">
                <a:alpha val="8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5" name="Rectangle 1">
            <a:extLst>
              <a:ext uri="{FF2B5EF4-FFF2-40B4-BE49-F238E27FC236}">
                <a16:creationId xmlns:a16="http://schemas.microsoft.com/office/drawing/2014/main" id="{AB0A4E45-1ADC-20D7-2641-F2749B86540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266345"/>
          <a:ext cx="5097780" cy="39106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30B0BF7-29DC-D552-8CE7-36DC23D03F06}"/>
              </a:ext>
            </a:extLst>
          </p:cNvPr>
          <p:cNvSpPr txBox="1"/>
          <p:nvPr/>
        </p:nvSpPr>
        <p:spPr>
          <a:xfrm>
            <a:off x="6256020" y="2048256"/>
            <a:ext cx="5097780" cy="41287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{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  "Effect": "Allow",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 "Action": "s3:ListBucket",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 "Resource": "arn:aws:s3:::my-bucket"</a:t>
            </a:r>
          </a:p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sz="2400" dirty="0">
                <a:solidFill>
                  <a:srgbClr val="FFFFFF"/>
                </a:solidFill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7623465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5628E5CB-913B-4378-97CE-18C9F6410C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A556B4-A55D-9A2E-2E08-FAFDEB169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7188"/>
            <a:ext cx="4862848" cy="5569291"/>
          </a:xfrm>
        </p:spPr>
        <p:txBody>
          <a:bodyPr>
            <a:normAutofit/>
          </a:bodyPr>
          <a:lstStyle/>
          <a:p>
            <a:br>
              <a:rPr lang="en-IN" sz="1700" dirty="0"/>
            </a:br>
            <a:r>
              <a:rPr lang="en-IN" sz="1700" b="1" dirty="0"/>
              <a:t>Policy Structure example : - </a:t>
            </a:r>
            <a:br>
              <a:rPr lang="en-IN" sz="1700" dirty="0"/>
            </a:br>
            <a:br>
              <a:rPr lang="en-IN" sz="1700" dirty="0"/>
            </a:br>
            <a:r>
              <a:rPr lang="en-US" sz="1700" dirty="0"/>
              <a:t>{</a:t>
            </a:r>
            <a:br>
              <a:rPr lang="en-US" sz="1700" dirty="0"/>
            </a:br>
            <a:r>
              <a:rPr lang="en-US" sz="1700" dirty="0"/>
              <a:t>  "Version": "2012-10-17",</a:t>
            </a:r>
            <a:br>
              <a:rPr lang="en-US" sz="1700" dirty="0"/>
            </a:br>
            <a:r>
              <a:rPr lang="en-US" sz="1700" dirty="0"/>
              <a:t>  "Statement": [</a:t>
            </a:r>
            <a:br>
              <a:rPr lang="en-US" sz="1700" dirty="0"/>
            </a:br>
            <a:r>
              <a:rPr lang="en-US" sz="1700" dirty="0"/>
              <a:t>    {</a:t>
            </a:r>
            <a:br>
              <a:rPr lang="en-US" sz="1700" dirty="0"/>
            </a:br>
            <a:r>
              <a:rPr lang="en-US" sz="1700" dirty="0"/>
              <a:t>      "Sid": "S3ReadOnlyAccess",</a:t>
            </a:r>
            <a:br>
              <a:rPr lang="en-US" sz="1700" dirty="0"/>
            </a:br>
            <a:r>
              <a:rPr lang="en-US" sz="1700" dirty="0"/>
              <a:t>      "Effect": "Allow",</a:t>
            </a:r>
            <a:br>
              <a:rPr lang="en-US" sz="1700" dirty="0"/>
            </a:br>
            <a:r>
              <a:rPr lang="en-US" sz="1700" dirty="0"/>
              <a:t>      "Action": [</a:t>
            </a:r>
            <a:br>
              <a:rPr lang="en-US" sz="1700" dirty="0"/>
            </a:br>
            <a:r>
              <a:rPr lang="en-US" sz="1700" dirty="0"/>
              <a:t>        "s3:ListBucket",</a:t>
            </a:r>
            <a:br>
              <a:rPr lang="en-US" sz="1700" dirty="0"/>
            </a:br>
            <a:r>
              <a:rPr lang="en-US" sz="1700" dirty="0"/>
              <a:t>        "s3:GetObject"</a:t>
            </a:r>
            <a:br>
              <a:rPr lang="en-US" sz="1700" dirty="0"/>
            </a:br>
            <a:r>
              <a:rPr lang="en-US" sz="1700" dirty="0"/>
              <a:t>      ],</a:t>
            </a:r>
            <a:br>
              <a:rPr lang="en-US" sz="1700" dirty="0"/>
            </a:br>
            <a:r>
              <a:rPr lang="en-US" sz="1700" dirty="0"/>
              <a:t>      "Resource": [</a:t>
            </a:r>
            <a:br>
              <a:rPr lang="en-US" sz="1700" dirty="0"/>
            </a:br>
            <a:r>
              <a:rPr lang="en-US" sz="1700" dirty="0"/>
              <a:t>        "arn:aws:s3:::my-demo-bucket",</a:t>
            </a:r>
            <a:br>
              <a:rPr lang="en-US" sz="1700" dirty="0"/>
            </a:br>
            <a:r>
              <a:rPr lang="en-US" sz="1700" dirty="0"/>
              <a:t>        "arn:aws:s3:::my-demo-bucket/*"</a:t>
            </a:r>
            <a:br>
              <a:rPr lang="en-US" sz="1700" dirty="0"/>
            </a:br>
            <a:r>
              <a:rPr lang="en-US" sz="1700" dirty="0"/>
              <a:t>      ]</a:t>
            </a:r>
            <a:br>
              <a:rPr lang="en-US" sz="1700" dirty="0"/>
            </a:br>
            <a:r>
              <a:rPr lang="en-US" sz="1700" dirty="0"/>
              <a:t>    }</a:t>
            </a:r>
            <a:br>
              <a:rPr lang="en-US" sz="1700" dirty="0"/>
            </a:br>
            <a:r>
              <a:rPr lang="en-US" sz="1700" dirty="0"/>
              <a:t>  ]</a:t>
            </a:r>
            <a:br>
              <a:rPr lang="en-US" sz="1700" dirty="0"/>
            </a:br>
            <a:r>
              <a:rPr lang="en-US" sz="1700" dirty="0"/>
              <a:t>}</a:t>
            </a:r>
            <a:br>
              <a:rPr lang="en-US" sz="1700" dirty="0"/>
            </a:br>
            <a:endParaRPr lang="en-IN" sz="1700" dirty="0"/>
          </a:p>
        </p:txBody>
      </p:sp>
      <p:graphicFrame>
        <p:nvGraphicFramePr>
          <p:cNvPr id="6" name="Rectangle 1">
            <a:extLst>
              <a:ext uri="{FF2B5EF4-FFF2-40B4-BE49-F238E27FC236}">
                <a16:creationId xmlns:a16="http://schemas.microsoft.com/office/drawing/2014/main" id="{C399579F-A2F0-2001-1653-5B6CD5816F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9520545"/>
              </p:ext>
            </p:extLst>
          </p:nvPr>
        </p:nvGraphicFramePr>
        <p:xfrm>
          <a:off x="6099048" y="621792"/>
          <a:ext cx="5257800" cy="550468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165557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6CDA21F-E7AF-4C75-8395-33F58D5B0E4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5" name="Rectangle 14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685857-ABAA-5147-33AF-96A3955B8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9942716" cy="1554480"/>
          </a:xfrm>
        </p:spPr>
        <p:txBody>
          <a:bodyPr anchor="ctr">
            <a:normAutofit/>
          </a:bodyPr>
          <a:lstStyle/>
          <a:p>
            <a:pPr algn="ctr"/>
            <a:r>
              <a:rPr lang="en-US" sz="4800" dirty="0"/>
              <a:t>Types of IAM Policies</a:t>
            </a:r>
            <a:br>
              <a:rPr lang="en-US" sz="4800" b="1" dirty="0"/>
            </a:br>
            <a:endParaRPr lang="en-IN" sz="48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3749E4-FE9D-5167-1C1B-75B09EB6F7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5028" y="3017522"/>
            <a:ext cx="9941319" cy="3124658"/>
          </a:xfrm>
        </p:spPr>
        <p:txBody>
          <a:bodyPr anchor="ctr">
            <a:normAutofit/>
          </a:bodyPr>
          <a:lstStyle/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Identity-based Policies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Attached to users, groups, or roles.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Define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actions identities can perform.</a:t>
            </a:r>
          </a:p>
          <a:p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Resource-based Policies	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Attached directly to services (like S3 bucket policies, SNS topic policies).</a:t>
            </a:r>
          </a:p>
          <a:p>
            <a:pPr marL="0" indent="0">
              <a:buNone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Define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who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access the resource and </a:t>
            </a:r>
            <a:r>
              <a:rPr lang="en-US" sz="24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how</a:t>
            </a: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endParaRPr lang="en-IN" sz="2400" dirty="0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8137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" y="1216597"/>
            <a:ext cx="731521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C139A6-B642-997D-FEE7-02F25964E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31" y="809898"/>
            <a:ext cx="10173010" cy="1554480"/>
          </a:xfrm>
        </p:spPr>
        <p:txBody>
          <a:bodyPr anchor="ctr">
            <a:normAutofit/>
          </a:bodyPr>
          <a:lstStyle/>
          <a:p>
            <a:pPr algn="ctr"/>
            <a:r>
              <a:rPr lang="en-IN" sz="4800" dirty="0"/>
              <a:t>Identity-based Policy Categories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38200" y="6485313"/>
            <a:ext cx="105156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0309A002-AAD9-94B8-99E8-51EC3A4405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18275390"/>
              </p:ext>
            </p:extLst>
          </p:nvPr>
        </p:nvGraphicFramePr>
        <p:xfrm>
          <a:off x="1338970" y="3017519"/>
          <a:ext cx="9509704" cy="3209905"/>
        </p:xfrm>
        <a:graphic>
          <a:graphicData uri="http://schemas.openxmlformats.org/drawingml/2006/table">
            <a:tbl>
              <a:tblPr/>
              <a:tblGrid>
                <a:gridCol w="3482757">
                  <a:extLst>
                    <a:ext uri="{9D8B030D-6E8A-4147-A177-3AD203B41FA5}">
                      <a16:colId xmlns:a16="http://schemas.microsoft.com/office/drawing/2014/main" val="1675984060"/>
                    </a:ext>
                  </a:extLst>
                </a:gridCol>
                <a:gridCol w="2108426">
                  <a:extLst>
                    <a:ext uri="{9D8B030D-6E8A-4147-A177-3AD203B41FA5}">
                      <a16:colId xmlns:a16="http://schemas.microsoft.com/office/drawing/2014/main" val="635644356"/>
                    </a:ext>
                  </a:extLst>
                </a:gridCol>
                <a:gridCol w="3918521">
                  <a:extLst>
                    <a:ext uri="{9D8B030D-6E8A-4147-A177-3AD203B41FA5}">
                      <a16:colId xmlns:a16="http://schemas.microsoft.com/office/drawing/2014/main" val="1653891090"/>
                    </a:ext>
                  </a:extLst>
                </a:gridCol>
              </a:tblGrid>
              <a:tr h="53096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Type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Managed By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 dirty="0"/>
                        <a:t>Description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15335066"/>
                  </a:ext>
                </a:extLst>
              </a:tr>
              <a:tr h="892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AWS Managed Policy</a:t>
                      </a:r>
                      <a:endParaRPr lang="en-IN" sz="2400"/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AWS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Predefined, maintained by AWS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68346621"/>
                  </a:ext>
                </a:extLst>
              </a:tr>
              <a:tr h="892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Customer Managed Policy</a:t>
                      </a:r>
                      <a:endParaRPr lang="en-IN" sz="2400"/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You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/>
                        <a:t>Created and managed by your organization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1182856"/>
                  </a:ext>
                </a:extLst>
              </a:tr>
              <a:tr h="89298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 b="1"/>
                        <a:t>Inline Policy</a:t>
                      </a:r>
                      <a:endParaRPr lang="en-IN" sz="2400"/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2400"/>
                        <a:t>You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2400" dirty="0"/>
                        <a:t>Embedded directly into a single user, group, or role</a:t>
                      </a:r>
                    </a:p>
                  </a:txBody>
                  <a:tcPr marL="120673" marR="120673" marT="60337" marB="60337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56128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76910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A36757-C236-04B4-6780-F21E86AFC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AWS Managed Policies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4C3508-CFFF-6B92-5FE7-984CAB9FB7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Created and maintained by AWS.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Designed for common job functions (e.g., AmazonS3ReadOnlyAccess, AdministratorAccess).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Automatically updated by AWS when new services/features are added.</a:t>
            </a:r>
          </a:p>
          <a:p>
            <a:endParaRPr lang="en-US" sz="2000">
              <a:solidFill>
                <a:schemeClr val="tx1">
                  <a:alpha val="80000"/>
                </a:schemeClr>
              </a:solidFill>
            </a:endParaRP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Pros: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Easy to use and maintain.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AWS keeps them up to date.</a:t>
            </a:r>
          </a:p>
          <a:p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Cons: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Limited customization.</a:t>
            </a:r>
          </a:p>
          <a:p>
            <a:pPr lvl="1"/>
            <a:r>
              <a:rPr lang="en-US" sz="2000">
                <a:solidFill>
                  <a:schemeClr val="tx1">
                    <a:alpha val="80000"/>
                  </a:schemeClr>
                </a:solidFill>
              </a:rPr>
              <a:t>May grant more permissions than required (broad scope).</a:t>
            </a:r>
          </a:p>
          <a:p>
            <a:endParaRPr lang="en-IN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818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C2554CA6-288E-4202-BC52-2E5A8F0C0A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9189" y="1119031"/>
            <a:ext cx="4619938" cy="4619938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DED5A9-16EE-C2DF-624E-876755D5AB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1074" y="1396686"/>
            <a:ext cx="3240506" cy="4064628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Customer Managed Policies</a:t>
            </a:r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9809111">
            <a:off x="8683720" y="941148"/>
            <a:ext cx="2987899" cy="2987899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910048" y="4780992"/>
            <a:ext cx="546100" cy="546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E2FD1-2C91-D9B7-DFF3-9362C925C1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70153" y="1526033"/>
            <a:ext cx="5536397" cy="3935281"/>
          </a:xfrm>
        </p:spPr>
        <p:txBody>
          <a:bodyPr>
            <a:normAutofit/>
          </a:bodyPr>
          <a:lstStyle/>
          <a:p>
            <a:r>
              <a:rPr lang="en-US" sz="1800" dirty="0"/>
              <a:t>Created and fully controlled by the customer.</a:t>
            </a:r>
          </a:p>
          <a:p>
            <a:r>
              <a:rPr lang="en-US" sz="1800" dirty="0"/>
              <a:t>Reusable across multiple IAM identities.</a:t>
            </a:r>
          </a:p>
          <a:p>
            <a:r>
              <a:rPr lang="en-US" sz="1800" dirty="0"/>
              <a:t>Enables </a:t>
            </a:r>
            <a:r>
              <a:rPr lang="en-US" sz="1800" b="1" dirty="0"/>
              <a:t>fine-grained</a:t>
            </a:r>
            <a:r>
              <a:rPr lang="en-US" sz="1800" dirty="0"/>
              <a:t> access control.</a:t>
            </a:r>
          </a:p>
          <a:p>
            <a:r>
              <a:rPr lang="en-US" sz="1800" b="1" dirty="0"/>
              <a:t>Pros:</a:t>
            </a:r>
            <a:endParaRPr lang="en-US" sz="1800" dirty="0"/>
          </a:p>
          <a:p>
            <a:pPr lvl="1"/>
            <a:r>
              <a:rPr lang="en-US" sz="1400" dirty="0"/>
              <a:t>Full customization.</a:t>
            </a:r>
          </a:p>
          <a:p>
            <a:pPr lvl="1"/>
            <a:r>
              <a:rPr lang="en-US" sz="1400" dirty="0"/>
              <a:t>Version control and reuse.</a:t>
            </a:r>
          </a:p>
          <a:p>
            <a:r>
              <a:rPr lang="en-US" sz="1800" b="1" dirty="0"/>
              <a:t>Cons:</a:t>
            </a:r>
            <a:endParaRPr lang="en-US" sz="1800" dirty="0"/>
          </a:p>
          <a:p>
            <a:pPr lvl="1"/>
            <a:r>
              <a:rPr lang="en-US" sz="1400" dirty="0"/>
              <a:t>Requires maintenance and updates.</a:t>
            </a:r>
          </a:p>
          <a:p>
            <a:r>
              <a:rPr lang="en-US" sz="1800" b="1" dirty="0"/>
              <a:t>Example:</a:t>
            </a:r>
            <a:br>
              <a:rPr lang="en-US" sz="1800" dirty="0"/>
            </a:br>
            <a:r>
              <a:rPr lang="en-US" sz="1800" dirty="0"/>
              <a:t>A custom policy granting only specific S3 and EC2 actions for developers.</a:t>
            </a:r>
          </a:p>
          <a:p>
            <a:endParaRPr lang="en-IN" sz="1800" dirty="0"/>
          </a:p>
        </p:txBody>
      </p:sp>
    </p:spTree>
    <p:extLst>
      <p:ext uri="{BB962C8B-B14F-4D97-AF65-F5344CB8AC3E}">
        <p14:creationId xmlns:p14="http://schemas.microsoft.com/office/powerpoint/2010/main" val="23319425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A8CAF7-CAD2-11BD-313B-9A3D4D4C0E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 dirty="0">
                <a:solidFill>
                  <a:srgbClr val="FFFFFF"/>
                </a:solidFill>
              </a:rPr>
              <a:t>Inline Policies</a:t>
            </a: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C70E7A-3B0F-A5E9-F2EB-5517706854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Policy embedded directly within a single IAM entity (user, group, or role).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One-to-one relationship – cannot be reused elsewhere.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Typically used for unique permissions tied to a specific identity.</a:t>
            </a:r>
          </a:p>
          <a:p>
            <a:endParaRPr lang="en-US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Pros: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Tightly coupled – deleted automatically with the identity.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Good for temporary or sensitive permissions.</a:t>
            </a:r>
          </a:p>
          <a:p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Cons: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Hard to manage at scale.</a:t>
            </a:r>
          </a:p>
          <a:p>
            <a:pPr lvl="1"/>
            <a:r>
              <a:rPr lang="en-US" sz="2000" dirty="0">
                <a:solidFill>
                  <a:schemeClr val="tx1">
                    <a:alpha val="80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reusable or version-controlled</a:t>
            </a:r>
          </a:p>
          <a:p>
            <a:endParaRPr lang="en-IN" sz="2000" dirty="0">
              <a:solidFill>
                <a:schemeClr val="tx1">
                  <a:alpha val="80000"/>
                </a:schemeClr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17286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0B4D00F8-39E7-4123-8564-BDFDAA1FD7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9887D440-5561-4781-8085-0624A1A13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1238032"/>
          </a:xfrm>
          <a:prstGeom prst="rect">
            <a:avLst/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75FA67-87B8-A75E-DFD7-6AD437F7C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0315" y="335243"/>
            <a:ext cx="10274898" cy="1775663"/>
          </a:xfrm>
        </p:spPr>
        <p:txBody>
          <a:bodyPr anchor="b">
            <a:normAutofit/>
          </a:bodyPr>
          <a:lstStyle/>
          <a:p>
            <a:pPr algn="ctr"/>
            <a:r>
              <a:rPr lang="en-IN" sz="5400" dirty="0">
                <a:solidFill>
                  <a:schemeClr val="tx2"/>
                </a:solidFill>
              </a:rPr>
              <a:t>Policy Comparison Summary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61F82DD2-CBE5-4F14-9CBD-7055235162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732568" y="246028"/>
            <a:ext cx="255495" cy="546559"/>
          </a:xfrm>
          <a:prstGeom prst="line">
            <a:avLst/>
          </a:prstGeom>
          <a:ln w="1270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9208D7D4-BE9E-4F60-9CD9-E84D57E89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840441" y="6522756"/>
            <a:ext cx="10717187" cy="0"/>
          </a:xfrm>
          <a:prstGeom prst="line">
            <a:avLst/>
          </a:prstGeom>
          <a:ln w="12700" cap="sq">
            <a:solidFill>
              <a:schemeClr val="tx2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4" name="Group 53">
            <a:extLst>
              <a:ext uri="{FF2B5EF4-FFF2-40B4-BE49-F238E27FC236}">
                <a16:creationId xmlns:a16="http://schemas.microsoft.com/office/drawing/2014/main" id="{98FE0A0E-6A24-40EA-B007-CD4E0F5F8A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829917" y="6400800"/>
            <a:ext cx="338328" cy="240175"/>
            <a:chOff x="4089400" y="933450"/>
            <a:chExt cx="338328" cy="341938"/>
          </a:xfrm>
        </p:grpSpPr>
        <p:cxnSp>
          <p:nvCxnSpPr>
            <p:cNvPr id="55" name="Straight Connector 54">
              <a:extLst>
                <a:ext uri="{FF2B5EF4-FFF2-40B4-BE49-F238E27FC236}">
                  <a16:creationId xmlns:a16="http://schemas.microsoft.com/office/drawing/2014/main" id="{9F16762F-94A9-48A5-90A5-02953158CC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258564" y="933450"/>
              <a:ext cx="0" cy="341938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>
              <a:extLst>
                <a:ext uri="{FF2B5EF4-FFF2-40B4-BE49-F238E27FC236}">
                  <a16:creationId xmlns:a16="http://schemas.microsoft.com/office/drawing/2014/main" id="{BECE1E0D-DA5F-4EA4-BD67-EA8D9EAF38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089400" y="1104419"/>
              <a:ext cx="338328" cy="0"/>
            </a:xfrm>
            <a:prstGeom prst="line">
              <a:avLst/>
            </a:prstGeom>
            <a:ln w="12700">
              <a:solidFill>
                <a:schemeClr val="tx2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7207427-A542-F040-2A0B-276E3505754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37036334"/>
              </p:ext>
            </p:extLst>
          </p:nvPr>
        </p:nvGraphicFramePr>
        <p:xfrm>
          <a:off x="988063" y="2435231"/>
          <a:ext cx="10515602" cy="2890326"/>
        </p:xfrm>
        <a:graphic>
          <a:graphicData uri="http://schemas.openxmlformats.org/drawingml/2006/table">
            <a:tbl>
              <a:tblPr firstRow="1" bandRow="1">
                <a:solidFill>
                  <a:schemeClr val="tx1">
                    <a:lumMod val="75000"/>
                    <a:lumOff val="25000"/>
                  </a:schemeClr>
                </a:solidFill>
              </a:tblPr>
              <a:tblGrid>
                <a:gridCol w="2372132">
                  <a:extLst>
                    <a:ext uri="{9D8B030D-6E8A-4147-A177-3AD203B41FA5}">
                      <a16:colId xmlns:a16="http://schemas.microsoft.com/office/drawing/2014/main" val="3963412605"/>
                    </a:ext>
                  </a:extLst>
                </a:gridCol>
                <a:gridCol w="2624386">
                  <a:extLst>
                    <a:ext uri="{9D8B030D-6E8A-4147-A177-3AD203B41FA5}">
                      <a16:colId xmlns:a16="http://schemas.microsoft.com/office/drawing/2014/main" val="573187654"/>
                    </a:ext>
                  </a:extLst>
                </a:gridCol>
                <a:gridCol w="2770732">
                  <a:extLst>
                    <a:ext uri="{9D8B030D-6E8A-4147-A177-3AD203B41FA5}">
                      <a16:colId xmlns:a16="http://schemas.microsoft.com/office/drawing/2014/main" val="1649524702"/>
                    </a:ext>
                  </a:extLst>
                </a:gridCol>
                <a:gridCol w="2748352">
                  <a:extLst>
                    <a:ext uri="{9D8B030D-6E8A-4147-A177-3AD203B41FA5}">
                      <a16:colId xmlns:a16="http://schemas.microsoft.com/office/drawing/2014/main" val="1314894822"/>
                    </a:ext>
                  </a:extLst>
                </a:gridCol>
              </a:tblGrid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132304" marR="161141" marT="101772" marB="101772" anchor="ctr">
                    <a:lnL w="19050" cap="flat" cmpd="sng" algn="ctr">
                      <a:solidFill>
                        <a:schemeClr val="tx1"/>
                      </a:solidFill>
                      <a:prstDash val="solid"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 Managed</a:t>
                      </a:r>
                    </a:p>
                  </a:txBody>
                  <a:tcPr marL="132304" marR="161141" marT="101772" marB="1017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 Managed</a:t>
                      </a:r>
                    </a:p>
                  </a:txBody>
                  <a:tcPr marL="132304" marR="161141" marT="101772" marB="1017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Inline</a:t>
                      </a:r>
                    </a:p>
                  </a:txBody>
                  <a:tcPr marL="132304" marR="161141" marT="101772" marB="101772" anchor="ctr">
                    <a:lnL w="12700" cmpd="sng">
                      <a:noFill/>
                    </a:lnL>
                    <a:lnR w="12700" cmpd="sng">
                      <a:noFill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</a:lnT>
                    <a:lnB w="38100" cmpd="sng">
                      <a:noFill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8412192"/>
                  </a:ext>
                </a:extLst>
              </a:tr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Feature</a:t>
                      </a:r>
                    </a:p>
                  </a:txBody>
                  <a:tcPr marL="132304" marR="113864" marT="101772" marB="10177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38100" cmpd="sng">
                      <a:noFill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79995925"/>
                  </a:ext>
                </a:extLst>
              </a:tr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Created By</a:t>
                      </a:r>
                    </a:p>
                  </a:txBody>
                  <a:tcPr marL="132304" marR="113864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AWS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Customer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0049313"/>
                  </a:ext>
                </a:extLst>
              </a:tr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Maintenance</a:t>
                      </a:r>
                    </a:p>
                  </a:txBody>
                  <a:tcPr marL="132304" marR="113864" marT="101772" marB="10177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Yes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No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144461"/>
                  </a:ext>
                </a:extLst>
              </a:tr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Reusable</a:t>
                      </a:r>
                    </a:p>
                  </a:txBody>
                  <a:tcPr marL="132304" marR="113864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Limited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Full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12700" cmpd="sng">
                      <a:noFill/>
                      <a:prstDash val="soli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T>
                    <a:lnB w="12700" cmpd="sng">
                      <a:noFill/>
                      <a:prstDash val="solid"/>
                    </a:lnB>
                    <a:solidFill>
                      <a:schemeClr val="tx1">
                        <a:lumMod val="85000"/>
                        <a:lumOff val="1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42705506"/>
                  </a:ext>
                </a:extLst>
              </a:tr>
              <a:tr h="4817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b="1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Customizable</a:t>
                      </a:r>
                    </a:p>
                  </a:txBody>
                  <a:tcPr marL="132304" marR="113864" marT="101772" marB="101772" anchor="ctr">
                    <a:lnL w="38100" cap="flat" cmpd="sng" algn="ctr">
                      <a:noFill/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Common Roles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Org-Specific Roles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600" cap="none" spc="0" dirty="0">
                          <a:solidFill>
                            <a:schemeClr val="bg1"/>
                          </a:solidFill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One-Off Permissions</a:t>
                      </a:r>
                    </a:p>
                  </a:txBody>
                  <a:tcPr marL="132304" marR="161141" marT="101772" marB="101772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</a:lnL>
                    <a:lnR w="38100" cap="flat" cmpd="sng" algn="ctr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38100" cap="flat" cmpd="sng" algn="ctr">
                      <a:noFill/>
                      <a:prstDash val="solid"/>
                    </a:lnB>
                    <a:solidFill>
                      <a:schemeClr val="tx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79566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70026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27D73B4-9F5C-4A64-A179-51B9500CB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C1F06963-6374-4B48-844F-071A9BAAAE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99528" y="554152"/>
            <a:ext cx="5742189" cy="5742189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100000">
                <a:schemeClr val="accent2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13FF06E-06B7-9EB3-A923-44C1146DB1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072" y="1289765"/>
            <a:ext cx="3651101" cy="4270963"/>
          </a:xfrm>
        </p:spPr>
        <p:txBody>
          <a:bodyPr anchor="ctr">
            <a:normAutofit/>
          </a:bodyPr>
          <a:lstStyle/>
          <a:p>
            <a:pPr algn="ctr"/>
            <a:r>
              <a:rPr lang="en-IN" sz="5600">
                <a:solidFill>
                  <a:srgbClr val="FFFFFF"/>
                </a:solidFill>
              </a:rPr>
              <a:t>Permission Evaluation Logic</a:t>
            </a:r>
            <a:br>
              <a:rPr lang="en-IN" sz="5600" b="1">
                <a:solidFill>
                  <a:srgbClr val="FFFFFF"/>
                </a:solidFill>
              </a:rPr>
            </a:br>
            <a:endParaRPr lang="en-IN" sz="5600">
              <a:solidFill>
                <a:srgbClr val="FFFFFF"/>
              </a:solidFill>
            </a:endParaRPr>
          </a:p>
        </p:txBody>
      </p:sp>
      <p:sp>
        <p:nvSpPr>
          <p:cNvPr id="12" name="Graphic 11">
            <a:extLst>
              <a:ext uri="{FF2B5EF4-FFF2-40B4-BE49-F238E27FC236}">
                <a16:creationId xmlns:a16="http://schemas.microsoft.com/office/drawing/2014/main" id="{6CB927A4-E432-4310-9CD5-E89FF50631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23493" y="374394"/>
            <a:ext cx="171515" cy="171515"/>
          </a:xfrm>
          <a:custGeom>
            <a:avLst/>
            <a:gdLst>
              <a:gd name="connsiteX0" fmla="*/ 159874 w 171515"/>
              <a:gd name="connsiteY0" fmla="*/ 74116 h 171515"/>
              <a:gd name="connsiteX1" fmla="*/ 97399 w 171515"/>
              <a:gd name="connsiteY1" fmla="*/ 74116 h 171515"/>
              <a:gd name="connsiteX2" fmla="*/ 97399 w 171515"/>
              <a:gd name="connsiteY2" fmla="*/ 11641 h 171515"/>
              <a:gd name="connsiteX3" fmla="*/ 85758 w 171515"/>
              <a:gd name="connsiteY3" fmla="*/ 0 h 171515"/>
              <a:gd name="connsiteX4" fmla="*/ 74116 w 171515"/>
              <a:gd name="connsiteY4" fmla="*/ 11641 h 171515"/>
              <a:gd name="connsiteX5" fmla="*/ 74116 w 171515"/>
              <a:gd name="connsiteY5" fmla="*/ 74116 h 171515"/>
              <a:gd name="connsiteX6" fmla="*/ 11641 w 171515"/>
              <a:gd name="connsiteY6" fmla="*/ 74116 h 171515"/>
              <a:gd name="connsiteX7" fmla="*/ 0 w 171515"/>
              <a:gd name="connsiteY7" fmla="*/ 85758 h 171515"/>
              <a:gd name="connsiteX8" fmla="*/ 11641 w 171515"/>
              <a:gd name="connsiteY8" fmla="*/ 97399 h 171515"/>
              <a:gd name="connsiteX9" fmla="*/ 74116 w 171515"/>
              <a:gd name="connsiteY9" fmla="*/ 97399 h 171515"/>
              <a:gd name="connsiteX10" fmla="*/ 74116 w 171515"/>
              <a:gd name="connsiteY10" fmla="*/ 159874 h 171515"/>
              <a:gd name="connsiteX11" fmla="*/ 85758 w 171515"/>
              <a:gd name="connsiteY11" fmla="*/ 171515 h 171515"/>
              <a:gd name="connsiteX12" fmla="*/ 97399 w 171515"/>
              <a:gd name="connsiteY12" fmla="*/ 159874 h 171515"/>
              <a:gd name="connsiteX13" fmla="*/ 97399 w 171515"/>
              <a:gd name="connsiteY13" fmla="*/ 97399 h 171515"/>
              <a:gd name="connsiteX14" fmla="*/ 159874 w 171515"/>
              <a:gd name="connsiteY14" fmla="*/ 97399 h 171515"/>
              <a:gd name="connsiteX15" fmla="*/ 171515 w 171515"/>
              <a:gd name="connsiteY15" fmla="*/ 85758 h 171515"/>
              <a:gd name="connsiteX16" fmla="*/ 159874 w 171515"/>
              <a:gd name="connsiteY16" fmla="*/ 74116 h 1715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71515" h="171515">
                <a:moveTo>
                  <a:pt x="159874" y="74116"/>
                </a:moveTo>
                <a:lnTo>
                  <a:pt x="97399" y="74116"/>
                </a:lnTo>
                <a:lnTo>
                  <a:pt x="97399" y="11641"/>
                </a:lnTo>
                <a:cubicBezTo>
                  <a:pt x="97399" y="5212"/>
                  <a:pt x="92187" y="0"/>
                  <a:pt x="85758" y="0"/>
                </a:cubicBezTo>
                <a:cubicBezTo>
                  <a:pt x="79328" y="0"/>
                  <a:pt x="74116" y="5212"/>
                  <a:pt x="74116" y="11641"/>
                </a:cubicBezTo>
                <a:lnTo>
                  <a:pt x="74116" y="74116"/>
                </a:lnTo>
                <a:lnTo>
                  <a:pt x="11641" y="74116"/>
                </a:lnTo>
                <a:cubicBezTo>
                  <a:pt x="5212" y="74116"/>
                  <a:pt x="0" y="79328"/>
                  <a:pt x="0" y="85758"/>
                </a:cubicBezTo>
                <a:cubicBezTo>
                  <a:pt x="0" y="92187"/>
                  <a:pt x="5212" y="97399"/>
                  <a:pt x="11641" y="97399"/>
                </a:cubicBezTo>
                <a:lnTo>
                  <a:pt x="74116" y="97399"/>
                </a:lnTo>
                <a:lnTo>
                  <a:pt x="74116" y="159874"/>
                </a:lnTo>
                <a:cubicBezTo>
                  <a:pt x="74116" y="166303"/>
                  <a:pt x="79328" y="171515"/>
                  <a:pt x="85758" y="171515"/>
                </a:cubicBezTo>
                <a:cubicBezTo>
                  <a:pt x="92187" y="171515"/>
                  <a:pt x="97399" y="166303"/>
                  <a:pt x="97399" y="159874"/>
                </a:cubicBezTo>
                <a:lnTo>
                  <a:pt x="97399" y="97399"/>
                </a:lnTo>
                <a:lnTo>
                  <a:pt x="159874" y="97399"/>
                </a:lnTo>
                <a:cubicBezTo>
                  <a:pt x="166303" y="97399"/>
                  <a:pt x="171515" y="92187"/>
                  <a:pt x="171515" y="85758"/>
                </a:cubicBezTo>
                <a:cubicBezTo>
                  <a:pt x="171515" y="79328"/>
                  <a:pt x="166303" y="74116"/>
                  <a:pt x="159874" y="74116"/>
                </a:cubicBezTo>
                <a:close/>
              </a:path>
            </a:pathLst>
          </a:custGeom>
          <a:solidFill>
            <a:schemeClr val="accent2"/>
          </a:solidFill>
          <a:ln w="77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4" name="Graphic 12">
            <a:extLst>
              <a:ext uri="{FF2B5EF4-FFF2-40B4-BE49-F238E27FC236}">
                <a16:creationId xmlns:a16="http://schemas.microsoft.com/office/drawing/2014/main" id="{1453BF6C-B012-48B7-B4E8-6D7AC7C27D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0109" y="1084507"/>
            <a:ext cx="157545" cy="157545"/>
          </a:xfrm>
          <a:custGeom>
            <a:avLst/>
            <a:gdLst>
              <a:gd name="connsiteX0" fmla="*/ 78773 w 157545"/>
              <a:gd name="connsiteY0" fmla="*/ 23283 h 157545"/>
              <a:gd name="connsiteX1" fmla="*/ 134262 w 157545"/>
              <a:gd name="connsiteY1" fmla="*/ 78773 h 157545"/>
              <a:gd name="connsiteX2" fmla="*/ 78773 w 157545"/>
              <a:gd name="connsiteY2" fmla="*/ 134262 h 157545"/>
              <a:gd name="connsiteX3" fmla="*/ 23283 w 157545"/>
              <a:gd name="connsiteY3" fmla="*/ 78773 h 157545"/>
              <a:gd name="connsiteX4" fmla="*/ 78773 w 157545"/>
              <a:gd name="connsiteY4" fmla="*/ 23283 h 157545"/>
              <a:gd name="connsiteX5" fmla="*/ 78773 w 157545"/>
              <a:gd name="connsiteY5" fmla="*/ 0 h 157545"/>
              <a:gd name="connsiteX6" fmla="*/ 0 w 157545"/>
              <a:gd name="connsiteY6" fmla="*/ 78773 h 157545"/>
              <a:gd name="connsiteX7" fmla="*/ 78773 w 157545"/>
              <a:gd name="connsiteY7" fmla="*/ 157545 h 157545"/>
              <a:gd name="connsiteX8" fmla="*/ 157545 w 157545"/>
              <a:gd name="connsiteY8" fmla="*/ 78773 h 157545"/>
              <a:gd name="connsiteX9" fmla="*/ 78773 w 157545"/>
              <a:gd name="connsiteY9" fmla="*/ 0 h 1575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7545" h="157545">
                <a:moveTo>
                  <a:pt x="78773" y="23283"/>
                </a:moveTo>
                <a:cubicBezTo>
                  <a:pt x="109419" y="23283"/>
                  <a:pt x="134262" y="48126"/>
                  <a:pt x="134262" y="78773"/>
                </a:cubicBezTo>
                <a:cubicBezTo>
                  <a:pt x="134262" y="109419"/>
                  <a:pt x="109419" y="134262"/>
                  <a:pt x="78773" y="134262"/>
                </a:cubicBezTo>
                <a:cubicBezTo>
                  <a:pt x="48126" y="134262"/>
                  <a:pt x="23283" y="109419"/>
                  <a:pt x="23283" y="78773"/>
                </a:cubicBezTo>
                <a:cubicBezTo>
                  <a:pt x="23312" y="48139"/>
                  <a:pt x="48139" y="23312"/>
                  <a:pt x="78773" y="23283"/>
                </a:cubicBezTo>
                <a:moveTo>
                  <a:pt x="78773" y="0"/>
                </a:moveTo>
                <a:cubicBezTo>
                  <a:pt x="35268" y="0"/>
                  <a:pt x="0" y="35268"/>
                  <a:pt x="0" y="78773"/>
                </a:cubicBezTo>
                <a:cubicBezTo>
                  <a:pt x="0" y="122277"/>
                  <a:pt x="35268" y="157545"/>
                  <a:pt x="78773" y="157545"/>
                </a:cubicBezTo>
                <a:cubicBezTo>
                  <a:pt x="122277" y="157545"/>
                  <a:pt x="157545" y="122277"/>
                  <a:pt x="157545" y="78773"/>
                </a:cubicBezTo>
                <a:cubicBezTo>
                  <a:pt x="157545" y="35268"/>
                  <a:pt x="122277" y="0"/>
                  <a:pt x="78773" y="0"/>
                </a:cubicBezTo>
                <a:close/>
              </a:path>
            </a:pathLst>
          </a:custGeom>
          <a:solidFill>
            <a:schemeClr val="accent2"/>
          </a:solidFill>
          <a:ln w="751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90A3D4-2327-7304-7726-03E5C79521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97233" y="518400"/>
            <a:ext cx="4771607" cy="5837949"/>
          </a:xfrm>
        </p:spPr>
        <p:txBody>
          <a:bodyPr anchor="ctr">
            <a:normAutofit/>
          </a:bodyPr>
          <a:lstStyle/>
          <a:p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How AWS Determines Final Access:</a:t>
            </a:r>
          </a:p>
          <a:p>
            <a:pPr lvl="1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Explicit Deny → Always takes precedence.</a:t>
            </a:r>
          </a:p>
          <a:p>
            <a:pPr lvl="1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Explicit Allow → Grants access (if no deny).</a:t>
            </a:r>
          </a:p>
          <a:p>
            <a:pPr lvl="1"/>
            <a:r>
              <a:rPr lang="en-IN" sz="2000">
                <a:solidFill>
                  <a:schemeClr val="tx1">
                    <a:alpha val="80000"/>
                  </a:schemeClr>
                </a:solidFill>
              </a:rPr>
              <a:t>Implicit Deny → Default (everything denied unless allowed).</a:t>
            </a:r>
          </a:p>
          <a:p>
            <a:endParaRPr lang="en-IN" sz="2000">
              <a:solidFill>
                <a:schemeClr val="tx1">
                  <a:alpha val="80000"/>
                </a:schemeClr>
              </a:solidFill>
            </a:endParaRPr>
          </a:p>
        </p:txBody>
      </p:sp>
      <p:sp>
        <p:nvSpPr>
          <p:cNvPr id="16" name="Graphic 10">
            <a:extLst>
              <a:ext uri="{FF2B5EF4-FFF2-40B4-BE49-F238E27FC236}">
                <a16:creationId xmlns:a16="http://schemas.microsoft.com/office/drawing/2014/main" id="{E3020543-B24B-4EC4-8FFC-8DD88EEA91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36547" y="5751820"/>
            <a:ext cx="112426" cy="112426"/>
          </a:xfrm>
          <a:custGeom>
            <a:avLst/>
            <a:gdLst>
              <a:gd name="connsiteX0" fmla="*/ 112426 w 112426"/>
              <a:gd name="connsiteY0" fmla="*/ 56213 h 112426"/>
              <a:gd name="connsiteX1" fmla="*/ 56213 w 112426"/>
              <a:gd name="connsiteY1" fmla="*/ 112426 h 112426"/>
              <a:gd name="connsiteX2" fmla="*/ 0 w 112426"/>
              <a:gd name="connsiteY2" fmla="*/ 56213 h 112426"/>
              <a:gd name="connsiteX3" fmla="*/ 56213 w 112426"/>
              <a:gd name="connsiteY3" fmla="*/ 0 h 112426"/>
              <a:gd name="connsiteX4" fmla="*/ 112426 w 112426"/>
              <a:gd name="connsiteY4" fmla="*/ 56213 h 1124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426" h="112426">
                <a:moveTo>
                  <a:pt x="112426" y="56213"/>
                </a:moveTo>
                <a:cubicBezTo>
                  <a:pt x="112426" y="87259"/>
                  <a:pt x="87259" y="112426"/>
                  <a:pt x="56213" y="112426"/>
                </a:cubicBezTo>
                <a:cubicBezTo>
                  <a:pt x="25167" y="112426"/>
                  <a:pt x="0" y="87259"/>
                  <a:pt x="0" y="56213"/>
                </a:cubicBezTo>
                <a:cubicBezTo>
                  <a:pt x="0" y="25167"/>
                  <a:pt x="25167" y="0"/>
                  <a:pt x="56213" y="0"/>
                </a:cubicBezTo>
                <a:cubicBezTo>
                  <a:pt x="87259" y="0"/>
                  <a:pt x="112426" y="25167"/>
                  <a:pt x="112426" y="56213"/>
                </a:cubicBezTo>
                <a:close/>
              </a:path>
            </a:pathLst>
          </a:custGeom>
          <a:solidFill>
            <a:schemeClr val="accent2"/>
          </a:solidFill>
          <a:ln w="51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C49DA8F6-BCC1-4447-B54C-57856834B9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586162" y="3610394"/>
            <a:ext cx="0" cy="3238728"/>
          </a:xfrm>
          <a:prstGeom prst="line">
            <a:avLst/>
          </a:prstGeom>
          <a:ln w="25400" cap="sq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5400000" scaled="0"/>
              <a:tileRect/>
            </a:gradFill>
            <a:beve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18874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577</Words>
  <Application>Microsoft Office PowerPoint</Application>
  <PresentationFormat>Widescreen</PresentationFormat>
  <Paragraphs>98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Calibri</vt:lpstr>
      <vt:lpstr>Office Theme</vt:lpstr>
      <vt:lpstr>AWS IAM Policies &amp; Permission Types</vt:lpstr>
      <vt:lpstr>What is an IAM Policy?</vt:lpstr>
      <vt:lpstr> Policy Structure example : -   {   "Version": "2012-10-17",   "Statement": [     {       "Sid": "S3ReadOnlyAccess",       "Effect": "Allow",       "Action": [         "s3:ListBucket",         "s3:GetObject"       ],       "Resource": [         "arn:aws:s3:::my-demo-bucket",         "arn:aws:s3:::my-demo-bucket/*"       ]     }   ] } </vt:lpstr>
      <vt:lpstr>Types of IAM Policies </vt:lpstr>
      <vt:lpstr>Identity-based Policy Categories</vt:lpstr>
      <vt:lpstr>AWS Managed Policies</vt:lpstr>
      <vt:lpstr>Customer Managed Policies</vt:lpstr>
      <vt:lpstr>Inline Policies</vt:lpstr>
      <vt:lpstr>Policy Comparison Summary</vt:lpstr>
      <vt:lpstr>Permission Evaluation Logic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Ritesh Behal</dc:creator>
  <cp:lastModifiedBy>Ritesh Behal</cp:lastModifiedBy>
  <cp:revision>43</cp:revision>
  <dcterms:created xsi:type="dcterms:W3CDTF">2025-10-19T04:07:51Z</dcterms:created>
  <dcterms:modified xsi:type="dcterms:W3CDTF">2025-10-19T04:24:04Z</dcterms:modified>
</cp:coreProperties>
</file>